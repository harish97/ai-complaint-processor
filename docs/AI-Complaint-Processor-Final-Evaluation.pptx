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batch GenAI workflow that reads business complaint documents in four formats and runs three separate LLM tasks on each one. Emphasise it is a workflow, not a single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business problem before any technology. The three needs on the right map one-to-one onto the three AI tasks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separate LLM calls, not one. Say why: one giant prompt degrades on long documents, makes validation all-or-nothing, and cannot be parallelised.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 modules, about 2900 lines. The point of this slide is that the dependency arrows only ever point one way, and no vendor SDK is imported outside the llm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Extraction is a blocking dependency because both downstream tasks consume its validated output. Tasks 2 and 3 are independent of each other, which is what makes the parallel fan-out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GenAI implementation. Stress that the schema is provider-enforced, and that validation is what makes the output trustworthy rather than merely well-formed.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Separating the system and user messages is a structural defence, not a stylistic choice. Mention that the anti-hallucination instruction is phrased as a concrete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here: the mock is regex and keyword scoring, not AI. Its purpose is zero-cost evaluation and deterministic tests. Both real providers were verified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--task-mode sequential lets you demo the difference live. Point out that the two modes were diffed and produce identical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deliberate edge-case files ship in data/: an empty .txt and an .xlsx. They prove one bad file neither crashes the batch nor disappears silently from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providers independently produced the same eight categories, which cross-validates the extraction. Costs about one US cent for the whole batch on gpt-4o-mini.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gpt-4o-mini outputs, committed in sample_output/. The nulls on the left and the cited ticket numbers on the right are the two things worth pointing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framing is that another person can clone this and run it. That is what the README, the sample data and the offline provider are all in service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Volunteering limitations reads as engineering maturity. Each of these is already written up in the README's Limitations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fact that it runs with one command and no API key. Offer to run it live if they want to see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22E"/>
        </a:solidFill>
      </p:bgPr>
    </p:bg>
    <p:spTree>
      <p:nvGrpSpPr>
        <p:cNvPr id="1" name=""/>
        <p:cNvGrpSpPr/>
        <p:nvPr/>
      </p:nvGrpSpPr>
      <p:grpSpPr>
        <a:xfrm>
          <a:off x="0" y="0"/>
          <a:ext cx="0" cy="0"/>
          <a:chOff x="0" y="0"/>
          <a:chExt cx="0" cy="0"/>
        </a:xfrm>
      </p:grpSpPr>
      <p:sp>
        <p:nvSpPr>
          <p:cNvPr id="2" name="Shape 0"/>
          <p:cNvSpPr/>
          <p:nvPr/>
        </p:nvSpPr>
        <p:spPr>
          <a:xfrm>
            <a:off x="9235440" y="-1371600"/>
            <a:ext cx="4754880" cy="4754880"/>
          </a:xfrm>
          <a:prstGeom prst="ellipse">
            <a:avLst/>
          </a:prstGeom>
          <a:solidFill>
            <a:srgbClr val="1B3B4A"/>
          </a:solidFill>
          <a:ln w="12700">
            <a:solidFill>
              <a:srgbClr val="1B3B4A"/>
            </a:solidFill>
            <a:prstDash val="solid"/>
          </a:ln>
        </p:spPr>
      </p:sp>
      <p:sp>
        <p:nvSpPr>
          <p:cNvPr id="3" name="Shape 1"/>
          <p:cNvSpPr/>
          <p:nvPr/>
        </p:nvSpPr>
        <p:spPr>
          <a:xfrm>
            <a:off x="10515600" y="4206240"/>
            <a:ext cx="3108960" cy="3108960"/>
          </a:xfrm>
          <a:prstGeom prst="ellipse">
            <a:avLst/>
          </a:prstGeom>
          <a:solidFill>
            <a:srgbClr val="1B3B4A"/>
          </a:solidFill>
          <a:ln w="12700">
            <a:solidFill>
              <a:srgbClr val="1B3B4A"/>
            </a:solidFill>
            <a:prstDash val="solid"/>
          </a:ln>
        </p:spPr>
      </p:sp>
      <p:sp>
        <p:nvSpPr>
          <p:cNvPr id="4" name="Text 2"/>
          <p:cNvSpPr txBox="1"/>
          <p:nvPr/>
        </p:nvSpPr>
        <p:spPr>
          <a:xfrm>
            <a:off x="658368" y="1170432"/>
            <a:ext cx="8595360" cy="274320"/>
          </a:xfrm>
          <a:prstGeom prst="rect">
            <a:avLst/>
          </a:prstGeom>
          <a:noFill/>
          <a:ln/>
        </p:spPr>
        <p:txBody>
          <a:bodyPr wrap="square" lIns="0" tIns="0" rIns="0" bIns="0" rtlCol="0" anchor="ctr"/>
          <a:lstStyle/>
          <a:p>
            <a:pPr indent="0" marL="0">
              <a:buNone/>
            </a:pPr>
            <a:r>
              <a:rPr lang="en-US" sz="1200" b="1" spc="180" kern="0" dirty="0">
                <a:solidFill>
                  <a:srgbClr val="02C39A"/>
                </a:solidFill>
                <a:latin typeface="Calibri" pitchFamily="34" charset="0"/>
                <a:ea typeface="Calibri" pitchFamily="34" charset="-122"/>
                <a:cs typeface="Calibri" pitchFamily="34" charset="-120"/>
              </a:rPr>
              <a:t>IIT PATNA  ·  USDC  —  GENAI DEVELOPMENT PROGRAM</a:t>
            </a:r>
            <a:endParaRPr lang="en-US" sz="1200" dirty="0"/>
          </a:p>
        </p:txBody>
      </p:sp>
      <p:sp>
        <p:nvSpPr>
          <p:cNvPr id="5" name="Text 3"/>
          <p:cNvSpPr txBox="1"/>
          <p:nvPr/>
        </p:nvSpPr>
        <p:spPr>
          <a:xfrm>
            <a:off x="658368" y="1627632"/>
            <a:ext cx="8503920" cy="1737360"/>
          </a:xfrm>
          <a:prstGeom prst="rect">
            <a:avLst/>
          </a:prstGeom>
          <a:noFill/>
          <a:ln/>
        </p:spPr>
        <p:txBody>
          <a:bodyPr wrap="square" lIns="0" tIns="0" rIns="0" bIns="0" rtlCol="0" anchor="ctr"/>
          <a:lstStyle/>
          <a:p>
            <a:pPr indent="0" marL="0">
              <a:lnSpc>
                <a:spcPct val="106000"/>
              </a:lnSpc>
              <a:buNone/>
            </a:pPr>
            <a:r>
              <a:rPr lang="en-US" sz="4200" b="1" dirty="0">
                <a:solidFill>
                  <a:srgbClr val="FFFFFF"/>
                </a:solidFill>
                <a:latin typeface="Cambria" pitchFamily="34" charset="0"/>
                <a:ea typeface="Cambria" pitchFamily="34" charset="-122"/>
                <a:cs typeface="Cambria" pitchFamily="34" charset="-120"/>
              </a:rPr>
              <a:t>AI Customer Complaint</a:t>
            </a:r>
            <a:endParaRPr lang="en-US" sz="4200" dirty="0"/>
          </a:p>
          <a:p>
            <a:pPr indent="0" marL="0">
              <a:lnSpc>
                <a:spcPct val="106000"/>
              </a:lnSpc>
              <a:buNone/>
            </a:pPr>
            <a:r>
              <a:rPr lang="en-US" sz="4200" b="1" dirty="0">
                <a:solidFill>
                  <a:srgbClr val="FFFFFF"/>
                </a:solidFill>
                <a:latin typeface="Cambria" pitchFamily="34" charset="0"/>
                <a:ea typeface="Cambria" pitchFamily="34" charset="-122"/>
                <a:cs typeface="Cambria" pitchFamily="34" charset="-120"/>
              </a:rPr>
              <a:t>&amp; Case Processing System</a:t>
            </a:r>
            <a:endParaRPr lang="en-US" sz="4200" dirty="0"/>
          </a:p>
        </p:txBody>
      </p:sp>
      <p:sp>
        <p:nvSpPr>
          <p:cNvPr id="6" name="Text 4"/>
          <p:cNvSpPr txBox="1"/>
          <p:nvPr/>
        </p:nvSpPr>
        <p:spPr>
          <a:xfrm>
            <a:off x="658368" y="3529584"/>
            <a:ext cx="7955280" cy="566928"/>
          </a:xfrm>
          <a:prstGeom prst="rect">
            <a:avLst/>
          </a:prstGeom>
          <a:noFill/>
          <a:ln/>
        </p:spPr>
        <p:txBody>
          <a:bodyPr wrap="square" lIns="0" tIns="0" rIns="0" bIns="0" rtlCol="0" anchor="ctr"/>
          <a:lstStyle/>
          <a:p>
            <a:pPr indent="0" marL="0">
              <a:buNone/>
            </a:pPr>
            <a:r>
              <a:rPr lang="en-US" sz="1500" dirty="0">
                <a:solidFill>
                  <a:srgbClr val="9DB4BE"/>
                </a:solidFill>
                <a:latin typeface="Calibri" pitchFamily="34" charset="0"/>
                <a:ea typeface="Calibri" pitchFamily="34" charset="-122"/>
                <a:cs typeface="Calibri" pitchFamily="34" charset="-120"/>
              </a:rPr>
              <a:t>A batch-oriented GenAI workflow for structured extraction, automated customer response and internal case triage.</a:t>
            </a:r>
            <a:endParaRPr lang="en-US" sz="1500" dirty="0"/>
          </a:p>
        </p:txBody>
      </p:sp>
      <p:sp>
        <p:nvSpPr>
          <p:cNvPr id="7" name="Shape 5"/>
          <p:cNvSpPr/>
          <p:nvPr/>
        </p:nvSpPr>
        <p:spPr>
          <a:xfrm>
            <a:off x="658368" y="4315968"/>
            <a:ext cx="2743200" cy="0"/>
          </a:xfrm>
          <a:prstGeom prst="line">
            <a:avLst/>
          </a:prstGeom>
          <a:noFill/>
          <a:ln w="28575">
            <a:solidFill>
              <a:srgbClr val="028090"/>
            </a:solidFill>
            <a:prstDash val="solid"/>
          </a:ln>
        </p:spPr>
      </p:sp>
      <p:sp>
        <p:nvSpPr>
          <p:cNvPr id="8" name="Text 6"/>
          <p:cNvSpPr txBox="1"/>
          <p:nvPr/>
        </p:nvSpPr>
        <p:spPr>
          <a:xfrm>
            <a:off x="658368" y="4517136"/>
            <a:ext cx="5486400" cy="292608"/>
          </a:xfrm>
          <a:prstGeom prst="rect">
            <a:avLst/>
          </a:prstGeom>
          <a:noFill/>
          <a:ln/>
        </p:spPr>
        <p:txBody>
          <a:bodyPr wrap="square" lIns="0" tIns="0" rIns="0" bIns="0" rtlCol="0" anchor="ctr"/>
          <a:lstStyle/>
          <a:p>
            <a:pPr indent="0" marL="0">
              <a:buNone/>
            </a:pPr>
            <a:r>
              <a:rPr lang="en-US" sz="1400" b="1" dirty="0">
                <a:solidFill>
                  <a:srgbClr val="00A896"/>
                </a:solidFill>
                <a:latin typeface="Calibri" pitchFamily="34" charset="0"/>
                <a:ea typeface="Calibri" pitchFamily="34" charset="-122"/>
                <a:cs typeface="Calibri" pitchFamily="34" charset="-120"/>
              </a:rPr>
              <a:t>Final Evaluation  ·  Project 1</a:t>
            </a:r>
            <a:endParaRPr lang="en-US" sz="1400" dirty="0"/>
          </a:p>
        </p:txBody>
      </p:sp>
      <p:sp>
        <p:nvSpPr>
          <p:cNvPr id="9" name="Text 7"/>
          <p:cNvSpPr txBox="1"/>
          <p:nvPr/>
        </p:nvSpPr>
        <p:spPr>
          <a:xfrm>
            <a:off x="658368" y="4809744"/>
            <a:ext cx="6949440" cy="292608"/>
          </a:xfrm>
          <a:prstGeom prst="rect">
            <a:avLst/>
          </a:prstGeom>
          <a:noFill/>
          <a:ln/>
        </p:spPr>
        <p:txBody>
          <a:bodyPr wrap="square" lIns="0" tIns="0" rIns="0" bIns="0" rtlCol="0" anchor="ctr"/>
          <a:lstStyle/>
          <a:p>
            <a:pPr indent="0" marL="0">
              <a:buNone/>
            </a:pPr>
            <a:r>
              <a:rPr lang="en-US" sz="1300" dirty="0">
                <a:solidFill>
                  <a:srgbClr val="9DB4BE"/>
                </a:solidFill>
                <a:latin typeface="Calibri" pitchFamily="34" charset="0"/>
                <a:ea typeface="Calibri" pitchFamily="34" charset="-122"/>
                <a:cs typeface="Calibri" pitchFamily="34" charset="-120"/>
              </a:rPr>
              <a:t>AI-Powered Document Processing &amp; Business Workflow</a:t>
            </a:r>
            <a:endParaRPr lang="en-US" sz="1300" dirty="0"/>
          </a:p>
        </p:txBody>
      </p:sp>
      <p:sp>
        <p:nvSpPr>
          <p:cNvPr id="10" name="Text 8"/>
          <p:cNvSpPr txBox="1"/>
          <p:nvPr/>
        </p:nvSpPr>
        <p:spPr>
          <a:xfrm>
            <a:off x="658368" y="5413248"/>
            <a:ext cx="10058400" cy="274320"/>
          </a:xfrm>
          <a:prstGeom prst="rect">
            <a:avLst/>
          </a:prstGeom>
          <a:noFill/>
          <a:ln/>
        </p:spPr>
        <p:txBody>
          <a:bodyPr wrap="square" lIns="0" tIns="0" rIns="0" bIns="0" rtlCol="0" anchor="ctr"/>
          <a:lstStyle/>
          <a:p>
            <a:pPr indent="0" marL="0">
              <a:buNone/>
            </a:pPr>
            <a:r>
              <a:rPr lang="en-US" sz="1300" dirty="0">
                <a:solidFill>
                  <a:srgbClr val="9DB4BE"/>
                </a:solidFill>
                <a:latin typeface="Calibri" pitchFamily="34" charset="0"/>
                <a:ea typeface="Calibri" pitchFamily="34" charset="-122"/>
                <a:cs typeface="Calibri" pitchFamily="34" charset="-120"/>
              </a:rPr>
              <a:t xml:space="preserve">Submitted by  </a:t>
            </a:r>
            <a:pPr indent="0" marL="0">
              <a:buNone/>
            </a:pPr>
            <a:r>
              <a:rPr lang="en-US" sz="1300" b="1" dirty="0">
                <a:solidFill>
                  <a:srgbClr val="FFFFFF"/>
                </a:solidFill>
                <a:latin typeface="Calibri" pitchFamily="34" charset="0"/>
                <a:ea typeface="Calibri" pitchFamily="34" charset="-122"/>
                <a:cs typeface="Calibri" pitchFamily="34" charset="-120"/>
              </a:rPr>
              <a:t>Harish</a:t>
            </a:r>
            <a:pPr indent="0" marL="0">
              <a:buNone/>
            </a:pPr>
            <a:r>
              <a:rPr lang="en-US" sz="1300" dirty="0">
                <a:solidFill>
                  <a:srgbClr val="9DB4BE"/>
                </a:solidFill>
                <a:latin typeface="Calibri" pitchFamily="34" charset="0"/>
                <a:ea typeface="Calibri" pitchFamily="34" charset="-122"/>
                <a:cs typeface="Calibri" pitchFamily="34" charset="-120"/>
              </a:rPr>
              <a:t xml:space="preserve">     Enrollment No.  </a:t>
            </a:r>
            <a:pPr indent="0" marL="0">
              <a:buNone/>
            </a:pPr>
            <a:r>
              <a:rPr lang="en-US" sz="1300" b="1" dirty="0">
                <a:solidFill>
                  <a:srgbClr val="E0913A"/>
                </a:solidFill>
                <a:latin typeface="Calibri" pitchFamily="34" charset="0"/>
                <a:ea typeface="Calibri" pitchFamily="34" charset="-122"/>
                <a:cs typeface="Calibri" pitchFamily="34" charset="-120"/>
              </a:rPr>
              <a:t>[ your enrollment no. ]</a:t>
            </a:r>
            <a:pPr indent="0" marL="0">
              <a:buNone/>
            </a:pPr>
            <a:r>
              <a:rPr lang="en-US" sz="1300" dirty="0">
                <a:solidFill>
                  <a:srgbClr val="9DB4BE"/>
                </a:solidFill>
                <a:latin typeface="Calibri" pitchFamily="34" charset="0"/>
                <a:ea typeface="Calibri" pitchFamily="34" charset="-122"/>
                <a:cs typeface="Calibri" pitchFamily="34" charset="-120"/>
              </a:rPr>
              <a:t xml:space="preserve">     Batch 1</a:t>
            </a:r>
            <a:endParaRPr lang="en-US" sz="1300" dirty="0"/>
          </a:p>
        </p:txBody>
      </p:sp>
      <p:sp>
        <p:nvSpPr>
          <p:cNvPr id="11" name="Text 9"/>
          <p:cNvSpPr txBox="1"/>
          <p:nvPr/>
        </p:nvSpPr>
        <p:spPr>
          <a:xfrm>
            <a:off x="658368" y="5742432"/>
            <a:ext cx="7315200" cy="274320"/>
          </a:xfrm>
          <a:prstGeom prst="rect">
            <a:avLst/>
          </a:prstGeom>
          <a:noFill/>
          <a:ln/>
        </p:spPr>
        <p:txBody>
          <a:bodyPr wrap="square" lIns="0" tIns="0" rIns="0" bIns="0" rtlCol="0" anchor="ctr"/>
          <a:lstStyle/>
          <a:p>
            <a:pPr indent="0" marL="0">
              <a:buNone/>
            </a:pPr>
            <a:r>
              <a:rPr lang="en-US" sz="1200" dirty="0">
                <a:solidFill>
                  <a:srgbClr val="02C39A"/>
                </a:solidFill>
                <a:latin typeface="Courier New" pitchFamily="34" charset="0"/>
                <a:ea typeface="Courier New" pitchFamily="34" charset="-122"/>
                <a:cs typeface="Courier New" pitchFamily="34" charset="-120"/>
              </a:rPr>
              <a:t>github.com/Harish97/ai-complaint-processor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02336"/>
            <a:ext cx="10874959" cy="237744"/>
          </a:xfrm>
          <a:prstGeom prst="rect">
            <a:avLst/>
          </a:prstGeom>
          <a:noFill/>
          <a:ln/>
        </p:spPr>
        <p:txBody>
          <a:bodyPr wrap="square" lIns="0" tIns="0" rIns="0" bIns="0" rtlCol="0" anchor="ctr"/>
          <a:lstStyle/>
          <a:p>
            <a:pPr indent="0" marL="0">
              <a:buNone/>
            </a:pPr>
            <a:r>
              <a:rPr lang="en-US" sz="1100" b="1" spc="160" kern="0" dirty="0">
                <a:solidFill>
                  <a:srgbClr val="028090"/>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658368" y="658368"/>
            <a:ext cx="10874959" cy="658368"/>
          </a:xfrm>
          <a:prstGeom prst="rect">
            <a:avLst/>
          </a:prstGeom>
          <a:noFill/>
          <a:ln/>
        </p:spPr>
        <p:txBody>
          <a:bodyPr wrap="square" lIns="0" tIns="0" rIns="0" bIns="0" rtlCol="0" anchor="t"/>
          <a:lstStyle/>
          <a:p>
            <a:pPr indent="0" marL="0">
              <a:buNone/>
            </a:pPr>
            <a:r>
              <a:rPr lang="en-US" sz="3200" b="1" dirty="0">
                <a:solidFill>
                  <a:srgbClr val="172A33"/>
                </a:solidFill>
                <a:latin typeface="Cambria" pitchFamily="34" charset="0"/>
                <a:ea typeface="Cambria" pitchFamily="34" charset="-122"/>
                <a:cs typeface="Cambria" pitchFamily="34" charset="-120"/>
              </a:rPr>
              <a:t>Support teams read every complaint by hand</a:t>
            </a:r>
            <a:endParaRPr lang="en-US" sz="3200" dirty="0"/>
          </a:p>
        </p:txBody>
      </p:sp>
      <p:sp>
        <p:nvSpPr>
          <p:cNvPr id="4" name="Text 2"/>
          <p:cNvSpPr txBox="1"/>
          <p:nvPr/>
        </p:nvSpPr>
        <p:spPr>
          <a:xfrm>
            <a:off x="10984687" y="6382512"/>
            <a:ext cx="548640" cy="256032"/>
          </a:xfrm>
          <a:prstGeom prst="rect">
            <a:avLst/>
          </a:prstGeom>
          <a:noFill/>
          <a:ln/>
        </p:spPr>
        <p:txBody>
          <a:bodyPr wrap="square" lIns="0" tIns="0" rIns="0" bIns="0" rtlCol="0" anchor="ctr"/>
          <a:lstStyle/>
          <a:p>
            <a:pPr algn="r" indent="0" marL="0">
              <a:buNone/>
            </a:pPr>
            <a:r>
              <a:rPr lang="en-US" sz="1000" dirty="0">
                <a:solidFill>
                  <a:srgbClr val="5D7480"/>
                </a:solidFill>
                <a:latin typeface="Calibri" pitchFamily="34" charset="0"/>
                <a:ea typeface="Calibri" pitchFamily="34" charset="-122"/>
                <a:cs typeface="Calibri" pitchFamily="34" charset="-120"/>
              </a:rPr>
              <a:t>2</a:t>
            </a:r>
            <a:endParaRPr lang="en-US" sz="1000" dirty="0"/>
          </a:p>
        </p:txBody>
      </p:sp>
      <p:sp>
        <p:nvSpPr>
          <p:cNvPr id="5" name="Text 3"/>
          <p:cNvSpPr txBox="1"/>
          <p:nvPr/>
        </p:nvSpPr>
        <p:spPr>
          <a:xfrm>
            <a:off x="658368" y="6382512"/>
            <a:ext cx="6858000" cy="256032"/>
          </a:xfrm>
          <a:prstGeom prst="rect">
            <a:avLst/>
          </a:prstGeom>
          <a:noFill/>
          <a:ln/>
        </p:spPr>
        <p:txBody>
          <a:bodyPr wrap="square" lIns="0" tIns="0" rIns="0" bIns="0" rtlCol="0" anchor="ctr"/>
          <a:lstStyle/>
          <a:p>
            <a:pPr indent="0" marL="0">
              <a:buNone/>
            </a:pPr>
            <a:r>
              <a:rPr lang="en-US" sz="1000" dirty="0">
                <a:solidFill>
                  <a:srgbClr val="5D7480"/>
                </a:solidFill>
                <a:latin typeface="Calibri" pitchFamily="34" charset="0"/>
                <a:ea typeface="Calibri" pitchFamily="34" charset="-122"/>
                <a:cs typeface="Calibri" pitchFamily="34" charset="-120"/>
              </a:rPr>
              <a:t>AI Customer Complaint &amp; Case Processing System</a:t>
            </a:r>
            <a:endParaRPr lang="en-US" sz="1000" dirty="0"/>
          </a:p>
        </p:txBody>
      </p:sp>
      <p:sp>
        <p:nvSpPr>
          <p:cNvPr id="6" name="Text 4"/>
          <p:cNvSpPr txBox="1"/>
          <p:nvPr/>
        </p:nvSpPr>
        <p:spPr>
          <a:xfrm>
            <a:off x="658368" y="1609344"/>
            <a:ext cx="5029200" cy="1371600"/>
          </a:xfrm>
          <a:prstGeom prst="rect">
            <a:avLst/>
          </a:prstGeom>
          <a:noFill/>
          <a:ln/>
        </p:spPr>
        <p:txBody>
          <a:bodyPr wrap="square" lIns="0" tIns="0" rIns="0" bIns="0" rtlCol="0" anchor="ctr"/>
          <a:lstStyle/>
          <a:p>
            <a:pPr indent="0" marL="0">
              <a:lnSpc>
                <a:spcPct val="124000"/>
              </a:lnSpc>
              <a:buNone/>
            </a:pPr>
            <a:r>
              <a:rPr lang="en-US" sz="1450" dirty="0">
                <a:solidFill>
                  <a:srgbClr val="172A33"/>
                </a:solidFill>
                <a:latin typeface="Calibri" pitchFamily="34" charset="0"/>
                <a:ea typeface="Calibri" pitchFamily="34" charset="-122"/>
                <a:cs typeface="Calibri" pitchFamily="34" charset="-120"/>
              </a:rPr>
              <a:t>A support desk receives complaint records as a mix of .txt, .pdf and .docx files. For each one, an agent has to pull the key facts into the case system, draft a reply to the customer, and write a short internal note so a manager can triage the queue.</a:t>
            </a:r>
            <a:endParaRPr lang="en-US" sz="1450" dirty="0"/>
          </a:p>
        </p:txBody>
      </p:sp>
      <p:sp>
        <p:nvSpPr>
          <p:cNvPr id="7" name="Shape 5"/>
          <p:cNvSpPr/>
          <p:nvPr/>
        </p:nvSpPr>
        <p:spPr>
          <a:xfrm>
            <a:off x="658368" y="3163824"/>
            <a:ext cx="310896" cy="310896"/>
          </a:xfrm>
          <a:prstGeom prst="ellipse">
            <a:avLst/>
          </a:prstGeom>
          <a:solidFill>
            <a:srgbClr val="D1495B"/>
          </a:solidFill>
          <a:ln w="12700">
            <a:solidFill>
              <a:srgbClr val="D1495B"/>
            </a:solidFill>
            <a:prstDash val="solid"/>
          </a:ln>
        </p:spPr>
      </p:sp>
      <p:sp>
        <p:nvSpPr>
          <p:cNvPr id="8" name="Text 6"/>
          <p:cNvSpPr txBox="1"/>
          <p:nvPr/>
        </p:nvSpPr>
        <p:spPr>
          <a:xfrm>
            <a:off x="658368" y="3182112"/>
            <a:ext cx="310896"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133856" y="3145536"/>
            <a:ext cx="4480560" cy="274320"/>
          </a:xfrm>
          <a:prstGeom prst="rect">
            <a:avLst/>
          </a:prstGeom>
          <a:noFill/>
          <a:ln/>
        </p:spPr>
        <p:txBody>
          <a:bodyPr wrap="square" lIns="0" tIns="0" rIns="0" bIns="0" rtlCol="0" anchor="ctr"/>
          <a:lstStyle/>
          <a:p>
            <a:pPr indent="0" marL="0">
              <a:buNone/>
            </a:pPr>
            <a:r>
              <a:rPr lang="en-US" sz="1500" b="1" dirty="0">
                <a:solidFill>
                  <a:srgbClr val="172A33"/>
                </a:solidFill>
                <a:latin typeface="Calibri" pitchFamily="34" charset="0"/>
                <a:ea typeface="Calibri" pitchFamily="34" charset="-122"/>
                <a:cs typeface="Calibri" pitchFamily="34" charset="-120"/>
              </a:rPr>
              <a:t>Slow</a:t>
            </a:r>
            <a:endParaRPr lang="en-US" sz="1500" dirty="0"/>
          </a:p>
        </p:txBody>
      </p:sp>
      <p:sp>
        <p:nvSpPr>
          <p:cNvPr id="10" name="Text 8"/>
          <p:cNvSpPr txBox="1"/>
          <p:nvPr/>
        </p:nvSpPr>
        <p:spPr>
          <a:xfrm>
            <a:off x="1133856" y="3429000"/>
            <a:ext cx="4480560" cy="420624"/>
          </a:xfrm>
          <a:prstGeom prst="rect">
            <a:avLst/>
          </a:prstGeom>
          <a:noFill/>
          <a:ln/>
        </p:spPr>
        <p:txBody>
          <a:bodyPr wrap="square" lIns="0" tIns="0" rIns="0" bIns="0" rtlCol="0" anchor="ctr"/>
          <a:lstStyle/>
          <a:p>
            <a:pPr indent="0" marL="0">
              <a:buNone/>
            </a:pPr>
            <a:r>
              <a:rPr lang="en-US" sz="1250" dirty="0">
                <a:solidFill>
                  <a:srgbClr val="5D7480"/>
                </a:solidFill>
                <a:latin typeface="Calibri" pitchFamily="34" charset="0"/>
                <a:ea typeface="Calibri" pitchFamily="34" charset="-122"/>
                <a:cs typeface="Calibri" pitchFamily="34" charset="-120"/>
              </a:rPr>
              <a:t>Minutes of reading and retyping for every single case.</a:t>
            </a:r>
            <a:endParaRPr lang="en-US" sz="1250" dirty="0"/>
          </a:p>
        </p:txBody>
      </p:sp>
      <p:sp>
        <p:nvSpPr>
          <p:cNvPr id="11" name="Shape 9"/>
          <p:cNvSpPr/>
          <p:nvPr/>
        </p:nvSpPr>
        <p:spPr>
          <a:xfrm>
            <a:off x="658368" y="4005072"/>
            <a:ext cx="310896" cy="310896"/>
          </a:xfrm>
          <a:prstGeom prst="ellipse">
            <a:avLst/>
          </a:prstGeom>
          <a:solidFill>
            <a:srgbClr val="D1495B"/>
          </a:solidFill>
          <a:ln w="12700">
            <a:solidFill>
              <a:srgbClr val="D1495B"/>
            </a:solidFill>
            <a:prstDash val="solid"/>
          </a:ln>
        </p:spPr>
      </p:sp>
      <p:sp>
        <p:nvSpPr>
          <p:cNvPr id="12" name="Text 10"/>
          <p:cNvSpPr txBox="1"/>
          <p:nvPr/>
        </p:nvSpPr>
        <p:spPr>
          <a:xfrm>
            <a:off x="658368" y="4023360"/>
            <a:ext cx="310896"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133856" y="3986784"/>
            <a:ext cx="4480560" cy="274320"/>
          </a:xfrm>
          <a:prstGeom prst="rect">
            <a:avLst/>
          </a:prstGeom>
          <a:noFill/>
          <a:ln/>
        </p:spPr>
        <p:txBody>
          <a:bodyPr wrap="square" lIns="0" tIns="0" rIns="0" bIns="0" rtlCol="0" anchor="ctr"/>
          <a:lstStyle/>
          <a:p>
            <a:pPr indent="0" marL="0">
              <a:buNone/>
            </a:pPr>
            <a:r>
              <a:rPr lang="en-US" sz="1500" b="1" dirty="0">
                <a:solidFill>
                  <a:srgbClr val="172A33"/>
                </a:solidFill>
                <a:latin typeface="Calibri" pitchFamily="34" charset="0"/>
                <a:ea typeface="Calibri" pitchFamily="34" charset="-122"/>
                <a:cs typeface="Calibri" pitchFamily="34" charset="-120"/>
              </a:rPr>
              <a:t>Inconsistent</a:t>
            </a:r>
            <a:endParaRPr lang="en-US" sz="1500" dirty="0"/>
          </a:p>
        </p:txBody>
      </p:sp>
      <p:sp>
        <p:nvSpPr>
          <p:cNvPr id="14" name="Text 12"/>
          <p:cNvSpPr txBox="1"/>
          <p:nvPr/>
        </p:nvSpPr>
        <p:spPr>
          <a:xfrm>
            <a:off x="1133856" y="4270248"/>
            <a:ext cx="4480560" cy="420624"/>
          </a:xfrm>
          <a:prstGeom prst="rect">
            <a:avLst/>
          </a:prstGeom>
          <a:noFill/>
          <a:ln/>
        </p:spPr>
        <p:txBody>
          <a:bodyPr wrap="square" lIns="0" tIns="0" rIns="0" bIns="0" rtlCol="0" anchor="ctr"/>
          <a:lstStyle/>
          <a:p>
            <a:pPr indent="0" marL="0">
              <a:buNone/>
            </a:pPr>
            <a:r>
              <a:rPr lang="en-US" sz="1250" dirty="0">
                <a:solidFill>
                  <a:srgbClr val="5D7480"/>
                </a:solidFill>
                <a:latin typeface="Calibri" pitchFamily="34" charset="0"/>
                <a:ea typeface="Calibri" pitchFamily="34" charset="-122"/>
                <a:cs typeface="Calibri" pitchFamily="34" charset="-120"/>
              </a:rPr>
              <a:t>Two agents categorise and summarise the same case differently.</a:t>
            </a:r>
            <a:endParaRPr lang="en-US" sz="1250" dirty="0"/>
          </a:p>
        </p:txBody>
      </p:sp>
      <p:sp>
        <p:nvSpPr>
          <p:cNvPr id="15" name="Shape 13"/>
          <p:cNvSpPr/>
          <p:nvPr/>
        </p:nvSpPr>
        <p:spPr>
          <a:xfrm>
            <a:off x="658368" y="4846320"/>
            <a:ext cx="310896" cy="310896"/>
          </a:xfrm>
          <a:prstGeom prst="ellipse">
            <a:avLst/>
          </a:prstGeom>
          <a:solidFill>
            <a:srgbClr val="D1495B"/>
          </a:solidFill>
          <a:ln w="12700">
            <a:solidFill>
              <a:srgbClr val="D1495B"/>
            </a:solidFill>
            <a:prstDash val="solid"/>
          </a:ln>
        </p:spPr>
      </p:sp>
      <p:sp>
        <p:nvSpPr>
          <p:cNvPr id="16" name="Text 14"/>
          <p:cNvSpPr txBox="1"/>
          <p:nvPr/>
        </p:nvSpPr>
        <p:spPr>
          <a:xfrm>
            <a:off x="658368" y="4864608"/>
            <a:ext cx="310896"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133856" y="4828032"/>
            <a:ext cx="4480560" cy="274320"/>
          </a:xfrm>
          <a:prstGeom prst="rect">
            <a:avLst/>
          </a:prstGeom>
          <a:noFill/>
          <a:ln/>
        </p:spPr>
        <p:txBody>
          <a:bodyPr wrap="square" lIns="0" tIns="0" rIns="0" bIns="0" rtlCol="0" anchor="ctr"/>
          <a:lstStyle/>
          <a:p>
            <a:pPr indent="0" marL="0">
              <a:buNone/>
            </a:pPr>
            <a:r>
              <a:rPr lang="en-US" sz="1500" b="1" dirty="0">
                <a:solidFill>
                  <a:srgbClr val="172A33"/>
                </a:solidFill>
                <a:latin typeface="Calibri" pitchFamily="34" charset="0"/>
                <a:ea typeface="Calibri" pitchFamily="34" charset="-122"/>
                <a:cs typeface="Calibri" pitchFamily="34" charset="-120"/>
              </a:rPr>
              <a:t>Doesn't scale</a:t>
            </a:r>
            <a:endParaRPr lang="en-US" sz="1500" dirty="0"/>
          </a:p>
        </p:txBody>
      </p:sp>
      <p:sp>
        <p:nvSpPr>
          <p:cNvPr id="18" name="Text 16"/>
          <p:cNvSpPr txBox="1"/>
          <p:nvPr/>
        </p:nvSpPr>
        <p:spPr>
          <a:xfrm>
            <a:off x="1133856" y="5111496"/>
            <a:ext cx="4480560" cy="420624"/>
          </a:xfrm>
          <a:prstGeom prst="rect">
            <a:avLst/>
          </a:prstGeom>
          <a:noFill/>
          <a:ln/>
        </p:spPr>
        <p:txBody>
          <a:bodyPr wrap="square" lIns="0" tIns="0" rIns="0" bIns="0" rtlCol="0" anchor="ctr"/>
          <a:lstStyle/>
          <a:p>
            <a:pPr indent="0" marL="0">
              <a:buNone/>
            </a:pPr>
            <a:r>
              <a:rPr lang="en-US" sz="1250" dirty="0">
                <a:solidFill>
                  <a:srgbClr val="5D7480"/>
                </a:solidFill>
                <a:latin typeface="Calibri" pitchFamily="34" charset="0"/>
                <a:ea typeface="Calibri" pitchFamily="34" charset="-122"/>
                <a:cs typeface="Calibri" pitchFamily="34" charset="-120"/>
              </a:rPr>
              <a:t>Throughput is capped by headcount, not by demand.</a:t>
            </a:r>
            <a:endParaRPr lang="en-US" sz="1250" dirty="0"/>
          </a:p>
        </p:txBody>
      </p:sp>
      <p:sp>
        <p:nvSpPr>
          <p:cNvPr id="19" name="Shape 17"/>
          <p:cNvSpPr/>
          <p:nvPr/>
        </p:nvSpPr>
        <p:spPr>
          <a:xfrm>
            <a:off x="6053328" y="1609344"/>
            <a:ext cx="5486400" cy="3712464"/>
          </a:xfrm>
          <a:prstGeom prst="roundRect">
            <a:avLst>
              <a:gd name="adj" fmla="val 1478"/>
            </a:avLst>
          </a:prstGeom>
          <a:solidFill>
            <a:srgbClr val="F1F5F7"/>
          </a:solidFill>
          <a:ln w="12700">
            <a:solidFill>
              <a:srgbClr val="F1F5F7"/>
            </a:solidFill>
            <a:prstDash val="solid"/>
          </a:ln>
        </p:spPr>
      </p:sp>
      <p:sp>
        <p:nvSpPr>
          <p:cNvPr id="20" name="Text 18"/>
          <p:cNvSpPr txBox="1"/>
          <p:nvPr/>
        </p:nvSpPr>
        <p:spPr>
          <a:xfrm>
            <a:off x="6382512" y="1883664"/>
            <a:ext cx="4846320" cy="310896"/>
          </a:xfrm>
          <a:prstGeom prst="rect">
            <a:avLst/>
          </a:prstGeom>
          <a:noFill/>
          <a:ln/>
        </p:spPr>
        <p:txBody>
          <a:bodyPr wrap="square" lIns="0" tIns="0" rIns="0" bIns="0" rtlCol="0" anchor="ctr"/>
          <a:lstStyle/>
          <a:p>
            <a:pPr indent="0" marL="0">
              <a:buNone/>
            </a:pPr>
            <a:r>
              <a:rPr lang="en-US" sz="1500" b="1" dirty="0">
                <a:solidFill>
                  <a:srgbClr val="172A33"/>
                </a:solidFill>
                <a:latin typeface="Calibri" pitchFamily="34" charset="0"/>
                <a:ea typeface="Calibri" pitchFamily="34" charset="-122"/>
                <a:cs typeface="Calibri" pitchFamily="34" charset="-120"/>
              </a:rPr>
              <a:t>Every case needs the same three things</a:t>
            </a:r>
            <a:endParaRPr lang="en-US" sz="1500" dirty="0"/>
          </a:p>
        </p:txBody>
      </p:sp>
      <p:sp>
        <p:nvSpPr>
          <p:cNvPr id="21" name="Shape 19"/>
          <p:cNvSpPr/>
          <p:nvPr/>
        </p:nvSpPr>
        <p:spPr>
          <a:xfrm>
            <a:off x="6382512" y="2395728"/>
            <a:ext cx="4846320" cy="859536"/>
          </a:xfrm>
          <a:prstGeom prst="roundRect">
            <a:avLst>
              <a:gd name="adj" fmla="val 5319"/>
            </a:avLst>
          </a:prstGeom>
          <a:solidFill>
            <a:srgbClr val="FFFFFF"/>
          </a:solidFill>
          <a:ln w="12700">
            <a:solidFill>
              <a:srgbClr val="FFFFFF"/>
            </a:solidFill>
            <a:prstDash val="solid"/>
          </a:ln>
        </p:spPr>
      </p:sp>
      <p:sp>
        <p:nvSpPr>
          <p:cNvPr id="22" name="Shape 20"/>
          <p:cNvSpPr/>
          <p:nvPr/>
        </p:nvSpPr>
        <p:spPr>
          <a:xfrm>
            <a:off x="6583680" y="2670048"/>
            <a:ext cx="274320" cy="274320"/>
          </a:xfrm>
          <a:prstGeom prst="ellipse">
            <a:avLst/>
          </a:prstGeom>
          <a:solidFill>
            <a:srgbClr val="028090"/>
          </a:solidFill>
          <a:ln w="12700">
            <a:solidFill>
              <a:srgbClr val="028090"/>
            </a:solidFill>
            <a:prstDash val="solid"/>
          </a:ln>
        </p:spPr>
      </p:sp>
      <p:sp>
        <p:nvSpPr>
          <p:cNvPr id="23" name="Text 21"/>
          <p:cNvSpPr txBox="1"/>
          <p:nvPr/>
        </p:nvSpPr>
        <p:spPr>
          <a:xfrm>
            <a:off x="6986016" y="2523744"/>
            <a:ext cx="4114800" cy="274320"/>
          </a:xfrm>
          <a:prstGeom prst="rect">
            <a:avLst/>
          </a:prstGeom>
          <a:noFill/>
          <a:ln/>
        </p:spPr>
        <p:txBody>
          <a:bodyPr wrap="square" lIns="0" tIns="0" rIns="0" bIns="0" rtlCol="0" anchor="ctr"/>
          <a:lstStyle/>
          <a:p>
            <a:pPr indent="0" marL="0">
              <a:buNone/>
            </a:pPr>
            <a:r>
              <a:rPr lang="en-US" sz="1400" b="1" dirty="0">
                <a:solidFill>
                  <a:srgbClr val="172A33"/>
                </a:solidFill>
                <a:latin typeface="Calibri" pitchFamily="34" charset="0"/>
                <a:ea typeface="Calibri" pitchFamily="34" charset="-122"/>
                <a:cs typeface="Calibri" pitchFamily="34" charset="-120"/>
              </a:rPr>
              <a:t>Facts extracted</a:t>
            </a:r>
            <a:endParaRPr lang="en-US" sz="1400" dirty="0"/>
          </a:p>
        </p:txBody>
      </p:sp>
      <p:sp>
        <p:nvSpPr>
          <p:cNvPr id="24" name="Text 22"/>
          <p:cNvSpPr txBox="1"/>
          <p:nvPr/>
        </p:nvSpPr>
        <p:spPr>
          <a:xfrm>
            <a:off x="6986016" y="2798064"/>
            <a:ext cx="4059936" cy="384048"/>
          </a:xfrm>
          <a:prstGeom prst="rect">
            <a:avLst/>
          </a:prstGeom>
          <a:noFill/>
          <a:ln/>
        </p:spPr>
        <p:txBody>
          <a:bodyPr wrap="square" lIns="0" tIns="0" rIns="0" bIns="0" rtlCol="0" anchor="ctr"/>
          <a:lstStyle/>
          <a:p>
            <a:pPr indent="0" marL="0">
              <a:buNone/>
            </a:pPr>
            <a:r>
              <a:rPr lang="en-US" sz="1150" dirty="0">
                <a:solidFill>
                  <a:srgbClr val="5D7480"/>
                </a:solidFill>
                <a:latin typeface="Calibri" pitchFamily="34" charset="0"/>
                <a:ea typeface="Calibri" pitchFamily="34" charset="-122"/>
                <a:cs typeface="Calibri" pitchFamily="34" charset="-120"/>
              </a:rPr>
              <a:t>Name, contact, category, issue, resolution, status</a:t>
            </a:r>
            <a:endParaRPr lang="en-US" sz="1150" dirty="0"/>
          </a:p>
        </p:txBody>
      </p:sp>
      <p:sp>
        <p:nvSpPr>
          <p:cNvPr id="25" name="Shape 23"/>
          <p:cNvSpPr/>
          <p:nvPr/>
        </p:nvSpPr>
        <p:spPr>
          <a:xfrm>
            <a:off x="6382512" y="3364992"/>
            <a:ext cx="4846320" cy="859536"/>
          </a:xfrm>
          <a:prstGeom prst="roundRect">
            <a:avLst>
              <a:gd name="adj" fmla="val 5319"/>
            </a:avLst>
          </a:prstGeom>
          <a:solidFill>
            <a:srgbClr val="FFFFFF"/>
          </a:solidFill>
          <a:ln w="12700">
            <a:solidFill>
              <a:srgbClr val="FFFFFF"/>
            </a:solidFill>
            <a:prstDash val="solid"/>
          </a:ln>
        </p:spPr>
      </p:sp>
      <p:sp>
        <p:nvSpPr>
          <p:cNvPr id="26" name="Shape 24"/>
          <p:cNvSpPr/>
          <p:nvPr/>
        </p:nvSpPr>
        <p:spPr>
          <a:xfrm>
            <a:off x="6583680" y="3639312"/>
            <a:ext cx="274320" cy="274320"/>
          </a:xfrm>
          <a:prstGeom prst="ellipse">
            <a:avLst/>
          </a:prstGeom>
          <a:solidFill>
            <a:srgbClr val="00A896"/>
          </a:solidFill>
          <a:ln w="12700">
            <a:solidFill>
              <a:srgbClr val="00A896"/>
            </a:solidFill>
            <a:prstDash val="solid"/>
          </a:ln>
        </p:spPr>
      </p:sp>
      <p:sp>
        <p:nvSpPr>
          <p:cNvPr id="27" name="Text 25"/>
          <p:cNvSpPr txBox="1"/>
          <p:nvPr/>
        </p:nvSpPr>
        <p:spPr>
          <a:xfrm>
            <a:off x="6986016" y="3493008"/>
            <a:ext cx="4114800" cy="274320"/>
          </a:xfrm>
          <a:prstGeom prst="rect">
            <a:avLst/>
          </a:prstGeom>
          <a:noFill/>
          <a:ln/>
        </p:spPr>
        <p:txBody>
          <a:bodyPr wrap="square" lIns="0" tIns="0" rIns="0" bIns="0" rtlCol="0" anchor="ctr"/>
          <a:lstStyle/>
          <a:p>
            <a:pPr indent="0" marL="0">
              <a:buNone/>
            </a:pPr>
            <a:r>
              <a:rPr lang="en-US" sz="1400" b="1" dirty="0">
                <a:solidFill>
                  <a:srgbClr val="172A33"/>
                </a:solidFill>
                <a:latin typeface="Calibri" pitchFamily="34" charset="0"/>
                <a:ea typeface="Calibri" pitchFamily="34" charset="-122"/>
                <a:cs typeface="Calibri" pitchFamily="34" charset="-120"/>
              </a:rPr>
              <a:t>Customer replied</a:t>
            </a:r>
            <a:endParaRPr lang="en-US" sz="1400" dirty="0"/>
          </a:p>
        </p:txBody>
      </p:sp>
      <p:sp>
        <p:nvSpPr>
          <p:cNvPr id="28" name="Text 26"/>
          <p:cNvSpPr txBox="1"/>
          <p:nvPr/>
        </p:nvSpPr>
        <p:spPr>
          <a:xfrm>
            <a:off x="6986016" y="3767328"/>
            <a:ext cx="4059936" cy="384048"/>
          </a:xfrm>
          <a:prstGeom prst="rect">
            <a:avLst/>
          </a:prstGeom>
          <a:noFill/>
          <a:ln/>
        </p:spPr>
        <p:txBody>
          <a:bodyPr wrap="square" lIns="0" tIns="0" rIns="0" bIns="0" rtlCol="0" anchor="ctr"/>
          <a:lstStyle/>
          <a:p>
            <a:pPr indent="0" marL="0">
              <a:buNone/>
            </a:pPr>
            <a:r>
              <a:rPr lang="en-US" sz="1150" dirty="0">
                <a:solidFill>
                  <a:srgbClr val="5D7480"/>
                </a:solidFill>
                <a:latin typeface="Calibri" pitchFamily="34" charset="0"/>
                <a:ea typeface="Calibri" pitchFamily="34" charset="-122"/>
                <a:cs typeface="Calibri" pitchFamily="34" charset="-120"/>
              </a:rPr>
              <a:t>A professional, accurate, non-committal-where-unknown email</a:t>
            </a:r>
            <a:endParaRPr lang="en-US" sz="1150" dirty="0"/>
          </a:p>
        </p:txBody>
      </p:sp>
      <p:sp>
        <p:nvSpPr>
          <p:cNvPr id="29" name="Shape 27"/>
          <p:cNvSpPr/>
          <p:nvPr/>
        </p:nvSpPr>
        <p:spPr>
          <a:xfrm>
            <a:off x="6382512" y="4334256"/>
            <a:ext cx="4846320" cy="859536"/>
          </a:xfrm>
          <a:prstGeom prst="roundRect">
            <a:avLst>
              <a:gd name="adj" fmla="val 5319"/>
            </a:avLst>
          </a:prstGeom>
          <a:solidFill>
            <a:srgbClr val="FFFFFF"/>
          </a:solidFill>
          <a:ln w="12700">
            <a:solidFill>
              <a:srgbClr val="FFFFFF"/>
            </a:solidFill>
            <a:prstDash val="solid"/>
          </a:ln>
        </p:spPr>
      </p:sp>
      <p:sp>
        <p:nvSpPr>
          <p:cNvPr id="30" name="Shape 28"/>
          <p:cNvSpPr/>
          <p:nvPr/>
        </p:nvSpPr>
        <p:spPr>
          <a:xfrm>
            <a:off x="6583680" y="4608576"/>
            <a:ext cx="274320" cy="274320"/>
          </a:xfrm>
          <a:prstGeom prst="ellipse">
            <a:avLst/>
          </a:prstGeom>
          <a:solidFill>
            <a:srgbClr val="02C39A"/>
          </a:solidFill>
          <a:ln w="12700">
            <a:solidFill>
              <a:srgbClr val="02C39A"/>
            </a:solidFill>
            <a:prstDash val="solid"/>
          </a:ln>
        </p:spPr>
      </p:sp>
      <p:sp>
        <p:nvSpPr>
          <p:cNvPr id="31" name="Text 29"/>
          <p:cNvSpPr txBox="1"/>
          <p:nvPr/>
        </p:nvSpPr>
        <p:spPr>
          <a:xfrm>
            <a:off x="6986016" y="4462272"/>
            <a:ext cx="4114800" cy="274320"/>
          </a:xfrm>
          <a:prstGeom prst="rect">
            <a:avLst/>
          </a:prstGeom>
          <a:noFill/>
          <a:ln/>
        </p:spPr>
        <p:txBody>
          <a:bodyPr wrap="square" lIns="0" tIns="0" rIns="0" bIns="0" rtlCol="0" anchor="ctr"/>
          <a:lstStyle/>
          <a:p>
            <a:pPr indent="0" marL="0">
              <a:buNone/>
            </a:pPr>
            <a:r>
              <a:rPr lang="en-US" sz="1400" b="1" dirty="0">
                <a:solidFill>
                  <a:srgbClr val="172A33"/>
                </a:solidFill>
                <a:latin typeface="Calibri" pitchFamily="34" charset="0"/>
                <a:ea typeface="Calibri" pitchFamily="34" charset="-122"/>
                <a:cs typeface="Calibri" pitchFamily="34" charset="-120"/>
              </a:rPr>
              <a:t>Manager briefed</a:t>
            </a:r>
            <a:endParaRPr lang="en-US" sz="1400" dirty="0"/>
          </a:p>
        </p:txBody>
      </p:sp>
      <p:sp>
        <p:nvSpPr>
          <p:cNvPr id="32" name="Text 30"/>
          <p:cNvSpPr txBox="1"/>
          <p:nvPr/>
        </p:nvSpPr>
        <p:spPr>
          <a:xfrm>
            <a:off x="6986016" y="4736592"/>
            <a:ext cx="4059936" cy="384048"/>
          </a:xfrm>
          <a:prstGeom prst="rect">
            <a:avLst/>
          </a:prstGeom>
          <a:noFill/>
          <a:ln/>
        </p:spPr>
        <p:txBody>
          <a:bodyPr wrap="square" lIns="0" tIns="0" rIns="0" bIns="0" rtlCol="0" anchor="ctr"/>
          <a:lstStyle/>
          <a:p>
            <a:pPr indent="0" marL="0">
              <a:buNone/>
            </a:pPr>
            <a:r>
              <a:rPr lang="en-US" sz="1150" dirty="0">
                <a:solidFill>
                  <a:srgbClr val="5D7480"/>
                </a:solidFill>
                <a:latin typeface="Calibri" pitchFamily="34" charset="0"/>
                <a:ea typeface="Calibri" pitchFamily="34" charset="-122"/>
                <a:cs typeface="Calibri" pitchFamily="34" charset="-120"/>
              </a:rPr>
              <a:t>A terse internal note ending in one next action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02336"/>
            <a:ext cx="10874959" cy="237744"/>
          </a:xfrm>
          <a:prstGeom prst="rect">
            <a:avLst/>
          </a:prstGeom>
          <a:noFill/>
          <a:ln/>
        </p:spPr>
        <p:txBody>
          <a:bodyPr wrap="square" lIns="0" tIns="0" rIns="0" bIns="0" rtlCol="0" anchor="ctr"/>
          <a:lstStyle/>
          <a:p>
            <a:pPr indent="0" marL="0">
              <a:buNone/>
            </a:pPr>
            <a:r>
              <a:rPr lang="en-US" sz="1100" b="1" spc="160" kern="0" dirty="0">
                <a:solidFill>
                  <a:srgbClr val="028090"/>
                </a:solidFill>
                <a:latin typeface="Calibri" pitchFamily="34" charset="0"/>
                <a:ea typeface="Calibri" pitchFamily="34" charset="-122"/>
                <a:cs typeface="Calibri" pitchFamily="34" charset="-120"/>
              </a:rPr>
              <a:t>SOLUTION</a:t>
            </a:r>
            <a:endParaRPr lang="en-US" sz="1100" dirty="0"/>
          </a:p>
        </p:txBody>
      </p:sp>
      <p:sp>
        <p:nvSpPr>
          <p:cNvPr id="3" name="Text 1"/>
          <p:cNvSpPr txBox="1"/>
          <p:nvPr/>
        </p:nvSpPr>
        <p:spPr>
          <a:xfrm>
            <a:off x="658368" y="658368"/>
            <a:ext cx="10874959" cy="658368"/>
          </a:xfrm>
          <a:prstGeom prst="rect">
            <a:avLst/>
          </a:prstGeom>
          <a:noFill/>
          <a:ln/>
        </p:spPr>
        <p:txBody>
          <a:bodyPr wrap="square" lIns="0" tIns="0" rIns="0" bIns="0" rtlCol="0" anchor="t"/>
          <a:lstStyle/>
          <a:p>
            <a:pPr indent="0" marL="0">
              <a:buNone/>
            </a:pPr>
            <a:r>
              <a:rPr lang="en-US" sz="3200" b="1" dirty="0">
                <a:solidFill>
                  <a:srgbClr val="172A33"/>
                </a:solidFill>
                <a:latin typeface="Cambria" pitchFamily="34" charset="0"/>
                <a:ea typeface="Cambria" pitchFamily="34" charset="-122"/>
                <a:cs typeface="Cambria" pitchFamily="34" charset="-120"/>
              </a:rPr>
              <a:t>Three AI tasks run on every document</a:t>
            </a:r>
            <a:endParaRPr lang="en-US" sz="3200" dirty="0"/>
          </a:p>
        </p:txBody>
      </p:sp>
      <p:sp>
        <p:nvSpPr>
          <p:cNvPr id="4" name="Text 2"/>
          <p:cNvSpPr txBox="1"/>
          <p:nvPr/>
        </p:nvSpPr>
        <p:spPr>
          <a:xfrm>
            <a:off x="10984687" y="6382512"/>
            <a:ext cx="548640" cy="256032"/>
          </a:xfrm>
          <a:prstGeom prst="rect">
            <a:avLst/>
          </a:prstGeom>
          <a:noFill/>
          <a:ln/>
        </p:spPr>
        <p:txBody>
          <a:bodyPr wrap="square" lIns="0" tIns="0" rIns="0" bIns="0" rtlCol="0" anchor="ctr"/>
          <a:lstStyle/>
          <a:p>
            <a:pPr algn="r" indent="0" marL="0">
              <a:buNone/>
            </a:pPr>
            <a:r>
              <a:rPr lang="en-US" sz="1000" dirty="0">
                <a:solidFill>
                  <a:srgbClr val="5D7480"/>
                </a:solidFill>
                <a:latin typeface="Calibri" pitchFamily="34" charset="0"/>
                <a:ea typeface="Calibri" pitchFamily="34" charset="-122"/>
                <a:cs typeface="Calibri" pitchFamily="34" charset="-120"/>
              </a:rPr>
              <a:t>3</a:t>
            </a:r>
            <a:endParaRPr lang="en-US" sz="1000" dirty="0"/>
          </a:p>
        </p:txBody>
      </p:sp>
      <p:sp>
        <p:nvSpPr>
          <p:cNvPr id="5" name="Text 3"/>
          <p:cNvSpPr txBox="1"/>
          <p:nvPr/>
        </p:nvSpPr>
        <p:spPr>
          <a:xfrm>
            <a:off x="658368" y="6382512"/>
            <a:ext cx="6858000" cy="256032"/>
          </a:xfrm>
          <a:prstGeom prst="rect">
            <a:avLst/>
          </a:prstGeom>
          <a:noFill/>
          <a:ln/>
        </p:spPr>
        <p:txBody>
          <a:bodyPr wrap="square" lIns="0" tIns="0" rIns="0" bIns="0" rtlCol="0" anchor="ctr"/>
          <a:lstStyle/>
          <a:p>
            <a:pPr indent="0" marL="0">
              <a:buNone/>
            </a:pPr>
            <a:r>
              <a:rPr lang="en-US" sz="1000" dirty="0">
                <a:solidFill>
                  <a:srgbClr val="5D7480"/>
                </a:solidFill>
                <a:latin typeface="Calibri" pitchFamily="34" charset="0"/>
                <a:ea typeface="Calibri" pitchFamily="34" charset="-122"/>
                <a:cs typeface="Calibri" pitchFamily="34" charset="-120"/>
              </a:rPr>
              <a:t>AI Customer Complaint &amp; Case Processing System</a:t>
            </a:r>
            <a:endParaRPr lang="en-US" sz="1000" dirty="0"/>
          </a:p>
        </p:txBody>
      </p:sp>
      <p:sp>
        <p:nvSpPr>
          <p:cNvPr id="6" name="Shape 4"/>
          <p:cNvSpPr/>
          <p:nvPr/>
        </p:nvSpPr>
        <p:spPr>
          <a:xfrm>
            <a:off x="658368" y="1627632"/>
            <a:ext cx="3429000" cy="3127248"/>
          </a:xfrm>
          <a:prstGeom prst="roundRect">
            <a:avLst>
              <a:gd name="adj" fmla="val 1754"/>
            </a:avLst>
          </a:prstGeom>
          <a:solidFill>
            <a:srgbClr val="F1F5F7"/>
          </a:solidFill>
          <a:ln w="12700">
            <a:solidFill>
              <a:srgbClr val="F1F5F7"/>
            </a:solidFill>
            <a:prstDash val="solid"/>
          </a:ln>
        </p:spPr>
      </p:sp>
      <p:sp>
        <p:nvSpPr>
          <p:cNvPr id="7" name="Shape 5"/>
          <p:cNvSpPr/>
          <p:nvPr/>
        </p:nvSpPr>
        <p:spPr>
          <a:xfrm>
            <a:off x="932688" y="1865376"/>
            <a:ext cx="457200" cy="457200"/>
          </a:xfrm>
          <a:prstGeom prst="ellipse">
            <a:avLst/>
          </a:prstGeom>
          <a:solidFill>
            <a:srgbClr val="028090"/>
          </a:solidFill>
          <a:ln w="12700">
            <a:solidFill>
              <a:srgbClr val="028090"/>
            </a:solidFill>
            <a:prstDash val="solid"/>
          </a:ln>
        </p:spPr>
      </p:sp>
      <p:sp>
        <p:nvSpPr>
          <p:cNvPr id="8" name="Text 6"/>
          <p:cNvSpPr txBox="1"/>
          <p:nvPr/>
        </p:nvSpPr>
        <p:spPr>
          <a:xfrm>
            <a:off x="932688" y="1883664"/>
            <a:ext cx="4572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932688" y="2450592"/>
            <a:ext cx="2880360" cy="566928"/>
          </a:xfrm>
          <a:prstGeom prst="rect">
            <a:avLst/>
          </a:prstGeom>
          <a:noFill/>
          <a:ln/>
        </p:spPr>
        <p:txBody>
          <a:bodyPr wrap="square" lIns="0" tIns="0" rIns="0" bIns="0" rtlCol="0" anchor="ctr"/>
          <a:lstStyle/>
          <a:p>
            <a:pPr indent="0" marL="0">
              <a:buNone/>
            </a:pPr>
            <a:r>
              <a:rPr lang="en-US" sz="1700" b="1" dirty="0">
                <a:solidFill>
                  <a:srgbClr val="172A33"/>
                </a:solidFill>
                <a:latin typeface="Cambria" pitchFamily="34" charset="0"/>
                <a:ea typeface="Cambria" pitchFamily="34" charset="-122"/>
                <a:cs typeface="Cambria" pitchFamily="34" charset="-120"/>
              </a:rPr>
              <a:t>Structured Extraction</a:t>
            </a:r>
            <a:endParaRPr lang="en-US" sz="1700" dirty="0"/>
          </a:p>
        </p:txBody>
      </p:sp>
      <p:sp>
        <p:nvSpPr>
          <p:cNvPr id="10" name="Text 8"/>
          <p:cNvSpPr txBox="1"/>
          <p:nvPr/>
        </p:nvSpPr>
        <p:spPr>
          <a:xfrm>
            <a:off x="932688" y="3035808"/>
            <a:ext cx="2880360" cy="201168"/>
          </a:xfrm>
          <a:prstGeom prst="rect">
            <a:avLst/>
          </a:prstGeom>
          <a:noFill/>
          <a:ln/>
        </p:spPr>
        <p:txBody>
          <a:bodyPr wrap="square" lIns="0" tIns="0" rIns="0" bIns="0" rtlCol="0" anchor="ctr"/>
          <a:lstStyle/>
          <a:p>
            <a:pPr indent="0" marL="0">
              <a:buNone/>
            </a:pPr>
            <a:r>
              <a:rPr lang="en-US" sz="950" b="1" spc="120" kern="0" dirty="0">
                <a:solidFill>
                  <a:srgbClr val="5D7480"/>
                </a:solidFill>
                <a:latin typeface="Calibri" pitchFamily="34" charset="0"/>
                <a:ea typeface="Calibri" pitchFamily="34" charset="-122"/>
                <a:cs typeface="Calibri" pitchFamily="34" charset="-120"/>
              </a:rPr>
              <a:t>INPUT</a:t>
            </a:r>
            <a:endParaRPr lang="en-US" sz="950" dirty="0"/>
          </a:p>
        </p:txBody>
      </p:sp>
      <p:sp>
        <p:nvSpPr>
          <p:cNvPr id="11" name="Text 9"/>
          <p:cNvSpPr txBox="1"/>
          <p:nvPr/>
        </p:nvSpPr>
        <p:spPr>
          <a:xfrm>
            <a:off x="932688" y="3236976"/>
            <a:ext cx="2880360" cy="237744"/>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Document text</a:t>
            </a:r>
            <a:endParaRPr lang="en-US" sz="1250" dirty="0"/>
          </a:p>
        </p:txBody>
      </p:sp>
      <p:sp>
        <p:nvSpPr>
          <p:cNvPr id="12" name="Text 10"/>
          <p:cNvSpPr txBox="1"/>
          <p:nvPr/>
        </p:nvSpPr>
        <p:spPr>
          <a:xfrm>
            <a:off x="932688" y="3566160"/>
            <a:ext cx="2880360" cy="201168"/>
          </a:xfrm>
          <a:prstGeom prst="rect">
            <a:avLst/>
          </a:prstGeom>
          <a:noFill/>
          <a:ln/>
        </p:spPr>
        <p:txBody>
          <a:bodyPr wrap="square" lIns="0" tIns="0" rIns="0" bIns="0" rtlCol="0" anchor="ctr"/>
          <a:lstStyle/>
          <a:p>
            <a:pPr indent="0" marL="0">
              <a:buNone/>
            </a:pPr>
            <a:r>
              <a:rPr lang="en-US" sz="950" b="1" spc="120" kern="0" dirty="0">
                <a:solidFill>
                  <a:srgbClr val="5D7480"/>
                </a:solidFill>
                <a:latin typeface="Calibri" pitchFamily="34" charset="0"/>
                <a:ea typeface="Calibri" pitchFamily="34" charset="-122"/>
                <a:cs typeface="Calibri" pitchFamily="34" charset="-120"/>
              </a:rPr>
              <a:t>OUTPUT</a:t>
            </a:r>
            <a:endParaRPr lang="en-US" sz="950" dirty="0"/>
          </a:p>
        </p:txBody>
      </p:sp>
      <p:sp>
        <p:nvSpPr>
          <p:cNvPr id="13" name="Text 11"/>
          <p:cNvSpPr txBox="1"/>
          <p:nvPr/>
        </p:nvSpPr>
        <p:spPr>
          <a:xfrm>
            <a:off x="932688" y="3767328"/>
            <a:ext cx="2880360" cy="859536"/>
          </a:xfrm>
          <a:prstGeom prst="rect">
            <a:avLst/>
          </a:prstGeom>
          <a:noFill/>
          <a:ln/>
        </p:spPr>
        <p:txBody>
          <a:bodyPr wrap="square" lIns="0" tIns="0" rIns="0" bIns="0" rtlCol="0" anchor="ctr"/>
          <a:lstStyle/>
          <a:p>
            <a:pPr indent="0" marL="0">
              <a:lnSpc>
                <a:spcPct val="116000"/>
              </a:lnSpc>
              <a:buNone/>
            </a:pPr>
            <a:r>
              <a:rPr lang="en-US" sz="1200" dirty="0">
                <a:solidFill>
                  <a:srgbClr val="172A33"/>
                </a:solidFill>
                <a:latin typeface="Calibri" pitchFamily="34" charset="0"/>
                <a:ea typeface="Calibri" pitchFamily="34" charset="-122"/>
                <a:cs typeface="Calibri" pitchFamily="34" charset="-120"/>
              </a:rPr>
              <a:t>Validated ExtractedComplaint — customer, contact, category, issue, resolution, escalation flag, status, priority, sentiment.</a:t>
            </a:r>
            <a:endParaRPr lang="en-US" sz="1200" dirty="0"/>
          </a:p>
        </p:txBody>
      </p:sp>
      <p:sp>
        <p:nvSpPr>
          <p:cNvPr id="14" name="Shape 12"/>
          <p:cNvSpPr/>
          <p:nvPr/>
        </p:nvSpPr>
        <p:spPr>
          <a:xfrm>
            <a:off x="4379976" y="1627632"/>
            <a:ext cx="3429000" cy="3127248"/>
          </a:xfrm>
          <a:prstGeom prst="roundRect">
            <a:avLst>
              <a:gd name="adj" fmla="val 1754"/>
            </a:avLst>
          </a:prstGeom>
          <a:solidFill>
            <a:srgbClr val="F1F5F7"/>
          </a:solidFill>
          <a:ln w="12700">
            <a:solidFill>
              <a:srgbClr val="F1F5F7"/>
            </a:solidFill>
            <a:prstDash val="solid"/>
          </a:ln>
        </p:spPr>
      </p:sp>
      <p:sp>
        <p:nvSpPr>
          <p:cNvPr id="15" name="Shape 13"/>
          <p:cNvSpPr/>
          <p:nvPr/>
        </p:nvSpPr>
        <p:spPr>
          <a:xfrm>
            <a:off x="4654296" y="1865376"/>
            <a:ext cx="457200" cy="457200"/>
          </a:xfrm>
          <a:prstGeom prst="ellipse">
            <a:avLst/>
          </a:prstGeom>
          <a:solidFill>
            <a:srgbClr val="00A896"/>
          </a:solidFill>
          <a:ln w="12700">
            <a:solidFill>
              <a:srgbClr val="00A896"/>
            </a:solidFill>
            <a:prstDash val="solid"/>
          </a:ln>
        </p:spPr>
      </p:sp>
      <p:sp>
        <p:nvSpPr>
          <p:cNvPr id="16" name="Text 14"/>
          <p:cNvSpPr txBox="1"/>
          <p:nvPr/>
        </p:nvSpPr>
        <p:spPr>
          <a:xfrm>
            <a:off x="4654296" y="1883664"/>
            <a:ext cx="4572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5"/>
          <p:cNvSpPr txBox="1"/>
          <p:nvPr/>
        </p:nvSpPr>
        <p:spPr>
          <a:xfrm>
            <a:off x="4654296" y="2450592"/>
            <a:ext cx="2880360" cy="566928"/>
          </a:xfrm>
          <a:prstGeom prst="rect">
            <a:avLst/>
          </a:prstGeom>
          <a:noFill/>
          <a:ln/>
        </p:spPr>
        <p:txBody>
          <a:bodyPr wrap="square" lIns="0" tIns="0" rIns="0" bIns="0" rtlCol="0" anchor="ctr"/>
          <a:lstStyle/>
          <a:p>
            <a:pPr indent="0" marL="0">
              <a:buNone/>
            </a:pPr>
            <a:r>
              <a:rPr lang="en-US" sz="1700" b="1" dirty="0">
                <a:solidFill>
                  <a:srgbClr val="172A33"/>
                </a:solidFill>
                <a:latin typeface="Cambria" pitchFamily="34" charset="0"/>
                <a:ea typeface="Cambria" pitchFamily="34" charset="-122"/>
                <a:cs typeface="Cambria" pitchFamily="34" charset="-120"/>
              </a:rPr>
              <a:t>Customer Email</a:t>
            </a:r>
            <a:endParaRPr lang="en-US" sz="1700" dirty="0"/>
          </a:p>
        </p:txBody>
      </p:sp>
      <p:sp>
        <p:nvSpPr>
          <p:cNvPr id="18" name="Text 16"/>
          <p:cNvSpPr txBox="1"/>
          <p:nvPr/>
        </p:nvSpPr>
        <p:spPr>
          <a:xfrm>
            <a:off x="4654296" y="3035808"/>
            <a:ext cx="2880360" cy="201168"/>
          </a:xfrm>
          <a:prstGeom prst="rect">
            <a:avLst/>
          </a:prstGeom>
          <a:noFill/>
          <a:ln/>
        </p:spPr>
        <p:txBody>
          <a:bodyPr wrap="square" lIns="0" tIns="0" rIns="0" bIns="0" rtlCol="0" anchor="ctr"/>
          <a:lstStyle/>
          <a:p>
            <a:pPr indent="0" marL="0">
              <a:buNone/>
            </a:pPr>
            <a:r>
              <a:rPr lang="en-US" sz="950" b="1" spc="120" kern="0" dirty="0">
                <a:solidFill>
                  <a:srgbClr val="5D7480"/>
                </a:solidFill>
                <a:latin typeface="Calibri" pitchFamily="34" charset="0"/>
                <a:ea typeface="Calibri" pitchFamily="34" charset="-122"/>
                <a:cs typeface="Calibri" pitchFamily="34" charset="-120"/>
              </a:rPr>
              <a:t>INPUT</a:t>
            </a:r>
            <a:endParaRPr lang="en-US" sz="950" dirty="0"/>
          </a:p>
        </p:txBody>
      </p:sp>
      <p:sp>
        <p:nvSpPr>
          <p:cNvPr id="19" name="Text 17"/>
          <p:cNvSpPr txBox="1"/>
          <p:nvPr/>
        </p:nvSpPr>
        <p:spPr>
          <a:xfrm>
            <a:off x="4654296" y="3236976"/>
            <a:ext cx="2880360" cy="237744"/>
          </a:xfrm>
          <a:prstGeom prst="rect">
            <a:avLst/>
          </a:prstGeom>
          <a:noFill/>
          <a:ln/>
        </p:spPr>
        <p:txBody>
          <a:bodyPr wrap="square" lIns="0" tIns="0" rIns="0" bIns="0" rtlCol="0" anchor="ctr"/>
          <a:lstStyle/>
          <a:p>
            <a:pPr indent="0" marL="0">
              <a:buNone/>
            </a:pPr>
            <a:r>
              <a:rPr lang="en-US" sz="1250" b="1" dirty="0">
                <a:solidFill>
                  <a:srgbClr val="00A896"/>
                </a:solidFill>
                <a:latin typeface="Calibri" pitchFamily="34" charset="0"/>
                <a:ea typeface="Calibri" pitchFamily="34" charset="-122"/>
                <a:cs typeface="Calibri" pitchFamily="34" charset="-120"/>
              </a:rPr>
              <a:t>Validated record</a:t>
            </a:r>
            <a:endParaRPr lang="en-US" sz="1250" dirty="0"/>
          </a:p>
        </p:txBody>
      </p:sp>
      <p:sp>
        <p:nvSpPr>
          <p:cNvPr id="20" name="Text 18"/>
          <p:cNvSpPr txBox="1"/>
          <p:nvPr/>
        </p:nvSpPr>
        <p:spPr>
          <a:xfrm>
            <a:off x="4654296" y="3566160"/>
            <a:ext cx="2880360" cy="201168"/>
          </a:xfrm>
          <a:prstGeom prst="rect">
            <a:avLst/>
          </a:prstGeom>
          <a:noFill/>
          <a:ln/>
        </p:spPr>
        <p:txBody>
          <a:bodyPr wrap="square" lIns="0" tIns="0" rIns="0" bIns="0" rtlCol="0" anchor="ctr"/>
          <a:lstStyle/>
          <a:p>
            <a:pPr indent="0" marL="0">
              <a:buNone/>
            </a:pPr>
            <a:r>
              <a:rPr lang="en-US" sz="950" b="1" spc="120" kern="0" dirty="0">
                <a:solidFill>
                  <a:srgbClr val="5D7480"/>
                </a:solidFill>
                <a:latin typeface="Calibri" pitchFamily="34" charset="0"/>
                <a:ea typeface="Calibri" pitchFamily="34" charset="-122"/>
                <a:cs typeface="Calibri" pitchFamily="34" charset="-120"/>
              </a:rPr>
              <a:t>OUTPUT</a:t>
            </a:r>
            <a:endParaRPr lang="en-US" sz="950" dirty="0"/>
          </a:p>
        </p:txBody>
      </p:sp>
      <p:sp>
        <p:nvSpPr>
          <p:cNvPr id="21" name="Text 19"/>
          <p:cNvSpPr txBox="1"/>
          <p:nvPr/>
        </p:nvSpPr>
        <p:spPr>
          <a:xfrm>
            <a:off x="4654296" y="3767328"/>
            <a:ext cx="2880360" cy="859536"/>
          </a:xfrm>
          <a:prstGeom prst="rect">
            <a:avLst/>
          </a:prstGeom>
          <a:noFill/>
          <a:ln/>
        </p:spPr>
        <p:txBody>
          <a:bodyPr wrap="square" lIns="0" tIns="0" rIns="0" bIns="0" rtlCol="0" anchor="ctr"/>
          <a:lstStyle/>
          <a:p>
            <a:pPr indent="0" marL="0">
              <a:lnSpc>
                <a:spcPct val="116000"/>
              </a:lnSpc>
              <a:buNone/>
            </a:pPr>
            <a:r>
              <a:rPr lang="en-US" sz="1200" dirty="0">
                <a:solidFill>
                  <a:srgbClr val="172A33"/>
                </a:solidFill>
                <a:latin typeface="Calibri" pitchFamily="34" charset="0"/>
                <a:ea typeface="Calibri" pitchFamily="34" charset="-122"/>
                <a:cs typeface="Calibri" pitchFamily="34" charset="-120"/>
              </a:rPr>
              <a:t>A professional reply that restates the issue, states what was done, and sets one clear expectation.</a:t>
            </a:r>
            <a:endParaRPr lang="en-US" sz="1200" dirty="0"/>
          </a:p>
        </p:txBody>
      </p:sp>
      <p:sp>
        <p:nvSpPr>
          <p:cNvPr id="22" name="Shape 20"/>
          <p:cNvSpPr/>
          <p:nvPr/>
        </p:nvSpPr>
        <p:spPr>
          <a:xfrm>
            <a:off x="8101584" y="1627632"/>
            <a:ext cx="3429000" cy="3127248"/>
          </a:xfrm>
          <a:prstGeom prst="roundRect">
            <a:avLst>
              <a:gd name="adj" fmla="val 1754"/>
            </a:avLst>
          </a:prstGeom>
          <a:solidFill>
            <a:srgbClr val="F1F5F7"/>
          </a:solidFill>
          <a:ln w="12700">
            <a:solidFill>
              <a:srgbClr val="F1F5F7"/>
            </a:solidFill>
            <a:prstDash val="solid"/>
          </a:ln>
        </p:spPr>
      </p:sp>
      <p:sp>
        <p:nvSpPr>
          <p:cNvPr id="23" name="Shape 21"/>
          <p:cNvSpPr/>
          <p:nvPr/>
        </p:nvSpPr>
        <p:spPr>
          <a:xfrm>
            <a:off x="8375904" y="1865376"/>
            <a:ext cx="457200" cy="457200"/>
          </a:xfrm>
          <a:prstGeom prst="ellipse">
            <a:avLst/>
          </a:prstGeom>
          <a:solidFill>
            <a:srgbClr val="02C39A"/>
          </a:solidFill>
          <a:ln w="12700">
            <a:solidFill>
              <a:srgbClr val="02C39A"/>
            </a:solidFill>
            <a:prstDash val="solid"/>
          </a:ln>
        </p:spPr>
      </p:sp>
      <p:sp>
        <p:nvSpPr>
          <p:cNvPr id="24" name="Text 22"/>
          <p:cNvSpPr txBox="1"/>
          <p:nvPr/>
        </p:nvSpPr>
        <p:spPr>
          <a:xfrm>
            <a:off x="8375904" y="1883664"/>
            <a:ext cx="4572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3"/>
          <p:cNvSpPr txBox="1"/>
          <p:nvPr/>
        </p:nvSpPr>
        <p:spPr>
          <a:xfrm>
            <a:off x="8375904" y="2450592"/>
            <a:ext cx="2880360" cy="566928"/>
          </a:xfrm>
          <a:prstGeom prst="rect">
            <a:avLst/>
          </a:prstGeom>
          <a:noFill/>
          <a:ln/>
        </p:spPr>
        <p:txBody>
          <a:bodyPr wrap="square" lIns="0" tIns="0" rIns="0" bIns="0" rtlCol="0" anchor="ctr"/>
          <a:lstStyle/>
          <a:p>
            <a:pPr indent="0" marL="0">
              <a:buNone/>
            </a:pPr>
            <a:r>
              <a:rPr lang="en-US" sz="1700" b="1" dirty="0">
                <a:solidFill>
                  <a:srgbClr val="172A33"/>
                </a:solidFill>
                <a:latin typeface="Cambria" pitchFamily="34" charset="0"/>
                <a:ea typeface="Cambria" pitchFamily="34" charset="-122"/>
                <a:cs typeface="Cambria" pitchFamily="34" charset="-120"/>
              </a:rPr>
              <a:t>Internal Case Summary</a:t>
            </a:r>
            <a:endParaRPr lang="en-US" sz="1700" dirty="0"/>
          </a:p>
        </p:txBody>
      </p:sp>
      <p:sp>
        <p:nvSpPr>
          <p:cNvPr id="26" name="Text 24"/>
          <p:cNvSpPr txBox="1"/>
          <p:nvPr/>
        </p:nvSpPr>
        <p:spPr>
          <a:xfrm>
            <a:off x="8375904" y="3035808"/>
            <a:ext cx="2880360" cy="201168"/>
          </a:xfrm>
          <a:prstGeom prst="rect">
            <a:avLst/>
          </a:prstGeom>
          <a:noFill/>
          <a:ln/>
        </p:spPr>
        <p:txBody>
          <a:bodyPr wrap="square" lIns="0" tIns="0" rIns="0" bIns="0" rtlCol="0" anchor="ctr"/>
          <a:lstStyle/>
          <a:p>
            <a:pPr indent="0" marL="0">
              <a:buNone/>
            </a:pPr>
            <a:r>
              <a:rPr lang="en-US" sz="950" b="1" spc="120" kern="0" dirty="0">
                <a:solidFill>
                  <a:srgbClr val="5D7480"/>
                </a:solidFill>
                <a:latin typeface="Calibri" pitchFamily="34" charset="0"/>
                <a:ea typeface="Calibri" pitchFamily="34" charset="-122"/>
                <a:cs typeface="Calibri" pitchFamily="34" charset="-120"/>
              </a:rPr>
              <a:t>INPUT</a:t>
            </a:r>
            <a:endParaRPr lang="en-US" sz="950" dirty="0"/>
          </a:p>
        </p:txBody>
      </p:sp>
      <p:sp>
        <p:nvSpPr>
          <p:cNvPr id="27" name="Text 25"/>
          <p:cNvSpPr txBox="1"/>
          <p:nvPr/>
        </p:nvSpPr>
        <p:spPr>
          <a:xfrm>
            <a:off x="8375904" y="3236976"/>
            <a:ext cx="2880360" cy="237744"/>
          </a:xfrm>
          <a:prstGeom prst="rect">
            <a:avLst/>
          </a:prstGeom>
          <a:noFill/>
          <a:ln/>
        </p:spPr>
        <p:txBody>
          <a:bodyPr wrap="square" lIns="0" tIns="0" rIns="0" bIns="0" rtlCol="0" anchor="ctr"/>
          <a:lstStyle/>
          <a:p>
            <a:pPr indent="0" marL="0">
              <a:buNone/>
            </a:pPr>
            <a:r>
              <a:rPr lang="en-US" sz="1250" b="1" dirty="0">
                <a:solidFill>
                  <a:srgbClr val="02C39A"/>
                </a:solidFill>
                <a:latin typeface="Calibri" pitchFamily="34" charset="0"/>
                <a:ea typeface="Calibri" pitchFamily="34" charset="-122"/>
                <a:cs typeface="Calibri" pitchFamily="34" charset="-120"/>
              </a:rPr>
              <a:t>Validated record</a:t>
            </a:r>
            <a:endParaRPr lang="en-US" sz="1250" dirty="0"/>
          </a:p>
        </p:txBody>
      </p:sp>
      <p:sp>
        <p:nvSpPr>
          <p:cNvPr id="28" name="Text 26"/>
          <p:cNvSpPr txBox="1"/>
          <p:nvPr/>
        </p:nvSpPr>
        <p:spPr>
          <a:xfrm>
            <a:off x="8375904" y="3566160"/>
            <a:ext cx="2880360" cy="201168"/>
          </a:xfrm>
          <a:prstGeom prst="rect">
            <a:avLst/>
          </a:prstGeom>
          <a:noFill/>
          <a:ln/>
        </p:spPr>
        <p:txBody>
          <a:bodyPr wrap="square" lIns="0" tIns="0" rIns="0" bIns="0" rtlCol="0" anchor="ctr"/>
          <a:lstStyle/>
          <a:p>
            <a:pPr indent="0" marL="0">
              <a:buNone/>
            </a:pPr>
            <a:r>
              <a:rPr lang="en-US" sz="950" b="1" spc="120" kern="0" dirty="0">
                <a:solidFill>
                  <a:srgbClr val="5D7480"/>
                </a:solidFill>
                <a:latin typeface="Calibri" pitchFamily="34" charset="0"/>
                <a:ea typeface="Calibri" pitchFamily="34" charset="-122"/>
                <a:cs typeface="Calibri" pitchFamily="34" charset="-120"/>
              </a:rPr>
              <a:t>OUTPUT</a:t>
            </a:r>
            <a:endParaRPr lang="en-US" sz="950" dirty="0"/>
          </a:p>
        </p:txBody>
      </p:sp>
      <p:sp>
        <p:nvSpPr>
          <p:cNvPr id="29" name="Text 27"/>
          <p:cNvSpPr txBox="1"/>
          <p:nvPr/>
        </p:nvSpPr>
        <p:spPr>
          <a:xfrm>
            <a:off x="8375904" y="3767328"/>
            <a:ext cx="2880360" cy="859536"/>
          </a:xfrm>
          <a:prstGeom prst="rect">
            <a:avLst/>
          </a:prstGeom>
          <a:noFill/>
          <a:ln/>
        </p:spPr>
        <p:txBody>
          <a:bodyPr wrap="square" lIns="0" tIns="0" rIns="0" bIns="0" rtlCol="0" anchor="ctr"/>
          <a:lstStyle/>
          <a:p>
            <a:pPr indent="0" marL="0">
              <a:lnSpc>
                <a:spcPct val="116000"/>
              </a:lnSpc>
              <a:buNone/>
            </a:pPr>
            <a:r>
              <a:rPr lang="en-US" sz="1200" dirty="0">
                <a:solidFill>
                  <a:srgbClr val="172A33"/>
                </a:solidFill>
                <a:latin typeface="Calibri" pitchFamily="34" charset="0"/>
                <a:ea typeface="Calibri" pitchFamily="34" charset="-122"/>
                <a:cs typeface="Calibri" pitchFamily="34" charset="-120"/>
              </a:rPr>
              <a:t>Overview, key issue, action taken, current status, recommended next action.</a:t>
            </a:r>
            <a:endParaRPr lang="en-US" sz="1200" dirty="0"/>
          </a:p>
        </p:txBody>
      </p:sp>
      <p:sp>
        <p:nvSpPr>
          <p:cNvPr id="30" name="Shape 28"/>
          <p:cNvSpPr/>
          <p:nvPr/>
        </p:nvSpPr>
        <p:spPr>
          <a:xfrm>
            <a:off x="658368" y="4956048"/>
            <a:ext cx="10874959" cy="1078992"/>
          </a:xfrm>
          <a:prstGeom prst="roundRect">
            <a:avLst>
              <a:gd name="adj" fmla="val 5085"/>
            </a:avLst>
          </a:prstGeom>
          <a:solidFill>
            <a:srgbClr val="10222E"/>
          </a:solidFill>
          <a:ln w="12700">
            <a:solidFill>
              <a:srgbClr val="10222E"/>
            </a:solidFill>
            <a:prstDash val="solid"/>
          </a:ln>
        </p:spPr>
      </p:sp>
      <p:sp>
        <p:nvSpPr>
          <p:cNvPr id="31" name="Text 29"/>
          <p:cNvSpPr txBox="1"/>
          <p:nvPr/>
        </p:nvSpPr>
        <p:spPr>
          <a:xfrm>
            <a:off x="987552" y="5138928"/>
            <a:ext cx="548640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Consolidated into  final_report.csv</a:t>
            </a:r>
            <a:endParaRPr lang="en-US" sz="1500" dirty="0"/>
          </a:p>
        </p:txBody>
      </p:sp>
      <p:sp>
        <p:nvSpPr>
          <p:cNvPr id="32" name="Text 30"/>
          <p:cNvSpPr txBox="1"/>
          <p:nvPr/>
        </p:nvSpPr>
        <p:spPr>
          <a:xfrm>
            <a:off x="987552" y="5449824"/>
            <a:ext cx="6766560" cy="274320"/>
          </a:xfrm>
          <a:prstGeom prst="rect">
            <a:avLst/>
          </a:prstGeom>
          <a:noFill/>
          <a:ln/>
        </p:spPr>
        <p:txBody>
          <a:bodyPr wrap="square" lIns="0" tIns="0" rIns="0" bIns="0" rtlCol="0" anchor="ctr"/>
          <a:lstStyle/>
          <a:p>
            <a:pPr indent="0" marL="0">
              <a:buNone/>
            </a:pPr>
            <a:r>
              <a:rPr lang="en-US" sz="1250" dirty="0">
                <a:solidFill>
                  <a:srgbClr val="9DB4BE"/>
                </a:solidFill>
                <a:latin typeface="Calibri" pitchFamily="34" charset="0"/>
                <a:ea typeface="Calibri" pitchFamily="34" charset="-122"/>
                <a:cs typeface="Calibri" pitchFamily="34" charset="-120"/>
              </a:rPr>
              <a:t>22 columns, one row per document — plus a run manifest and a full DEBUG log.</a:t>
            </a:r>
            <a:endParaRPr lang="en-US" sz="1250" dirty="0"/>
          </a:p>
        </p:txBody>
      </p:sp>
      <p:sp>
        <p:nvSpPr>
          <p:cNvPr id="33" name="Text 31"/>
          <p:cNvSpPr txBox="1"/>
          <p:nvPr/>
        </p:nvSpPr>
        <p:spPr>
          <a:xfrm>
            <a:off x="8595360" y="5138928"/>
            <a:ext cx="2743200" cy="603504"/>
          </a:xfrm>
          <a:prstGeom prst="rect">
            <a:avLst/>
          </a:prstGeom>
          <a:noFill/>
          <a:ln/>
        </p:spPr>
        <p:txBody>
          <a:bodyPr wrap="square" lIns="0" tIns="0" rIns="0" bIns="0" rtlCol="0" anchor="ctr"/>
          <a:lstStyle/>
          <a:p>
            <a:pPr algn="r" indent="0" marL="0">
              <a:lnSpc>
                <a:spcPct val="120000"/>
              </a:lnSpc>
              <a:buNone/>
            </a:pPr>
            <a:r>
              <a:rPr lang="en-US" sz="1250" dirty="0">
                <a:solidFill>
                  <a:srgbClr val="02C39A"/>
                </a:solidFill>
                <a:latin typeface="Calibri" pitchFamily="34" charset="0"/>
                <a:ea typeface="Calibri" pitchFamily="34" charset="-122"/>
                <a:cs typeface="Calibri" pitchFamily="34" charset="-120"/>
              </a:rPr>
              <a:t>4 input formats</a:t>
            </a:r>
            <a:endParaRPr lang="en-US" sz="1250" dirty="0"/>
          </a:p>
          <a:p>
            <a:pPr algn="r" indent="0" marL="0">
              <a:lnSpc>
                <a:spcPct val="120000"/>
              </a:lnSpc>
              <a:buNone/>
            </a:pPr>
            <a:r>
              <a:rPr lang="en-US" sz="1250" dirty="0">
                <a:solidFill>
                  <a:srgbClr val="02C39A"/>
                </a:solidFill>
                <a:latin typeface="Calibri" pitchFamily="34" charset="0"/>
                <a:ea typeface="Calibri" pitchFamily="34" charset="-122"/>
                <a:cs typeface="Calibri" pitchFamily="34" charset="-120"/>
              </a:rPr>
              <a:t>.txt · .md · .pdf · .docx</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02336"/>
            <a:ext cx="10874959" cy="237744"/>
          </a:xfrm>
          <a:prstGeom prst="rect">
            <a:avLst/>
          </a:prstGeom>
          <a:noFill/>
          <a:ln/>
        </p:spPr>
        <p:txBody>
          <a:bodyPr wrap="square" lIns="0" tIns="0" rIns="0" bIns="0" rtlCol="0" anchor="ctr"/>
          <a:lstStyle/>
          <a:p>
            <a:pPr indent="0" marL="0">
              <a:buNone/>
            </a:pPr>
            <a:r>
              <a:rPr lang="en-US" sz="1100" b="1" spc="160" kern="0" dirty="0">
                <a:solidFill>
                  <a:srgbClr val="028090"/>
                </a:solidFill>
                <a:latin typeface="Calibri" pitchFamily="34" charset="0"/>
                <a:ea typeface="Calibri" pitchFamily="34" charset="-122"/>
                <a:cs typeface="Calibri" pitchFamily="34" charset="-120"/>
              </a:rPr>
              <a:t>ARCHITECTURE</a:t>
            </a:r>
            <a:endParaRPr lang="en-US" sz="1100" dirty="0"/>
          </a:p>
        </p:txBody>
      </p:sp>
      <p:sp>
        <p:nvSpPr>
          <p:cNvPr id="3" name="Text 1"/>
          <p:cNvSpPr txBox="1"/>
          <p:nvPr/>
        </p:nvSpPr>
        <p:spPr>
          <a:xfrm>
            <a:off x="658368" y="658368"/>
            <a:ext cx="10874959" cy="658368"/>
          </a:xfrm>
          <a:prstGeom prst="rect">
            <a:avLst/>
          </a:prstGeom>
          <a:noFill/>
          <a:ln/>
        </p:spPr>
        <p:txBody>
          <a:bodyPr wrap="square" lIns="0" tIns="0" rIns="0" bIns="0" rtlCol="0" anchor="t"/>
          <a:lstStyle/>
          <a:p>
            <a:pPr indent="0" marL="0">
              <a:buNone/>
            </a:pPr>
            <a:r>
              <a:rPr lang="en-US" sz="3200" b="1" dirty="0">
                <a:solidFill>
                  <a:srgbClr val="172A33"/>
                </a:solidFill>
                <a:latin typeface="Cambria" pitchFamily="34" charset="0"/>
                <a:ea typeface="Cambria" pitchFamily="34" charset="-122"/>
                <a:cs typeface="Cambria" pitchFamily="34" charset="-120"/>
              </a:rPr>
              <a:t>Layered, one-directional dependencies</a:t>
            </a:r>
            <a:endParaRPr lang="en-US" sz="3200" dirty="0"/>
          </a:p>
        </p:txBody>
      </p:sp>
      <p:sp>
        <p:nvSpPr>
          <p:cNvPr id="4" name="Text 2"/>
          <p:cNvSpPr txBox="1"/>
          <p:nvPr/>
        </p:nvSpPr>
        <p:spPr>
          <a:xfrm>
            <a:off x="10984687" y="6382512"/>
            <a:ext cx="548640" cy="256032"/>
          </a:xfrm>
          <a:prstGeom prst="rect">
            <a:avLst/>
          </a:prstGeom>
          <a:noFill/>
          <a:ln/>
        </p:spPr>
        <p:txBody>
          <a:bodyPr wrap="square" lIns="0" tIns="0" rIns="0" bIns="0" rtlCol="0" anchor="ctr"/>
          <a:lstStyle/>
          <a:p>
            <a:pPr algn="r" indent="0" marL="0">
              <a:buNone/>
            </a:pPr>
            <a:r>
              <a:rPr lang="en-US" sz="1000" dirty="0">
                <a:solidFill>
                  <a:srgbClr val="5D7480"/>
                </a:solidFill>
                <a:latin typeface="Calibri" pitchFamily="34" charset="0"/>
                <a:ea typeface="Calibri" pitchFamily="34" charset="-122"/>
                <a:cs typeface="Calibri" pitchFamily="34" charset="-120"/>
              </a:rPr>
              <a:t>4</a:t>
            </a:r>
            <a:endParaRPr lang="en-US" sz="1000" dirty="0"/>
          </a:p>
        </p:txBody>
      </p:sp>
      <p:sp>
        <p:nvSpPr>
          <p:cNvPr id="5" name="Text 3"/>
          <p:cNvSpPr txBox="1"/>
          <p:nvPr/>
        </p:nvSpPr>
        <p:spPr>
          <a:xfrm>
            <a:off x="658368" y="6382512"/>
            <a:ext cx="6858000" cy="256032"/>
          </a:xfrm>
          <a:prstGeom prst="rect">
            <a:avLst/>
          </a:prstGeom>
          <a:noFill/>
          <a:ln/>
        </p:spPr>
        <p:txBody>
          <a:bodyPr wrap="square" lIns="0" tIns="0" rIns="0" bIns="0" rtlCol="0" anchor="ctr"/>
          <a:lstStyle/>
          <a:p>
            <a:pPr indent="0" marL="0">
              <a:buNone/>
            </a:pPr>
            <a:r>
              <a:rPr lang="en-US" sz="1000" dirty="0">
                <a:solidFill>
                  <a:srgbClr val="5D7480"/>
                </a:solidFill>
                <a:latin typeface="Calibri" pitchFamily="34" charset="0"/>
                <a:ea typeface="Calibri" pitchFamily="34" charset="-122"/>
                <a:cs typeface="Calibri" pitchFamily="34" charset="-120"/>
              </a:rPr>
              <a:t>AI Customer Complaint &amp; Case Processing System</a:t>
            </a:r>
            <a:endParaRPr lang="en-US" sz="1000" dirty="0"/>
          </a:p>
        </p:txBody>
      </p:sp>
      <p:sp>
        <p:nvSpPr>
          <p:cNvPr id="6" name="Shape 4"/>
          <p:cNvSpPr/>
          <p:nvPr/>
        </p:nvSpPr>
        <p:spPr>
          <a:xfrm>
            <a:off x="658368" y="1627632"/>
            <a:ext cx="6858000" cy="658368"/>
          </a:xfrm>
          <a:prstGeom prst="roundRect">
            <a:avLst>
              <a:gd name="adj" fmla="val 8333"/>
            </a:avLst>
          </a:prstGeom>
          <a:solidFill>
            <a:srgbClr val="E4EDF0"/>
          </a:solidFill>
          <a:ln w="12700">
            <a:solidFill>
              <a:srgbClr val="E4EDF0"/>
            </a:solidFill>
            <a:prstDash val="solid"/>
          </a:ln>
        </p:spPr>
      </p:sp>
      <p:sp>
        <p:nvSpPr>
          <p:cNvPr id="7" name="Text 5"/>
          <p:cNvSpPr txBox="1"/>
          <p:nvPr/>
        </p:nvSpPr>
        <p:spPr>
          <a:xfrm>
            <a:off x="914400" y="1801368"/>
            <a:ext cx="1463040" cy="310896"/>
          </a:xfrm>
          <a:prstGeom prst="rect">
            <a:avLst/>
          </a:prstGeom>
          <a:noFill/>
          <a:ln/>
        </p:spPr>
        <p:txBody>
          <a:bodyPr wrap="square" lIns="0" tIns="0" rIns="0" bIns="0" rtlCol="0" anchor="ctr"/>
          <a:lstStyle/>
          <a:p>
            <a:pPr indent="0" marL="0">
              <a:buNone/>
            </a:pPr>
            <a:r>
              <a:rPr lang="en-US" sz="1450" b="1" dirty="0">
                <a:solidFill>
                  <a:srgbClr val="028090"/>
                </a:solidFill>
                <a:latin typeface="Calibri" pitchFamily="34" charset="0"/>
                <a:ea typeface="Calibri" pitchFamily="34" charset="-122"/>
                <a:cs typeface="Calibri" pitchFamily="34" charset="-120"/>
              </a:rPr>
              <a:t>Entry</a:t>
            </a:r>
            <a:endParaRPr lang="en-US" sz="1450" dirty="0"/>
          </a:p>
        </p:txBody>
      </p:sp>
      <p:sp>
        <p:nvSpPr>
          <p:cNvPr id="8" name="Text 6"/>
          <p:cNvSpPr txBox="1"/>
          <p:nvPr/>
        </p:nvSpPr>
        <p:spPr>
          <a:xfrm>
            <a:off x="2414016" y="1819656"/>
            <a:ext cx="4937760" cy="292608"/>
          </a:xfrm>
          <a:prstGeom prst="rect">
            <a:avLst/>
          </a:prstGeom>
          <a:noFill/>
          <a:ln/>
        </p:spPr>
        <p:txBody>
          <a:bodyPr wrap="square" lIns="0" tIns="0" rIns="0" bIns="0" rtlCol="0" anchor="ctr"/>
          <a:lstStyle/>
          <a:p>
            <a:pPr indent="0" marL="0">
              <a:buNone/>
            </a:pPr>
            <a:r>
              <a:rPr lang="en-US" sz="1200" dirty="0">
                <a:solidFill>
                  <a:srgbClr val="172A33"/>
                </a:solidFill>
                <a:latin typeface="Calibri" pitchFamily="34" charset="0"/>
                <a:ea typeface="Calibri" pitchFamily="34" charset="-122"/>
                <a:cs typeface="Calibri" pitchFamily="34" charset="-120"/>
              </a:rPr>
              <a:t>run.py · cli.py — flags, settings, exit codes</a:t>
            </a:r>
            <a:endParaRPr lang="en-US" sz="1200" dirty="0"/>
          </a:p>
        </p:txBody>
      </p:sp>
      <p:sp>
        <p:nvSpPr>
          <p:cNvPr id="9" name="Shape 7"/>
          <p:cNvSpPr/>
          <p:nvPr/>
        </p:nvSpPr>
        <p:spPr>
          <a:xfrm>
            <a:off x="658368" y="2377440"/>
            <a:ext cx="6858000" cy="658368"/>
          </a:xfrm>
          <a:prstGeom prst="roundRect">
            <a:avLst>
              <a:gd name="adj" fmla="val 8333"/>
            </a:avLst>
          </a:prstGeom>
          <a:solidFill>
            <a:srgbClr val="F1F5F7"/>
          </a:solidFill>
          <a:ln w="12700">
            <a:solidFill>
              <a:srgbClr val="F1F5F7"/>
            </a:solidFill>
            <a:prstDash val="solid"/>
          </a:ln>
        </p:spPr>
      </p:sp>
      <p:sp>
        <p:nvSpPr>
          <p:cNvPr id="10" name="Text 8"/>
          <p:cNvSpPr txBox="1"/>
          <p:nvPr/>
        </p:nvSpPr>
        <p:spPr>
          <a:xfrm>
            <a:off x="914400" y="2551176"/>
            <a:ext cx="1463040" cy="310896"/>
          </a:xfrm>
          <a:prstGeom prst="rect">
            <a:avLst/>
          </a:prstGeom>
          <a:noFill/>
          <a:ln/>
        </p:spPr>
        <p:txBody>
          <a:bodyPr wrap="square" lIns="0" tIns="0" rIns="0" bIns="0" rtlCol="0" anchor="ctr"/>
          <a:lstStyle/>
          <a:p>
            <a:pPr indent="0" marL="0">
              <a:buNone/>
            </a:pPr>
            <a:r>
              <a:rPr lang="en-US" sz="1450" b="1" dirty="0">
                <a:solidFill>
                  <a:srgbClr val="028090"/>
                </a:solidFill>
                <a:latin typeface="Calibri" pitchFamily="34" charset="0"/>
                <a:ea typeface="Calibri" pitchFamily="34" charset="-122"/>
                <a:cs typeface="Calibri" pitchFamily="34" charset="-120"/>
              </a:rPr>
              <a:t>Batch</a:t>
            </a:r>
            <a:endParaRPr lang="en-US" sz="1450" dirty="0"/>
          </a:p>
        </p:txBody>
      </p:sp>
      <p:sp>
        <p:nvSpPr>
          <p:cNvPr id="11" name="Text 9"/>
          <p:cNvSpPr txBox="1"/>
          <p:nvPr/>
        </p:nvSpPr>
        <p:spPr>
          <a:xfrm>
            <a:off x="2414016" y="2569464"/>
            <a:ext cx="4937760" cy="292608"/>
          </a:xfrm>
          <a:prstGeom prst="rect">
            <a:avLst/>
          </a:prstGeom>
          <a:noFill/>
          <a:ln/>
        </p:spPr>
        <p:txBody>
          <a:bodyPr wrap="square" lIns="0" tIns="0" rIns="0" bIns="0" rtlCol="0" anchor="ctr"/>
          <a:lstStyle/>
          <a:p>
            <a:pPr indent="0" marL="0">
              <a:buNone/>
            </a:pPr>
            <a:r>
              <a:rPr lang="en-US" sz="1200" dirty="0">
                <a:solidFill>
                  <a:srgbClr val="172A33"/>
                </a:solidFill>
                <a:latin typeface="Calibri" pitchFamily="34" charset="0"/>
                <a:ea typeface="Calibri" pitchFamily="34" charset="-122"/>
                <a:cs typeface="Calibri" pitchFamily="34" charset="-120"/>
              </a:rPr>
              <a:t>batch.py — discovery, ThreadPoolExecutor across documents</a:t>
            </a:r>
            <a:endParaRPr lang="en-US" sz="1200" dirty="0"/>
          </a:p>
        </p:txBody>
      </p:sp>
      <p:sp>
        <p:nvSpPr>
          <p:cNvPr id="12" name="Shape 10"/>
          <p:cNvSpPr/>
          <p:nvPr/>
        </p:nvSpPr>
        <p:spPr>
          <a:xfrm>
            <a:off x="658368" y="3127248"/>
            <a:ext cx="6858000" cy="658368"/>
          </a:xfrm>
          <a:prstGeom prst="roundRect">
            <a:avLst>
              <a:gd name="adj" fmla="val 8333"/>
            </a:avLst>
          </a:prstGeom>
          <a:solidFill>
            <a:srgbClr val="E4EDF0"/>
          </a:solidFill>
          <a:ln w="12700">
            <a:solidFill>
              <a:srgbClr val="E4EDF0"/>
            </a:solidFill>
            <a:prstDash val="solid"/>
          </a:ln>
        </p:spPr>
      </p:sp>
      <p:sp>
        <p:nvSpPr>
          <p:cNvPr id="13" name="Text 11"/>
          <p:cNvSpPr txBox="1"/>
          <p:nvPr/>
        </p:nvSpPr>
        <p:spPr>
          <a:xfrm>
            <a:off x="914400" y="3300984"/>
            <a:ext cx="1463040" cy="310896"/>
          </a:xfrm>
          <a:prstGeom prst="rect">
            <a:avLst/>
          </a:prstGeom>
          <a:noFill/>
          <a:ln/>
        </p:spPr>
        <p:txBody>
          <a:bodyPr wrap="square" lIns="0" tIns="0" rIns="0" bIns="0" rtlCol="0" anchor="ctr"/>
          <a:lstStyle/>
          <a:p>
            <a:pPr indent="0" marL="0">
              <a:buNone/>
            </a:pPr>
            <a:r>
              <a:rPr lang="en-US" sz="1450" b="1" dirty="0">
                <a:solidFill>
                  <a:srgbClr val="028090"/>
                </a:solidFill>
                <a:latin typeface="Calibri" pitchFamily="34" charset="0"/>
                <a:ea typeface="Calibri" pitchFamily="34" charset="-122"/>
                <a:cs typeface="Calibri" pitchFamily="34" charset="-120"/>
              </a:rPr>
              <a:t>Workflow</a:t>
            </a:r>
            <a:endParaRPr lang="en-US" sz="1450" dirty="0"/>
          </a:p>
        </p:txBody>
      </p:sp>
      <p:sp>
        <p:nvSpPr>
          <p:cNvPr id="14" name="Text 12"/>
          <p:cNvSpPr txBox="1"/>
          <p:nvPr/>
        </p:nvSpPr>
        <p:spPr>
          <a:xfrm>
            <a:off x="2414016" y="3319272"/>
            <a:ext cx="4937760" cy="292608"/>
          </a:xfrm>
          <a:prstGeom prst="rect">
            <a:avLst/>
          </a:prstGeom>
          <a:noFill/>
          <a:ln/>
        </p:spPr>
        <p:txBody>
          <a:bodyPr wrap="square" lIns="0" tIns="0" rIns="0" bIns="0" rtlCol="0" anchor="ctr"/>
          <a:lstStyle/>
          <a:p>
            <a:pPr indent="0" marL="0">
              <a:buNone/>
            </a:pPr>
            <a:r>
              <a:rPr lang="en-US" sz="1200" dirty="0">
                <a:solidFill>
                  <a:srgbClr val="172A33"/>
                </a:solidFill>
                <a:latin typeface="Calibri" pitchFamily="34" charset="0"/>
                <a:ea typeface="Calibri" pitchFamily="34" charset="-122"/>
                <a:cs typeface="Calibri" pitchFamily="34" charset="-120"/>
              </a:rPr>
              <a:t>workflow.py — per-document orchestration and failure policy</a:t>
            </a:r>
            <a:endParaRPr lang="en-US" sz="1200" dirty="0"/>
          </a:p>
        </p:txBody>
      </p:sp>
      <p:sp>
        <p:nvSpPr>
          <p:cNvPr id="15" name="Shape 13"/>
          <p:cNvSpPr/>
          <p:nvPr/>
        </p:nvSpPr>
        <p:spPr>
          <a:xfrm>
            <a:off x="658368" y="3877056"/>
            <a:ext cx="6858000" cy="658368"/>
          </a:xfrm>
          <a:prstGeom prst="roundRect">
            <a:avLst>
              <a:gd name="adj" fmla="val 8333"/>
            </a:avLst>
          </a:prstGeom>
          <a:solidFill>
            <a:srgbClr val="F1F5F7"/>
          </a:solidFill>
          <a:ln w="12700">
            <a:solidFill>
              <a:srgbClr val="F1F5F7"/>
            </a:solidFill>
            <a:prstDash val="solid"/>
          </a:ln>
        </p:spPr>
      </p:sp>
      <p:sp>
        <p:nvSpPr>
          <p:cNvPr id="16" name="Text 14"/>
          <p:cNvSpPr txBox="1"/>
          <p:nvPr/>
        </p:nvSpPr>
        <p:spPr>
          <a:xfrm>
            <a:off x="914400" y="4050792"/>
            <a:ext cx="1463040" cy="310896"/>
          </a:xfrm>
          <a:prstGeom prst="rect">
            <a:avLst/>
          </a:prstGeom>
          <a:noFill/>
          <a:ln/>
        </p:spPr>
        <p:txBody>
          <a:bodyPr wrap="square" lIns="0" tIns="0" rIns="0" bIns="0" rtlCol="0" anchor="ctr"/>
          <a:lstStyle/>
          <a:p>
            <a:pPr indent="0" marL="0">
              <a:buNone/>
            </a:pPr>
            <a:r>
              <a:rPr lang="en-US" sz="1450" b="1" dirty="0">
                <a:solidFill>
                  <a:srgbClr val="028090"/>
                </a:solidFill>
                <a:latin typeface="Calibri" pitchFamily="34" charset="0"/>
                <a:ea typeface="Calibri" pitchFamily="34" charset="-122"/>
                <a:cs typeface="Calibri" pitchFamily="34" charset="-120"/>
              </a:rPr>
              <a:t>Tasks</a:t>
            </a:r>
            <a:endParaRPr lang="en-US" sz="1450" dirty="0"/>
          </a:p>
        </p:txBody>
      </p:sp>
      <p:sp>
        <p:nvSpPr>
          <p:cNvPr id="17" name="Text 15"/>
          <p:cNvSpPr txBox="1"/>
          <p:nvPr/>
        </p:nvSpPr>
        <p:spPr>
          <a:xfrm>
            <a:off x="2414016" y="4069080"/>
            <a:ext cx="4937760" cy="292608"/>
          </a:xfrm>
          <a:prstGeom prst="rect">
            <a:avLst/>
          </a:prstGeom>
          <a:noFill/>
          <a:ln/>
        </p:spPr>
        <p:txBody>
          <a:bodyPr wrap="square" lIns="0" tIns="0" rIns="0" bIns="0" rtlCol="0" anchor="ctr"/>
          <a:lstStyle/>
          <a:p>
            <a:pPr indent="0" marL="0">
              <a:buNone/>
            </a:pPr>
            <a:r>
              <a:rPr lang="en-US" sz="1200" dirty="0">
                <a:solidFill>
                  <a:srgbClr val="172A33"/>
                </a:solidFill>
                <a:latin typeface="Calibri" pitchFamily="34" charset="0"/>
                <a:ea typeface="Calibri" pitchFamily="34" charset="-122"/>
                <a:cs typeface="Calibri" pitchFamily="34" charset="-120"/>
              </a:rPr>
              <a:t>extraction · response_email · case_summary — one LLM step each</a:t>
            </a:r>
            <a:endParaRPr lang="en-US" sz="1200" dirty="0"/>
          </a:p>
        </p:txBody>
      </p:sp>
      <p:sp>
        <p:nvSpPr>
          <p:cNvPr id="18" name="Shape 16"/>
          <p:cNvSpPr/>
          <p:nvPr/>
        </p:nvSpPr>
        <p:spPr>
          <a:xfrm>
            <a:off x="658368" y="4626864"/>
            <a:ext cx="6858000" cy="658368"/>
          </a:xfrm>
          <a:prstGeom prst="roundRect">
            <a:avLst>
              <a:gd name="adj" fmla="val 8333"/>
            </a:avLst>
          </a:prstGeom>
          <a:solidFill>
            <a:srgbClr val="E4EDF0"/>
          </a:solidFill>
          <a:ln w="12700">
            <a:solidFill>
              <a:srgbClr val="E4EDF0"/>
            </a:solidFill>
            <a:prstDash val="solid"/>
          </a:ln>
        </p:spPr>
      </p:sp>
      <p:sp>
        <p:nvSpPr>
          <p:cNvPr id="19" name="Text 17"/>
          <p:cNvSpPr txBox="1"/>
          <p:nvPr/>
        </p:nvSpPr>
        <p:spPr>
          <a:xfrm>
            <a:off x="914400" y="4800600"/>
            <a:ext cx="1463040" cy="310896"/>
          </a:xfrm>
          <a:prstGeom prst="rect">
            <a:avLst/>
          </a:prstGeom>
          <a:noFill/>
          <a:ln/>
        </p:spPr>
        <p:txBody>
          <a:bodyPr wrap="square" lIns="0" tIns="0" rIns="0" bIns="0" rtlCol="0" anchor="ctr"/>
          <a:lstStyle/>
          <a:p>
            <a:pPr indent="0" marL="0">
              <a:buNone/>
            </a:pPr>
            <a:r>
              <a:rPr lang="en-US" sz="1450" b="1" dirty="0">
                <a:solidFill>
                  <a:srgbClr val="028090"/>
                </a:solidFill>
                <a:latin typeface="Calibri" pitchFamily="34" charset="0"/>
                <a:ea typeface="Calibri" pitchFamily="34" charset="-122"/>
                <a:cs typeface="Calibri" pitchFamily="34" charset="-120"/>
              </a:rPr>
              <a:t>Provider</a:t>
            </a:r>
            <a:endParaRPr lang="en-US" sz="1450" dirty="0"/>
          </a:p>
        </p:txBody>
      </p:sp>
      <p:sp>
        <p:nvSpPr>
          <p:cNvPr id="20" name="Text 18"/>
          <p:cNvSpPr txBox="1"/>
          <p:nvPr/>
        </p:nvSpPr>
        <p:spPr>
          <a:xfrm>
            <a:off x="2414016" y="4818888"/>
            <a:ext cx="4937760" cy="292608"/>
          </a:xfrm>
          <a:prstGeom prst="rect">
            <a:avLst/>
          </a:prstGeom>
          <a:noFill/>
          <a:ln/>
        </p:spPr>
        <p:txBody>
          <a:bodyPr wrap="square" lIns="0" tIns="0" rIns="0" bIns="0" rtlCol="0" anchor="ctr"/>
          <a:lstStyle/>
          <a:p>
            <a:pPr indent="0" marL="0">
              <a:buNone/>
            </a:pPr>
            <a:r>
              <a:rPr lang="en-US" sz="1200" dirty="0">
                <a:solidFill>
                  <a:srgbClr val="172A33"/>
                </a:solidFill>
                <a:latin typeface="Calibri" pitchFamily="34" charset="0"/>
                <a:ea typeface="Calibri" pitchFamily="34" charset="-122"/>
                <a:cs typeface="Calibri" pitchFamily="34" charset="-120"/>
              </a:rPr>
              <a:t>llm/ — LLMClient interface: OpenAI · Gemini · Mock</a:t>
            </a:r>
            <a:endParaRPr lang="en-US" sz="1200" dirty="0"/>
          </a:p>
        </p:txBody>
      </p:sp>
      <p:sp>
        <p:nvSpPr>
          <p:cNvPr id="21" name="Shape 19"/>
          <p:cNvSpPr/>
          <p:nvPr/>
        </p:nvSpPr>
        <p:spPr>
          <a:xfrm>
            <a:off x="658368" y="5376672"/>
            <a:ext cx="6858000" cy="658368"/>
          </a:xfrm>
          <a:prstGeom prst="roundRect">
            <a:avLst>
              <a:gd name="adj" fmla="val 8333"/>
            </a:avLst>
          </a:prstGeom>
          <a:solidFill>
            <a:srgbClr val="F1F5F7"/>
          </a:solidFill>
          <a:ln w="12700">
            <a:solidFill>
              <a:srgbClr val="F1F5F7"/>
            </a:solidFill>
            <a:prstDash val="solid"/>
          </a:ln>
        </p:spPr>
      </p:sp>
      <p:sp>
        <p:nvSpPr>
          <p:cNvPr id="22" name="Text 20"/>
          <p:cNvSpPr txBox="1"/>
          <p:nvPr/>
        </p:nvSpPr>
        <p:spPr>
          <a:xfrm>
            <a:off x="914400" y="5550408"/>
            <a:ext cx="1463040" cy="310896"/>
          </a:xfrm>
          <a:prstGeom prst="rect">
            <a:avLst/>
          </a:prstGeom>
          <a:noFill/>
          <a:ln/>
        </p:spPr>
        <p:txBody>
          <a:bodyPr wrap="square" lIns="0" tIns="0" rIns="0" bIns="0" rtlCol="0" anchor="ctr"/>
          <a:lstStyle/>
          <a:p>
            <a:pPr indent="0" marL="0">
              <a:buNone/>
            </a:pPr>
            <a:r>
              <a:rPr lang="en-US" sz="1450" b="1" dirty="0">
                <a:solidFill>
                  <a:srgbClr val="028090"/>
                </a:solidFill>
                <a:latin typeface="Calibri" pitchFamily="34" charset="0"/>
                <a:ea typeface="Calibri" pitchFamily="34" charset="-122"/>
                <a:cs typeface="Calibri" pitchFamily="34" charset="-120"/>
              </a:rPr>
              <a:t>Models</a:t>
            </a:r>
            <a:endParaRPr lang="en-US" sz="1450" dirty="0"/>
          </a:p>
        </p:txBody>
      </p:sp>
      <p:sp>
        <p:nvSpPr>
          <p:cNvPr id="23" name="Text 21"/>
          <p:cNvSpPr txBox="1"/>
          <p:nvPr/>
        </p:nvSpPr>
        <p:spPr>
          <a:xfrm>
            <a:off x="2414016" y="5568696"/>
            <a:ext cx="4937760" cy="292608"/>
          </a:xfrm>
          <a:prstGeom prst="rect">
            <a:avLst/>
          </a:prstGeom>
          <a:noFill/>
          <a:ln/>
        </p:spPr>
        <p:txBody>
          <a:bodyPr wrap="square" lIns="0" tIns="0" rIns="0" bIns="0" rtlCol="0" anchor="ctr"/>
          <a:lstStyle/>
          <a:p>
            <a:pPr indent="0" marL="0">
              <a:buNone/>
            </a:pPr>
            <a:r>
              <a:rPr lang="en-US" sz="1200" dirty="0">
                <a:solidFill>
                  <a:srgbClr val="172A33"/>
                </a:solidFill>
                <a:latin typeface="Calibri" pitchFamily="34" charset="0"/>
                <a:ea typeface="Calibri" pitchFamily="34" charset="-122"/>
                <a:cs typeface="Calibri" pitchFamily="34" charset="-120"/>
              </a:rPr>
              <a:t>models.py — Pydantic schemas and validators</a:t>
            </a:r>
            <a:endParaRPr lang="en-US" sz="1200" dirty="0"/>
          </a:p>
        </p:txBody>
      </p:sp>
      <p:sp>
        <p:nvSpPr>
          <p:cNvPr id="24" name="Shape 22"/>
          <p:cNvSpPr/>
          <p:nvPr/>
        </p:nvSpPr>
        <p:spPr>
          <a:xfrm>
            <a:off x="7845552" y="1627632"/>
            <a:ext cx="3694176" cy="3749040"/>
          </a:xfrm>
          <a:prstGeom prst="roundRect">
            <a:avLst>
              <a:gd name="adj" fmla="val 1485"/>
            </a:avLst>
          </a:prstGeom>
          <a:solidFill>
            <a:srgbClr val="10222E"/>
          </a:solidFill>
          <a:ln w="12700">
            <a:solidFill>
              <a:srgbClr val="10222E"/>
            </a:solidFill>
            <a:prstDash val="solid"/>
          </a:ln>
        </p:spPr>
      </p:sp>
      <p:sp>
        <p:nvSpPr>
          <p:cNvPr id="25" name="Text 23"/>
          <p:cNvSpPr txBox="1"/>
          <p:nvPr/>
        </p:nvSpPr>
        <p:spPr>
          <a:xfrm>
            <a:off x="8156448" y="1865376"/>
            <a:ext cx="310896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Design rules</a:t>
            </a:r>
            <a:endParaRPr lang="en-US" sz="1500" dirty="0"/>
          </a:p>
        </p:txBody>
      </p:sp>
      <p:sp>
        <p:nvSpPr>
          <p:cNvPr id="26" name="Shape 24"/>
          <p:cNvSpPr/>
          <p:nvPr/>
        </p:nvSpPr>
        <p:spPr>
          <a:xfrm>
            <a:off x="8156448" y="2340864"/>
            <a:ext cx="146304" cy="146304"/>
          </a:xfrm>
          <a:prstGeom prst="ellipse">
            <a:avLst/>
          </a:prstGeom>
          <a:solidFill>
            <a:srgbClr val="02C39A"/>
          </a:solidFill>
          <a:ln w="12700">
            <a:solidFill>
              <a:srgbClr val="02C39A"/>
            </a:solidFill>
            <a:prstDash val="solid"/>
          </a:ln>
        </p:spPr>
      </p:sp>
      <p:sp>
        <p:nvSpPr>
          <p:cNvPr id="27" name="Text 25"/>
          <p:cNvSpPr txBox="1"/>
          <p:nvPr/>
        </p:nvSpPr>
        <p:spPr>
          <a:xfrm>
            <a:off x="8430768" y="2286000"/>
            <a:ext cx="2834640"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No upward imports</a:t>
            </a:r>
            <a:endParaRPr lang="en-US" sz="1250" dirty="0"/>
          </a:p>
        </p:txBody>
      </p:sp>
      <p:sp>
        <p:nvSpPr>
          <p:cNvPr id="28" name="Text 26"/>
          <p:cNvSpPr txBox="1"/>
          <p:nvPr/>
        </p:nvSpPr>
        <p:spPr>
          <a:xfrm>
            <a:off x="8430768" y="2542032"/>
            <a:ext cx="2798064" cy="457200"/>
          </a:xfrm>
          <a:prstGeom prst="rect">
            <a:avLst/>
          </a:prstGeom>
          <a:noFill/>
          <a:ln/>
        </p:spPr>
        <p:txBody>
          <a:bodyPr wrap="square" lIns="0" tIns="0" rIns="0" bIns="0" rtlCol="0" anchor="ctr"/>
          <a:lstStyle/>
          <a:p>
            <a:pPr indent="0" marL="0">
              <a:lnSpc>
                <a:spcPct val="114000"/>
              </a:lnSpc>
              <a:buNone/>
            </a:pPr>
            <a:r>
              <a:rPr lang="en-US" sz="1100" dirty="0">
                <a:solidFill>
                  <a:srgbClr val="9DB4BE"/>
                </a:solidFill>
                <a:latin typeface="Calibri" pitchFamily="34" charset="0"/>
                <a:ea typeface="Calibri" pitchFamily="34" charset="-122"/>
                <a:cs typeface="Calibri" pitchFamily="34" charset="-120"/>
              </a:rPr>
              <a:t>A layer never imports from a layer above it.</a:t>
            </a:r>
            <a:endParaRPr lang="en-US" sz="1100" dirty="0"/>
          </a:p>
        </p:txBody>
      </p:sp>
      <p:sp>
        <p:nvSpPr>
          <p:cNvPr id="29" name="Shape 27"/>
          <p:cNvSpPr/>
          <p:nvPr/>
        </p:nvSpPr>
        <p:spPr>
          <a:xfrm>
            <a:off x="8156448" y="3127248"/>
            <a:ext cx="146304" cy="146304"/>
          </a:xfrm>
          <a:prstGeom prst="ellipse">
            <a:avLst/>
          </a:prstGeom>
          <a:solidFill>
            <a:srgbClr val="02C39A"/>
          </a:solidFill>
          <a:ln w="12700">
            <a:solidFill>
              <a:srgbClr val="02C39A"/>
            </a:solidFill>
            <a:prstDash val="solid"/>
          </a:ln>
        </p:spPr>
      </p:sp>
      <p:sp>
        <p:nvSpPr>
          <p:cNvPr id="30" name="Text 28"/>
          <p:cNvSpPr txBox="1"/>
          <p:nvPr/>
        </p:nvSpPr>
        <p:spPr>
          <a:xfrm>
            <a:off x="8430768" y="3072384"/>
            <a:ext cx="2834640"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No vendor SDK leakage</a:t>
            </a:r>
            <a:endParaRPr lang="en-US" sz="1250" dirty="0"/>
          </a:p>
        </p:txBody>
      </p:sp>
      <p:sp>
        <p:nvSpPr>
          <p:cNvPr id="31" name="Text 29"/>
          <p:cNvSpPr txBox="1"/>
          <p:nvPr/>
        </p:nvSpPr>
        <p:spPr>
          <a:xfrm>
            <a:off x="8430768" y="3328416"/>
            <a:ext cx="2798064" cy="457200"/>
          </a:xfrm>
          <a:prstGeom prst="rect">
            <a:avLst/>
          </a:prstGeom>
          <a:noFill/>
          <a:ln/>
        </p:spPr>
        <p:txBody>
          <a:bodyPr wrap="square" lIns="0" tIns="0" rIns="0" bIns="0" rtlCol="0" anchor="ctr"/>
          <a:lstStyle/>
          <a:p>
            <a:pPr indent="0" marL="0">
              <a:lnSpc>
                <a:spcPct val="114000"/>
              </a:lnSpc>
              <a:buNone/>
            </a:pPr>
            <a:r>
              <a:rPr lang="en-US" sz="1100" dirty="0">
                <a:solidFill>
                  <a:srgbClr val="9DB4BE"/>
                </a:solidFill>
                <a:latin typeface="Calibri" pitchFamily="34" charset="0"/>
                <a:ea typeface="Calibri" pitchFamily="34" charset="-122"/>
                <a:cs typeface="Calibri" pitchFamily="34" charset="-120"/>
              </a:rPr>
              <a:t>openai / google-genai are imported only inside llm/.</a:t>
            </a:r>
            <a:endParaRPr lang="en-US" sz="1100" dirty="0"/>
          </a:p>
        </p:txBody>
      </p:sp>
      <p:sp>
        <p:nvSpPr>
          <p:cNvPr id="32" name="Shape 30"/>
          <p:cNvSpPr/>
          <p:nvPr/>
        </p:nvSpPr>
        <p:spPr>
          <a:xfrm>
            <a:off x="8156448" y="3913632"/>
            <a:ext cx="146304" cy="146304"/>
          </a:xfrm>
          <a:prstGeom prst="ellipse">
            <a:avLst/>
          </a:prstGeom>
          <a:solidFill>
            <a:srgbClr val="02C39A"/>
          </a:solidFill>
          <a:ln w="12700">
            <a:solidFill>
              <a:srgbClr val="02C39A"/>
            </a:solidFill>
            <a:prstDash val="solid"/>
          </a:ln>
        </p:spPr>
      </p:sp>
      <p:sp>
        <p:nvSpPr>
          <p:cNvPr id="33" name="Text 31"/>
          <p:cNvSpPr txBox="1"/>
          <p:nvPr/>
        </p:nvSpPr>
        <p:spPr>
          <a:xfrm>
            <a:off x="8430768" y="3858768"/>
            <a:ext cx="2834640"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Config, never constants</a:t>
            </a:r>
            <a:endParaRPr lang="en-US" sz="1250" dirty="0"/>
          </a:p>
        </p:txBody>
      </p:sp>
      <p:sp>
        <p:nvSpPr>
          <p:cNvPr id="34" name="Text 32"/>
          <p:cNvSpPr txBox="1"/>
          <p:nvPr/>
        </p:nvSpPr>
        <p:spPr>
          <a:xfrm>
            <a:off x="8430768" y="4114800"/>
            <a:ext cx="2798064" cy="457200"/>
          </a:xfrm>
          <a:prstGeom prst="rect">
            <a:avLst/>
          </a:prstGeom>
          <a:noFill/>
          <a:ln/>
        </p:spPr>
        <p:txBody>
          <a:bodyPr wrap="square" lIns="0" tIns="0" rIns="0" bIns="0" rtlCol="0" anchor="ctr"/>
          <a:lstStyle/>
          <a:p>
            <a:pPr indent="0" marL="0">
              <a:lnSpc>
                <a:spcPct val="114000"/>
              </a:lnSpc>
              <a:buNone/>
            </a:pPr>
            <a:r>
              <a:rPr lang="en-US" sz="1100" dirty="0">
                <a:solidFill>
                  <a:srgbClr val="9DB4BE"/>
                </a:solidFill>
                <a:latin typeface="Calibri" pitchFamily="34" charset="0"/>
                <a:ea typeface="Calibri" pitchFamily="34" charset="-122"/>
                <a:cs typeface="Calibri" pitchFamily="34" charset="-120"/>
              </a:rPr>
              <a:t>Every tunable comes from .env or a CLI flag.</a:t>
            </a:r>
            <a:endParaRPr lang="en-US" sz="1100" dirty="0"/>
          </a:p>
        </p:txBody>
      </p:sp>
      <p:sp>
        <p:nvSpPr>
          <p:cNvPr id="35" name="Shape 33"/>
          <p:cNvSpPr/>
          <p:nvPr/>
        </p:nvSpPr>
        <p:spPr>
          <a:xfrm>
            <a:off x="8156448" y="4700016"/>
            <a:ext cx="146304" cy="146304"/>
          </a:xfrm>
          <a:prstGeom prst="ellipse">
            <a:avLst/>
          </a:prstGeom>
          <a:solidFill>
            <a:srgbClr val="02C39A"/>
          </a:solidFill>
          <a:ln w="12700">
            <a:solidFill>
              <a:srgbClr val="02C39A"/>
            </a:solidFill>
            <a:prstDash val="solid"/>
          </a:ln>
        </p:spPr>
      </p:sp>
      <p:sp>
        <p:nvSpPr>
          <p:cNvPr id="36" name="Text 34"/>
          <p:cNvSpPr txBox="1"/>
          <p:nvPr/>
        </p:nvSpPr>
        <p:spPr>
          <a:xfrm>
            <a:off x="8430768" y="4645152"/>
            <a:ext cx="2834640"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Prompts are data</a:t>
            </a:r>
            <a:endParaRPr lang="en-US" sz="1250" dirty="0"/>
          </a:p>
        </p:txBody>
      </p:sp>
      <p:sp>
        <p:nvSpPr>
          <p:cNvPr id="37" name="Text 35"/>
          <p:cNvSpPr txBox="1"/>
          <p:nvPr/>
        </p:nvSpPr>
        <p:spPr>
          <a:xfrm>
            <a:off x="8430768" y="4901184"/>
            <a:ext cx="2798064" cy="457200"/>
          </a:xfrm>
          <a:prstGeom prst="rect">
            <a:avLst/>
          </a:prstGeom>
          <a:noFill/>
          <a:ln/>
        </p:spPr>
        <p:txBody>
          <a:bodyPr wrap="square" lIns="0" tIns="0" rIns="0" bIns="0" rtlCol="0" anchor="ctr"/>
          <a:lstStyle/>
          <a:p>
            <a:pPr indent="0" marL="0">
              <a:lnSpc>
                <a:spcPct val="114000"/>
              </a:lnSpc>
              <a:buNone/>
            </a:pPr>
            <a:r>
              <a:rPr lang="en-US" sz="1100" dirty="0">
                <a:solidFill>
                  <a:srgbClr val="9DB4BE"/>
                </a:solidFill>
                <a:latin typeface="Calibri" pitchFamily="34" charset="0"/>
                <a:ea typeface="Calibri" pitchFamily="34" charset="-122"/>
                <a:cs typeface="Calibri" pitchFamily="34" charset="-120"/>
              </a:rPr>
              <a:t>Stored in prompts/, tunable without touching logic.</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02336"/>
            <a:ext cx="10874959" cy="237744"/>
          </a:xfrm>
          <a:prstGeom prst="rect">
            <a:avLst/>
          </a:prstGeom>
          <a:noFill/>
          <a:ln/>
        </p:spPr>
        <p:txBody>
          <a:bodyPr wrap="square" lIns="0" tIns="0" rIns="0" bIns="0" rtlCol="0" anchor="ctr"/>
          <a:lstStyle/>
          <a:p>
            <a:pPr indent="0" marL="0">
              <a:buNone/>
            </a:pPr>
            <a:r>
              <a:rPr lang="en-US" sz="1100" b="1" spc="160" kern="0" dirty="0">
                <a:solidFill>
                  <a:srgbClr val="028090"/>
                </a:solidFill>
                <a:latin typeface="Calibri" pitchFamily="34" charset="0"/>
                <a:ea typeface="Calibri" pitchFamily="34" charset="-122"/>
                <a:cs typeface="Calibri" pitchFamily="34" charset="-120"/>
              </a:rPr>
              <a:t>WORKFLOW ORCHESTRATION</a:t>
            </a:r>
            <a:endParaRPr lang="en-US" sz="1100" dirty="0"/>
          </a:p>
        </p:txBody>
      </p:sp>
      <p:sp>
        <p:nvSpPr>
          <p:cNvPr id="3" name="Text 1"/>
          <p:cNvSpPr txBox="1"/>
          <p:nvPr/>
        </p:nvSpPr>
        <p:spPr>
          <a:xfrm>
            <a:off x="658368" y="658368"/>
            <a:ext cx="10874959" cy="658368"/>
          </a:xfrm>
          <a:prstGeom prst="rect">
            <a:avLst/>
          </a:prstGeom>
          <a:noFill/>
          <a:ln/>
        </p:spPr>
        <p:txBody>
          <a:bodyPr wrap="square" lIns="0" tIns="0" rIns="0" bIns="0" rtlCol="0" anchor="t"/>
          <a:lstStyle/>
          <a:p>
            <a:pPr indent="0" marL="0">
              <a:buNone/>
            </a:pPr>
            <a:r>
              <a:rPr lang="en-US" sz="3200" b="1" dirty="0">
                <a:solidFill>
                  <a:srgbClr val="172A33"/>
                </a:solidFill>
                <a:latin typeface="Cambria" pitchFamily="34" charset="0"/>
                <a:ea typeface="Cambria" pitchFamily="34" charset="-122"/>
                <a:cs typeface="Cambria" pitchFamily="34" charset="-120"/>
              </a:rPr>
              <a:t>One hard dependency, then a parallel fan-out</a:t>
            </a:r>
            <a:endParaRPr lang="en-US" sz="3200" dirty="0"/>
          </a:p>
        </p:txBody>
      </p:sp>
      <p:sp>
        <p:nvSpPr>
          <p:cNvPr id="4" name="Text 2"/>
          <p:cNvSpPr txBox="1"/>
          <p:nvPr/>
        </p:nvSpPr>
        <p:spPr>
          <a:xfrm>
            <a:off x="10984687" y="6382512"/>
            <a:ext cx="548640" cy="256032"/>
          </a:xfrm>
          <a:prstGeom prst="rect">
            <a:avLst/>
          </a:prstGeom>
          <a:noFill/>
          <a:ln/>
        </p:spPr>
        <p:txBody>
          <a:bodyPr wrap="square" lIns="0" tIns="0" rIns="0" bIns="0" rtlCol="0" anchor="ctr"/>
          <a:lstStyle/>
          <a:p>
            <a:pPr algn="r" indent="0" marL="0">
              <a:buNone/>
            </a:pPr>
            <a:r>
              <a:rPr lang="en-US" sz="1000" dirty="0">
                <a:solidFill>
                  <a:srgbClr val="5D7480"/>
                </a:solidFill>
                <a:latin typeface="Calibri" pitchFamily="34" charset="0"/>
                <a:ea typeface="Calibri" pitchFamily="34" charset="-122"/>
                <a:cs typeface="Calibri" pitchFamily="34" charset="-120"/>
              </a:rPr>
              <a:t>5</a:t>
            </a:r>
            <a:endParaRPr lang="en-US" sz="1000" dirty="0"/>
          </a:p>
        </p:txBody>
      </p:sp>
      <p:sp>
        <p:nvSpPr>
          <p:cNvPr id="5" name="Text 3"/>
          <p:cNvSpPr txBox="1"/>
          <p:nvPr/>
        </p:nvSpPr>
        <p:spPr>
          <a:xfrm>
            <a:off x="658368" y="6382512"/>
            <a:ext cx="6858000" cy="256032"/>
          </a:xfrm>
          <a:prstGeom prst="rect">
            <a:avLst/>
          </a:prstGeom>
          <a:noFill/>
          <a:ln/>
        </p:spPr>
        <p:txBody>
          <a:bodyPr wrap="square" lIns="0" tIns="0" rIns="0" bIns="0" rtlCol="0" anchor="ctr"/>
          <a:lstStyle/>
          <a:p>
            <a:pPr indent="0" marL="0">
              <a:buNone/>
            </a:pPr>
            <a:r>
              <a:rPr lang="en-US" sz="1000" dirty="0">
                <a:solidFill>
                  <a:srgbClr val="5D7480"/>
                </a:solidFill>
                <a:latin typeface="Calibri" pitchFamily="34" charset="0"/>
                <a:ea typeface="Calibri" pitchFamily="34" charset="-122"/>
                <a:cs typeface="Calibri" pitchFamily="34" charset="-120"/>
              </a:rPr>
              <a:t>AI Customer Complaint &amp; Case Processing System</a:t>
            </a:r>
            <a:endParaRPr lang="en-US" sz="1000" dirty="0"/>
          </a:p>
        </p:txBody>
      </p:sp>
      <p:sp>
        <p:nvSpPr>
          <p:cNvPr id="6" name="Shape 4"/>
          <p:cNvSpPr/>
          <p:nvPr/>
        </p:nvSpPr>
        <p:spPr>
          <a:xfrm>
            <a:off x="658368" y="1883664"/>
            <a:ext cx="2331720" cy="1133856"/>
          </a:xfrm>
          <a:prstGeom prst="roundRect">
            <a:avLst>
              <a:gd name="adj" fmla="val 4839"/>
            </a:avLst>
          </a:prstGeom>
          <a:solidFill>
            <a:srgbClr val="F1F5F7"/>
          </a:solidFill>
          <a:ln w="12700">
            <a:solidFill>
              <a:srgbClr val="F1F5F7"/>
            </a:solidFill>
            <a:prstDash val="solid"/>
          </a:ln>
        </p:spPr>
      </p:sp>
      <p:sp>
        <p:nvSpPr>
          <p:cNvPr id="7" name="Text 5"/>
          <p:cNvSpPr txBox="1"/>
          <p:nvPr/>
        </p:nvSpPr>
        <p:spPr>
          <a:xfrm>
            <a:off x="658368" y="2231136"/>
            <a:ext cx="2331720" cy="548640"/>
          </a:xfrm>
          <a:prstGeom prst="rect">
            <a:avLst/>
          </a:prstGeom>
          <a:noFill/>
          <a:ln/>
        </p:spPr>
        <p:txBody>
          <a:bodyPr wrap="square" lIns="0" tIns="0" rIns="0" bIns="0" rtlCol="0" anchor="ctr"/>
          <a:lstStyle/>
          <a:p>
            <a:pPr algn="ctr" indent="0" marL="0">
              <a:buNone/>
            </a:pPr>
            <a:r>
              <a:rPr lang="en-US" sz="1400" b="1" dirty="0">
                <a:solidFill>
                  <a:srgbClr val="172A33"/>
                </a:solidFill>
                <a:latin typeface="Calibri" pitchFamily="34" charset="0"/>
                <a:ea typeface="Calibri" pitchFamily="34" charset="-122"/>
                <a:cs typeface="Calibri" pitchFamily="34" charset="-120"/>
              </a:rPr>
              <a:t>Document</a:t>
            </a:r>
            <a:endParaRPr lang="en-US" sz="1400" dirty="0"/>
          </a:p>
          <a:p>
            <a:pPr algn="ctr" indent="0" marL="0">
              <a:buNone/>
            </a:pPr>
            <a:r>
              <a:rPr lang="en-US" sz="1400" b="1" dirty="0">
                <a:solidFill>
                  <a:srgbClr val="172A33"/>
                </a:solidFill>
                <a:latin typeface="Calibri" pitchFamily="34" charset="0"/>
                <a:ea typeface="Calibri" pitchFamily="34" charset="-122"/>
                <a:cs typeface="Calibri" pitchFamily="34" charset="-120"/>
              </a:rPr>
              <a:t>text</a:t>
            </a:r>
            <a:endParaRPr lang="en-US" sz="1400" dirty="0"/>
          </a:p>
        </p:txBody>
      </p:sp>
      <p:sp>
        <p:nvSpPr>
          <p:cNvPr id="8" name="Text 6"/>
          <p:cNvSpPr txBox="1"/>
          <p:nvPr/>
        </p:nvSpPr>
        <p:spPr>
          <a:xfrm>
            <a:off x="3054096" y="2286000"/>
            <a:ext cx="384048" cy="329184"/>
          </a:xfrm>
          <a:prstGeom prst="rect">
            <a:avLst/>
          </a:prstGeom>
          <a:noFill/>
          <a:ln/>
        </p:spPr>
        <p:txBody>
          <a:bodyPr wrap="square" lIns="0" tIns="0" rIns="0" bIns="0" rtlCol="0" anchor="ctr"/>
          <a:lstStyle/>
          <a:p>
            <a:pPr algn="ctr" indent="0" marL="0">
              <a:buNone/>
            </a:pPr>
            <a:r>
              <a:rPr lang="en-US" sz="2000" dirty="0">
                <a:solidFill>
                  <a:srgbClr val="5D7480"/>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3493008" y="1883664"/>
            <a:ext cx="2743200" cy="1133856"/>
          </a:xfrm>
          <a:prstGeom prst="roundRect">
            <a:avLst>
              <a:gd name="adj" fmla="val 4839"/>
            </a:avLst>
          </a:prstGeom>
          <a:solidFill>
            <a:srgbClr val="028090"/>
          </a:solidFill>
          <a:ln w="12700">
            <a:solidFill>
              <a:srgbClr val="028090"/>
            </a:solidFill>
            <a:prstDash val="solid"/>
          </a:ln>
        </p:spPr>
      </p:sp>
      <p:sp>
        <p:nvSpPr>
          <p:cNvPr id="10" name="Text 8"/>
          <p:cNvSpPr txBox="1"/>
          <p:nvPr/>
        </p:nvSpPr>
        <p:spPr>
          <a:xfrm>
            <a:off x="3493008" y="2121408"/>
            <a:ext cx="2743200" cy="292608"/>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1 · Extraction</a:t>
            </a:r>
            <a:endParaRPr lang="en-US" sz="1450" dirty="0"/>
          </a:p>
        </p:txBody>
      </p:sp>
      <p:sp>
        <p:nvSpPr>
          <p:cNvPr id="11" name="Text 9"/>
          <p:cNvSpPr txBox="1"/>
          <p:nvPr/>
        </p:nvSpPr>
        <p:spPr>
          <a:xfrm>
            <a:off x="3493008" y="2432304"/>
            <a:ext cx="2743200" cy="512064"/>
          </a:xfrm>
          <a:prstGeom prst="rect">
            <a:avLst/>
          </a:prstGeom>
          <a:noFill/>
          <a:ln/>
        </p:spPr>
        <p:txBody>
          <a:bodyPr wrap="square" lIns="0" tIns="0" rIns="0" bIns="0" rtlCol="0" anchor="ctr"/>
          <a:lstStyle/>
          <a:p>
            <a:pPr algn="ctr" indent="0" marL="0">
              <a:buNone/>
            </a:pPr>
            <a:r>
              <a:rPr lang="en-US" sz="1150" dirty="0">
                <a:solidFill>
                  <a:srgbClr val="CFEAEA"/>
                </a:solidFill>
                <a:latin typeface="Calibri" pitchFamily="34" charset="0"/>
                <a:ea typeface="Calibri" pitchFamily="34" charset="-122"/>
                <a:cs typeface="Calibri" pitchFamily="34" charset="-120"/>
              </a:rPr>
              <a:t>Pydantic-validated</a:t>
            </a:r>
            <a:endParaRPr lang="en-US" sz="1150" dirty="0"/>
          </a:p>
          <a:p>
            <a:pPr algn="ctr" indent="0" marL="0">
              <a:buNone/>
            </a:pPr>
            <a:r>
              <a:rPr lang="en-US" sz="1150" dirty="0">
                <a:solidFill>
                  <a:srgbClr val="CFEAEA"/>
                </a:solidFill>
                <a:latin typeface="Calibri" pitchFamily="34" charset="0"/>
                <a:ea typeface="Calibri" pitchFamily="34" charset="-122"/>
                <a:cs typeface="Calibri" pitchFamily="34" charset="-120"/>
              </a:rPr>
              <a:t>case record</a:t>
            </a:r>
            <a:endParaRPr lang="en-US" sz="1150" dirty="0"/>
          </a:p>
        </p:txBody>
      </p:sp>
      <p:sp>
        <p:nvSpPr>
          <p:cNvPr id="12" name="Text 10"/>
          <p:cNvSpPr txBox="1"/>
          <p:nvPr/>
        </p:nvSpPr>
        <p:spPr>
          <a:xfrm>
            <a:off x="6345936" y="2286000"/>
            <a:ext cx="384048" cy="329184"/>
          </a:xfrm>
          <a:prstGeom prst="rect">
            <a:avLst/>
          </a:prstGeom>
          <a:noFill/>
          <a:ln/>
        </p:spPr>
        <p:txBody>
          <a:bodyPr wrap="square" lIns="0" tIns="0" rIns="0" bIns="0" rtlCol="0" anchor="ctr"/>
          <a:lstStyle/>
          <a:p>
            <a:pPr algn="ctr" indent="0" marL="0">
              <a:buNone/>
            </a:pPr>
            <a:r>
              <a:rPr lang="en-US" sz="2000" dirty="0">
                <a:solidFill>
                  <a:srgbClr val="5D7480"/>
                </a:solidFill>
                <a:latin typeface="Calibri" pitchFamily="34" charset="0"/>
                <a:ea typeface="Calibri" pitchFamily="34" charset="-122"/>
                <a:cs typeface="Calibri" pitchFamily="34" charset="-120"/>
              </a:rPr>
              <a:t>→</a:t>
            </a:r>
            <a:endParaRPr lang="en-US" sz="2000" dirty="0"/>
          </a:p>
        </p:txBody>
      </p:sp>
      <p:sp>
        <p:nvSpPr>
          <p:cNvPr id="13" name="Shape 11"/>
          <p:cNvSpPr/>
          <p:nvPr/>
        </p:nvSpPr>
        <p:spPr>
          <a:xfrm>
            <a:off x="6821424" y="1572768"/>
            <a:ext cx="4718304" cy="896112"/>
          </a:xfrm>
          <a:prstGeom prst="roundRect">
            <a:avLst>
              <a:gd name="adj" fmla="val 6122"/>
            </a:avLst>
          </a:prstGeom>
          <a:solidFill>
            <a:srgbClr val="F1F5F7"/>
          </a:solidFill>
          <a:ln w="12700">
            <a:solidFill>
              <a:srgbClr val="F1F5F7"/>
            </a:solidFill>
            <a:prstDash val="solid"/>
          </a:ln>
        </p:spPr>
      </p:sp>
      <p:sp>
        <p:nvSpPr>
          <p:cNvPr id="14" name="Text 12"/>
          <p:cNvSpPr txBox="1"/>
          <p:nvPr/>
        </p:nvSpPr>
        <p:spPr>
          <a:xfrm>
            <a:off x="7095744" y="1737360"/>
            <a:ext cx="4206240" cy="274320"/>
          </a:xfrm>
          <a:prstGeom prst="rect">
            <a:avLst/>
          </a:prstGeom>
          <a:noFill/>
          <a:ln/>
        </p:spPr>
        <p:txBody>
          <a:bodyPr wrap="square" lIns="0" tIns="0" rIns="0" bIns="0" rtlCol="0" anchor="ctr"/>
          <a:lstStyle/>
          <a:p>
            <a:pPr indent="0" marL="0">
              <a:buNone/>
            </a:pPr>
            <a:r>
              <a:rPr lang="en-US" sz="1400" b="1" dirty="0">
                <a:solidFill>
                  <a:srgbClr val="00A896"/>
                </a:solidFill>
                <a:latin typeface="Calibri" pitchFamily="34" charset="0"/>
                <a:ea typeface="Calibri" pitchFamily="34" charset="-122"/>
                <a:cs typeface="Calibri" pitchFamily="34" charset="-120"/>
              </a:rPr>
              <a:t>2 · Customer email</a:t>
            </a:r>
            <a:endParaRPr lang="en-US" sz="1400" dirty="0"/>
          </a:p>
        </p:txBody>
      </p:sp>
      <p:sp>
        <p:nvSpPr>
          <p:cNvPr id="15" name="Text 13"/>
          <p:cNvSpPr txBox="1"/>
          <p:nvPr/>
        </p:nvSpPr>
        <p:spPr>
          <a:xfrm>
            <a:off x="7095744" y="2011680"/>
            <a:ext cx="4206240" cy="256032"/>
          </a:xfrm>
          <a:prstGeom prst="rect">
            <a:avLst/>
          </a:prstGeom>
          <a:noFill/>
          <a:ln/>
        </p:spPr>
        <p:txBody>
          <a:bodyPr wrap="square" lIns="0" tIns="0" rIns="0" bIns="0" rtlCol="0" anchor="ctr"/>
          <a:lstStyle/>
          <a:p>
            <a:pPr indent="0" marL="0">
              <a:buNone/>
            </a:pPr>
            <a:r>
              <a:rPr lang="en-US" sz="1150" dirty="0">
                <a:solidFill>
                  <a:srgbClr val="5D7480"/>
                </a:solidFill>
                <a:latin typeface="Calibri" pitchFamily="34" charset="0"/>
                <a:ea typeface="Calibri" pitchFamily="34" charset="-122"/>
                <a:cs typeface="Calibri" pitchFamily="34" charset="-120"/>
              </a:rPr>
              <a:t>Depends only on the extraction</a:t>
            </a:r>
            <a:endParaRPr lang="en-US" sz="1150" dirty="0"/>
          </a:p>
        </p:txBody>
      </p:sp>
      <p:sp>
        <p:nvSpPr>
          <p:cNvPr id="16" name="Shape 14"/>
          <p:cNvSpPr/>
          <p:nvPr/>
        </p:nvSpPr>
        <p:spPr>
          <a:xfrm>
            <a:off x="6821424" y="2578608"/>
            <a:ext cx="4718304" cy="896112"/>
          </a:xfrm>
          <a:prstGeom prst="roundRect">
            <a:avLst>
              <a:gd name="adj" fmla="val 6122"/>
            </a:avLst>
          </a:prstGeom>
          <a:solidFill>
            <a:srgbClr val="F1F5F7"/>
          </a:solidFill>
          <a:ln w="12700">
            <a:solidFill>
              <a:srgbClr val="F1F5F7"/>
            </a:solidFill>
            <a:prstDash val="solid"/>
          </a:ln>
        </p:spPr>
      </p:sp>
      <p:sp>
        <p:nvSpPr>
          <p:cNvPr id="17" name="Text 15"/>
          <p:cNvSpPr txBox="1"/>
          <p:nvPr/>
        </p:nvSpPr>
        <p:spPr>
          <a:xfrm>
            <a:off x="7095744" y="2743200"/>
            <a:ext cx="4206240" cy="274320"/>
          </a:xfrm>
          <a:prstGeom prst="rect">
            <a:avLst/>
          </a:prstGeom>
          <a:noFill/>
          <a:ln/>
        </p:spPr>
        <p:txBody>
          <a:bodyPr wrap="square" lIns="0" tIns="0" rIns="0" bIns="0"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3 · Case summary</a:t>
            </a:r>
            <a:endParaRPr lang="en-US" sz="1400" dirty="0"/>
          </a:p>
        </p:txBody>
      </p:sp>
      <p:sp>
        <p:nvSpPr>
          <p:cNvPr id="18" name="Text 16"/>
          <p:cNvSpPr txBox="1"/>
          <p:nvPr/>
        </p:nvSpPr>
        <p:spPr>
          <a:xfrm>
            <a:off x="7095744" y="3017520"/>
            <a:ext cx="4206240" cy="256032"/>
          </a:xfrm>
          <a:prstGeom prst="rect">
            <a:avLst/>
          </a:prstGeom>
          <a:noFill/>
          <a:ln/>
        </p:spPr>
        <p:txBody>
          <a:bodyPr wrap="square" lIns="0" tIns="0" rIns="0" bIns="0" rtlCol="0" anchor="ctr"/>
          <a:lstStyle/>
          <a:p>
            <a:pPr indent="0" marL="0">
              <a:buNone/>
            </a:pPr>
            <a:r>
              <a:rPr lang="en-US" sz="1150" dirty="0">
                <a:solidFill>
                  <a:srgbClr val="5D7480"/>
                </a:solidFill>
                <a:latin typeface="Calibri" pitchFamily="34" charset="0"/>
                <a:ea typeface="Calibri" pitchFamily="34" charset="-122"/>
                <a:cs typeface="Calibri" pitchFamily="34" charset="-120"/>
              </a:rPr>
              <a:t>Depends only on the extraction</a:t>
            </a:r>
            <a:endParaRPr lang="en-US" sz="1150" dirty="0"/>
          </a:p>
        </p:txBody>
      </p:sp>
      <p:sp>
        <p:nvSpPr>
          <p:cNvPr id="19" name="Text 17"/>
          <p:cNvSpPr txBox="1"/>
          <p:nvPr/>
        </p:nvSpPr>
        <p:spPr>
          <a:xfrm>
            <a:off x="6821424" y="3602736"/>
            <a:ext cx="4718304" cy="548640"/>
          </a:xfrm>
          <a:prstGeom prst="rect">
            <a:avLst/>
          </a:prstGeom>
          <a:noFill/>
          <a:ln/>
        </p:spPr>
        <p:txBody>
          <a:bodyPr wrap="square" lIns="0" tIns="0" rIns="0" bIns="0" rtlCol="0" anchor="ctr"/>
          <a:lstStyle/>
          <a:p>
            <a:pPr indent="0" marL="0">
              <a:lnSpc>
                <a:spcPct val="118000"/>
              </a:lnSpc>
              <a:buNone/>
            </a:pPr>
            <a:r>
              <a:rPr lang="en-US" sz="1200" i="1" dirty="0">
                <a:solidFill>
                  <a:srgbClr val="172A33"/>
                </a:solidFill>
                <a:latin typeface="Calibri" pitchFamily="34" charset="0"/>
                <a:ea typeface="Calibri" pitchFamily="34" charset="-122"/>
                <a:cs typeface="Calibri" pitchFamily="34" charset="-120"/>
              </a:rPr>
              <a:t>Tasks 2 and 3 do not depend on each other, so they run concurrently — roughly halving per-document latency.</a:t>
            </a:r>
            <a:endParaRPr lang="en-US" sz="1200" dirty="0"/>
          </a:p>
        </p:txBody>
      </p:sp>
      <p:sp>
        <p:nvSpPr>
          <p:cNvPr id="20" name="Shape 18"/>
          <p:cNvSpPr/>
          <p:nvPr/>
        </p:nvSpPr>
        <p:spPr>
          <a:xfrm>
            <a:off x="658368" y="4462272"/>
            <a:ext cx="3429000" cy="1371600"/>
          </a:xfrm>
          <a:prstGeom prst="roundRect">
            <a:avLst>
              <a:gd name="adj" fmla="val 4000"/>
            </a:avLst>
          </a:prstGeom>
          <a:solidFill>
            <a:srgbClr val="F1F5F7"/>
          </a:solidFill>
          <a:ln w="12700">
            <a:solidFill>
              <a:srgbClr val="F1F5F7"/>
            </a:solidFill>
            <a:prstDash val="solid"/>
          </a:ln>
        </p:spPr>
      </p:sp>
      <p:sp>
        <p:nvSpPr>
          <p:cNvPr id="21" name="Shape 19"/>
          <p:cNvSpPr/>
          <p:nvPr/>
        </p:nvSpPr>
        <p:spPr>
          <a:xfrm>
            <a:off x="914400" y="4681728"/>
            <a:ext cx="182880" cy="182880"/>
          </a:xfrm>
          <a:prstGeom prst="ellipse">
            <a:avLst/>
          </a:prstGeom>
          <a:solidFill>
            <a:srgbClr val="02C39A"/>
          </a:solidFill>
          <a:ln w="12700">
            <a:solidFill>
              <a:srgbClr val="02C39A"/>
            </a:solidFill>
            <a:prstDash val="solid"/>
          </a:ln>
        </p:spPr>
      </p:sp>
      <p:sp>
        <p:nvSpPr>
          <p:cNvPr id="22" name="Text 20"/>
          <p:cNvSpPr txBox="1"/>
          <p:nvPr/>
        </p:nvSpPr>
        <p:spPr>
          <a:xfrm>
            <a:off x="1207008" y="4626864"/>
            <a:ext cx="2560320" cy="274320"/>
          </a:xfrm>
          <a:prstGeom prst="rect">
            <a:avLst/>
          </a:prstGeom>
          <a:noFill/>
          <a:ln/>
        </p:spPr>
        <p:txBody>
          <a:bodyPr wrap="square" lIns="0" tIns="0" rIns="0" bIns="0" rtlCol="0" anchor="ctr"/>
          <a:lstStyle/>
          <a:p>
            <a:pPr indent="0" marL="0">
              <a:buNone/>
            </a:pPr>
            <a:r>
              <a:rPr lang="en-US" sz="1350" b="1" dirty="0">
                <a:solidFill>
                  <a:srgbClr val="02C39A"/>
                </a:solidFill>
                <a:latin typeface="Calibri" pitchFamily="34" charset="0"/>
                <a:ea typeface="Calibri" pitchFamily="34" charset="-122"/>
                <a:cs typeface="Calibri" pitchFamily="34" charset="-120"/>
              </a:rPr>
              <a:t>SUCCESS</a:t>
            </a:r>
            <a:endParaRPr lang="en-US" sz="1350" dirty="0"/>
          </a:p>
        </p:txBody>
      </p:sp>
      <p:sp>
        <p:nvSpPr>
          <p:cNvPr id="23" name="Text 21"/>
          <p:cNvSpPr txBox="1"/>
          <p:nvPr/>
        </p:nvSpPr>
        <p:spPr>
          <a:xfrm>
            <a:off x="914400" y="4974336"/>
            <a:ext cx="2916936" cy="749808"/>
          </a:xfrm>
          <a:prstGeom prst="rect">
            <a:avLst/>
          </a:prstGeom>
          <a:noFill/>
          <a:ln/>
        </p:spPr>
        <p:txBody>
          <a:bodyPr wrap="square" lIns="0" tIns="0" rIns="0" bIns="0" rtlCol="0" anchor="ctr"/>
          <a:lstStyle/>
          <a:p>
            <a:pPr indent="0" marL="0">
              <a:lnSpc>
                <a:spcPct val="116000"/>
              </a:lnSpc>
              <a:buNone/>
            </a:pPr>
            <a:r>
              <a:rPr lang="en-US" sz="1150" dirty="0">
                <a:solidFill>
                  <a:srgbClr val="172A33"/>
                </a:solidFill>
                <a:latin typeface="Calibri" pitchFamily="34" charset="0"/>
                <a:ea typeface="Calibri" pitchFamily="34" charset="-122"/>
                <a:cs typeface="Calibri" pitchFamily="34" charset="-120"/>
              </a:rPr>
              <a:t>All three tasks completed</a:t>
            </a:r>
            <a:endParaRPr lang="en-US" sz="1150" dirty="0"/>
          </a:p>
        </p:txBody>
      </p:sp>
      <p:sp>
        <p:nvSpPr>
          <p:cNvPr id="24" name="Shape 22"/>
          <p:cNvSpPr/>
          <p:nvPr/>
        </p:nvSpPr>
        <p:spPr>
          <a:xfrm>
            <a:off x="4379976" y="4462272"/>
            <a:ext cx="3429000" cy="1371600"/>
          </a:xfrm>
          <a:prstGeom prst="roundRect">
            <a:avLst>
              <a:gd name="adj" fmla="val 4000"/>
            </a:avLst>
          </a:prstGeom>
          <a:solidFill>
            <a:srgbClr val="F1F5F7"/>
          </a:solidFill>
          <a:ln w="12700">
            <a:solidFill>
              <a:srgbClr val="F1F5F7"/>
            </a:solidFill>
            <a:prstDash val="solid"/>
          </a:ln>
        </p:spPr>
      </p:sp>
      <p:sp>
        <p:nvSpPr>
          <p:cNvPr id="25" name="Shape 23"/>
          <p:cNvSpPr/>
          <p:nvPr/>
        </p:nvSpPr>
        <p:spPr>
          <a:xfrm>
            <a:off x="4636008" y="4681728"/>
            <a:ext cx="182880" cy="182880"/>
          </a:xfrm>
          <a:prstGeom prst="ellipse">
            <a:avLst/>
          </a:prstGeom>
          <a:solidFill>
            <a:srgbClr val="E0913A"/>
          </a:solidFill>
          <a:ln w="12700">
            <a:solidFill>
              <a:srgbClr val="E0913A"/>
            </a:solidFill>
            <a:prstDash val="solid"/>
          </a:ln>
        </p:spPr>
      </p:sp>
      <p:sp>
        <p:nvSpPr>
          <p:cNvPr id="26" name="Text 24"/>
          <p:cNvSpPr txBox="1"/>
          <p:nvPr/>
        </p:nvSpPr>
        <p:spPr>
          <a:xfrm>
            <a:off x="4928616" y="4626864"/>
            <a:ext cx="2560320" cy="274320"/>
          </a:xfrm>
          <a:prstGeom prst="rect">
            <a:avLst/>
          </a:prstGeom>
          <a:noFill/>
          <a:ln/>
        </p:spPr>
        <p:txBody>
          <a:bodyPr wrap="square" lIns="0" tIns="0" rIns="0" bIns="0" rtlCol="0" anchor="ctr"/>
          <a:lstStyle/>
          <a:p>
            <a:pPr indent="0" marL="0">
              <a:buNone/>
            </a:pPr>
            <a:r>
              <a:rPr lang="en-US" sz="1350" b="1" dirty="0">
                <a:solidFill>
                  <a:srgbClr val="E0913A"/>
                </a:solidFill>
                <a:latin typeface="Calibri" pitchFamily="34" charset="0"/>
                <a:ea typeface="Calibri" pitchFamily="34" charset="-122"/>
                <a:cs typeface="Calibri" pitchFamily="34" charset="-120"/>
              </a:rPr>
              <a:t>PARTIAL</a:t>
            </a:r>
            <a:endParaRPr lang="en-US" sz="1350" dirty="0"/>
          </a:p>
        </p:txBody>
      </p:sp>
      <p:sp>
        <p:nvSpPr>
          <p:cNvPr id="27" name="Text 25"/>
          <p:cNvSpPr txBox="1"/>
          <p:nvPr/>
        </p:nvSpPr>
        <p:spPr>
          <a:xfrm>
            <a:off x="4636008" y="4974336"/>
            <a:ext cx="2916936" cy="749808"/>
          </a:xfrm>
          <a:prstGeom prst="rect">
            <a:avLst/>
          </a:prstGeom>
          <a:noFill/>
          <a:ln/>
        </p:spPr>
        <p:txBody>
          <a:bodyPr wrap="square" lIns="0" tIns="0" rIns="0" bIns="0" rtlCol="0" anchor="ctr"/>
          <a:lstStyle/>
          <a:p>
            <a:pPr indent="0" marL="0">
              <a:lnSpc>
                <a:spcPct val="116000"/>
              </a:lnSpc>
              <a:buNone/>
            </a:pPr>
            <a:r>
              <a:rPr lang="en-US" sz="1150" dirty="0">
                <a:solidFill>
                  <a:srgbClr val="172A33"/>
                </a:solidFill>
                <a:latin typeface="Calibri" pitchFamily="34" charset="0"/>
                <a:ea typeface="Calibri" pitchFamily="34" charset="-122"/>
                <a:cs typeface="Calibri" pitchFamily="34" charset="-120"/>
              </a:rPr>
              <a:t>Extraction good, one downstream task failed — everything that worked is still written</a:t>
            </a:r>
            <a:endParaRPr lang="en-US" sz="1150" dirty="0"/>
          </a:p>
        </p:txBody>
      </p:sp>
      <p:sp>
        <p:nvSpPr>
          <p:cNvPr id="28" name="Shape 26"/>
          <p:cNvSpPr/>
          <p:nvPr/>
        </p:nvSpPr>
        <p:spPr>
          <a:xfrm>
            <a:off x="8101584" y="4462272"/>
            <a:ext cx="3429000" cy="1371600"/>
          </a:xfrm>
          <a:prstGeom prst="roundRect">
            <a:avLst>
              <a:gd name="adj" fmla="val 4000"/>
            </a:avLst>
          </a:prstGeom>
          <a:solidFill>
            <a:srgbClr val="F1F5F7"/>
          </a:solidFill>
          <a:ln w="12700">
            <a:solidFill>
              <a:srgbClr val="F1F5F7"/>
            </a:solidFill>
            <a:prstDash val="solid"/>
          </a:ln>
        </p:spPr>
      </p:sp>
      <p:sp>
        <p:nvSpPr>
          <p:cNvPr id="29" name="Shape 27"/>
          <p:cNvSpPr/>
          <p:nvPr/>
        </p:nvSpPr>
        <p:spPr>
          <a:xfrm>
            <a:off x="8357616" y="4681728"/>
            <a:ext cx="182880" cy="182880"/>
          </a:xfrm>
          <a:prstGeom prst="ellipse">
            <a:avLst/>
          </a:prstGeom>
          <a:solidFill>
            <a:srgbClr val="D1495B"/>
          </a:solidFill>
          <a:ln w="12700">
            <a:solidFill>
              <a:srgbClr val="D1495B"/>
            </a:solidFill>
            <a:prstDash val="solid"/>
          </a:ln>
        </p:spPr>
      </p:sp>
      <p:sp>
        <p:nvSpPr>
          <p:cNvPr id="30" name="Text 28"/>
          <p:cNvSpPr txBox="1"/>
          <p:nvPr/>
        </p:nvSpPr>
        <p:spPr>
          <a:xfrm>
            <a:off x="8650224" y="4626864"/>
            <a:ext cx="2560320" cy="274320"/>
          </a:xfrm>
          <a:prstGeom prst="rect">
            <a:avLst/>
          </a:prstGeom>
          <a:noFill/>
          <a:ln/>
        </p:spPr>
        <p:txBody>
          <a:bodyPr wrap="square" lIns="0" tIns="0" rIns="0" bIns="0" rtlCol="0" anchor="ctr"/>
          <a:lstStyle/>
          <a:p>
            <a:pPr indent="0" marL="0">
              <a:buNone/>
            </a:pPr>
            <a:r>
              <a:rPr lang="en-US" sz="1350" b="1" dirty="0">
                <a:solidFill>
                  <a:srgbClr val="D1495B"/>
                </a:solidFill>
                <a:latin typeface="Calibri" pitchFamily="34" charset="0"/>
                <a:ea typeface="Calibri" pitchFamily="34" charset="-122"/>
                <a:cs typeface="Calibri" pitchFamily="34" charset="-120"/>
              </a:rPr>
              <a:t>FAILED</a:t>
            </a:r>
            <a:endParaRPr lang="en-US" sz="1350" dirty="0"/>
          </a:p>
        </p:txBody>
      </p:sp>
      <p:sp>
        <p:nvSpPr>
          <p:cNvPr id="31" name="Text 29"/>
          <p:cNvSpPr txBox="1"/>
          <p:nvPr/>
        </p:nvSpPr>
        <p:spPr>
          <a:xfrm>
            <a:off x="8357616" y="4974336"/>
            <a:ext cx="2916936" cy="749808"/>
          </a:xfrm>
          <a:prstGeom prst="rect">
            <a:avLst/>
          </a:prstGeom>
          <a:noFill/>
          <a:ln/>
        </p:spPr>
        <p:txBody>
          <a:bodyPr wrap="square" lIns="0" tIns="0" rIns="0" bIns="0" rtlCol="0" anchor="ctr"/>
          <a:lstStyle/>
          <a:p>
            <a:pPr indent="0" marL="0">
              <a:lnSpc>
                <a:spcPct val="116000"/>
              </a:lnSpc>
              <a:buNone/>
            </a:pPr>
            <a:r>
              <a:rPr lang="en-US" sz="1150" dirty="0">
                <a:solidFill>
                  <a:srgbClr val="172A33"/>
                </a:solidFill>
                <a:latin typeface="Calibri" pitchFamily="34" charset="0"/>
                <a:ea typeface="Calibri" pitchFamily="34" charset="-122"/>
                <a:cs typeface="Calibri" pitchFamily="34" charset="-120"/>
              </a:rPr>
              <a:t>Extraction failed — downstream skipped, reason recorded in the report</a:t>
            </a:r>
            <a:endParaRPr lang="en-US" sz="1150" dirty="0"/>
          </a:p>
        </p:txBody>
      </p:sp>
      <p:sp>
        <p:nvSpPr>
          <p:cNvPr id="32" name="Text 30"/>
          <p:cNvSpPr txBox="1"/>
          <p:nvPr/>
        </p:nvSpPr>
        <p:spPr>
          <a:xfrm>
            <a:off x="658368" y="4151376"/>
            <a:ext cx="7315200" cy="256032"/>
          </a:xfrm>
          <a:prstGeom prst="rect">
            <a:avLst/>
          </a:prstGeom>
          <a:noFill/>
          <a:ln/>
        </p:spPr>
        <p:txBody>
          <a:bodyPr wrap="square" lIns="0" tIns="0" rIns="0" bIns="0" rtlCol="0" anchor="ctr"/>
          <a:lstStyle/>
          <a:p>
            <a:pPr indent="0" marL="0">
              <a:buNone/>
            </a:pPr>
            <a:r>
              <a:rPr lang="en-US" sz="1250" b="1" dirty="0">
                <a:solidFill>
                  <a:srgbClr val="172A33"/>
                </a:solidFill>
                <a:latin typeface="Calibri" pitchFamily="34" charset="0"/>
                <a:ea typeface="Calibri" pitchFamily="34" charset="-122"/>
                <a:cs typeface="Calibri" pitchFamily="34" charset="-120"/>
              </a:rPr>
              <a:t>Graded failure — a bad document never aborts the batch</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02336"/>
            <a:ext cx="10874959" cy="237744"/>
          </a:xfrm>
          <a:prstGeom prst="rect">
            <a:avLst/>
          </a:prstGeom>
          <a:noFill/>
          <a:ln/>
        </p:spPr>
        <p:txBody>
          <a:bodyPr wrap="square" lIns="0" tIns="0" rIns="0" bIns="0" rtlCol="0" anchor="ctr"/>
          <a:lstStyle/>
          <a:p>
            <a:pPr indent="0" marL="0">
              <a:buNone/>
            </a:pPr>
            <a:r>
              <a:rPr lang="en-US" sz="1100" b="1" spc="160" kern="0" dirty="0">
                <a:solidFill>
                  <a:srgbClr val="028090"/>
                </a:solidFill>
                <a:latin typeface="Calibri" pitchFamily="34" charset="0"/>
                <a:ea typeface="Calibri" pitchFamily="34" charset="-122"/>
                <a:cs typeface="Calibri" pitchFamily="34" charset="-120"/>
              </a:rPr>
              <a:t>GENAI IMPLEMENTATION</a:t>
            </a:r>
            <a:endParaRPr lang="en-US" sz="1100" dirty="0"/>
          </a:p>
        </p:txBody>
      </p:sp>
      <p:sp>
        <p:nvSpPr>
          <p:cNvPr id="3" name="Text 1"/>
          <p:cNvSpPr txBox="1"/>
          <p:nvPr/>
        </p:nvSpPr>
        <p:spPr>
          <a:xfrm>
            <a:off x="658368" y="658368"/>
            <a:ext cx="10874959" cy="658368"/>
          </a:xfrm>
          <a:prstGeom prst="rect">
            <a:avLst/>
          </a:prstGeom>
          <a:noFill/>
          <a:ln/>
        </p:spPr>
        <p:txBody>
          <a:bodyPr wrap="square" lIns="0" tIns="0" rIns="0" bIns="0" rtlCol="0" anchor="t"/>
          <a:lstStyle/>
          <a:p>
            <a:pPr indent="0" marL="0">
              <a:buNone/>
            </a:pPr>
            <a:r>
              <a:rPr lang="en-US" sz="3200" b="1" dirty="0">
                <a:solidFill>
                  <a:srgbClr val="172A33"/>
                </a:solidFill>
                <a:latin typeface="Cambria" pitchFamily="34" charset="0"/>
                <a:ea typeface="Cambria" pitchFamily="34" charset="-122"/>
                <a:cs typeface="Cambria" pitchFamily="34" charset="-120"/>
              </a:rPr>
              <a:t>Structured outputs, enforced by the provider</a:t>
            </a:r>
            <a:endParaRPr lang="en-US" sz="3200" dirty="0"/>
          </a:p>
        </p:txBody>
      </p:sp>
      <p:sp>
        <p:nvSpPr>
          <p:cNvPr id="4" name="Text 2"/>
          <p:cNvSpPr txBox="1"/>
          <p:nvPr/>
        </p:nvSpPr>
        <p:spPr>
          <a:xfrm>
            <a:off x="10984687" y="6382512"/>
            <a:ext cx="548640" cy="256032"/>
          </a:xfrm>
          <a:prstGeom prst="rect">
            <a:avLst/>
          </a:prstGeom>
          <a:noFill/>
          <a:ln/>
        </p:spPr>
        <p:txBody>
          <a:bodyPr wrap="square" lIns="0" tIns="0" rIns="0" bIns="0" rtlCol="0" anchor="ctr"/>
          <a:lstStyle/>
          <a:p>
            <a:pPr algn="r" indent="0" marL="0">
              <a:buNone/>
            </a:pPr>
            <a:r>
              <a:rPr lang="en-US" sz="1000" dirty="0">
                <a:solidFill>
                  <a:srgbClr val="5D7480"/>
                </a:solidFill>
                <a:latin typeface="Calibri" pitchFamily="34" charset="0"/>
                <a:ea typeface="Calibri" pitchFamily="34" charset="-122"/>
                <a:cs typeface="Calibri" pitchFamily="34" charset="-120"/>
              </a:rPr>
              <a:t>6</a:t>
            </a:r>
            <a:endParaRPr lang="en-US" sz="1000" dirty="0"/>
          </a:p>
        </p:txBody>
      </p:sp>
      <p:sp>
        <p:nvSpPr>
          <p:cNvPr id="5" name="Text 3"/>
          <p:cNvSpPr txBox="1"/>
          <p:nvPr/>
        </p:nvSpPr>
        <p:spPr>
          <a:xfrm>
            <a:off x="658368" y="6382512"/>
            <a:ext cx="6858000" cy="256032"/>
          </a:xfrm>
          <a:prstGeom prst="rect">
            <a:avLst/>
          </a:prstGeom>
          <a:noFill/>
          <a:ln/>
        </p:spPr>
        <p:txBody>
          <a:bodyPr wrap="square" lIns="0" tIns="0" rIns="0" bIns="0" rtlCol="0" anchor="ctr"/>
          <a:lstStyle/>
          <a:p>
            <a:pPr indent="0" marL="0">
              <a:buNone/>
            </a:pPr>
            <a:r>
              <a:rPr lang="en-US" sz="1000" dirty="0">
                <a:solidFill>
                  <a:srgbClr val="5D7480"/>
                </a:solidFill>
                <a:latin typeface="Calibri" pitchFamily="34" charset="0"/>
                <a:ea typeface="Calibri" pitchFamily="34" charset="-122"/>
                <a:cs typeface="Calibri" pitchFamily="34" charset="-120"/>
              </a:rPr>
              <a:t>AI Customer Complaint &amp; Case Processing System</a:t>
            </a:r>
            <a:endParaRPr lang="en-US" sz="1000" dirty="0"/>
          </a:p>
        </p:txBody>
      </p:sp>
      <p:sp>
        <p:nvSpPr>
          <p:cNvPr id="6" name="Shape 4"/>
          <p:cNvSpPr/>
          <p:nvPr/>
        </p:nvSpPr>
        <p:spPr>
          <a:xfrm>
            <a:off x="658368" y="1609344"/>
            <a:ext cx="5623560" cy="3785616"/>
          </a:xfrm>
          <a:prstGeom prst="roundRect">
            <a:avLst>
              <a:gd name="adj" fmla="val 1449"/>
            </a:avLst>
          </a:prstGeom>
          <a:solidFill>
            <a:srgbClr val="10222E"/>
          </a:solidFill>
          <a:ln w="12700">
            <a:solidFill>
              <a:srgbClr val="10222E"/>
            </a:solidFill>
            <a:prstDash val="solid"/>
          </a:ln>
        </p:spPr>
      </p:sp>
      <p:sp>
        <p:nvSpPr>
          <p:cNvPr id="7" name="Text 5"/>
          <p:cNvSpPr txBox="1"/>
          <p:nvPr/>
        </p:nvSpPr>
        <p:spPr>
          <a:xfrm>
            <a:off x="932688" y="1810512"/>
            <a:ext cx="2743200" cy="237744"/>
          </a:xfrm>
          <a:prstGeom prst="rect">
            <a:avLst/>
          </a:prstGeom>
          <a:noFill/>
          <a:ln/>
        </p:spPr>
        <p:txBody>
          <a:bodyPr wrap="square" lIns="0" tIns="0" rIns="0" bIns="0" rtlCol="0" anchor="ctr"/>
          <a:lstStyle/>
          <a:p>
            <a:pPr indent="0" marL="0">
              <a:buNone/>
            </a:pPr>
            <a:r>
              <a:rPr lang="en-US" sz="1100" b="1" dirty="0">
                <a:solidFill>
                  <a:srgbClr val="02C39A"/>
                </a:solidFill>
                <a:latin typeface="Courier New" pitchFamily="34" charset="0"/>
                <a:ea typeface="Courier New" pitchFamily="34" charset="-122"/>
                <a:cs typeface="Courier New" pitchFamily="34" charset="-120"/>
              </a:rPr>
              <a:t>models.py</a:t>
            </a:r>
            <a:endParaRPr lang="en-US" sz="1100" dirty="0"/>
          </a:p>
        </p:txBody>
      </p:sp>
      <p:sp>
        <p:nvSpPr>
          <p:cNvPr id="8" name="Text 6"/>
          <p:cNvSpPr txBox="1"/>
          <p:nvPr/>
        </p:nvSpPr>
        <p:spPr>
          <a:xfrm>
            <a:off x="932688" y="2121408"/>
            <a:ext cx="5120640" cy="2468880"/>
          </a:xfrm>
          <a:prstGeom prst="rect">
            <a:avLst/>
          </a:prstGeom>
          <a:noFill/>
          <a:ln/>
        </p:spPr>
        <p:txBody>
          <a:bodyPr wrap="square" lIns="0" tIns="0" rIns="0" bIns="0" rtlCol="0" anchor="ctr"/>
          <a:lstStyle/>
          <a:p>
            <a:pPr indent="0" marL="0">
              <a:lnSpc>
                <a:spcPct val="116000"/>
              </a:lnSpc>
              <a:buNone/>
            </a:pPr>
            <a:r>
              <a:rPr lang="en-US" sz="1050" dirty="0">
                <a:solidFill>
                  <a:srgbClr val="D7E6EC"/>
                </a:solidFill>
                <a:latin typeface="Courier New" pitchFamily="34" charset="0"/>
                <a:ea typeface="Courier New" pitchFamily="34" charset="-122"/>
                <a:cs typeface="Courier New" pitchFamily="34" charset="-120"/>
              </a:rPr>
              <a:t>class ExtractedComplaint(BaseModel):</a:t>
            </a:r>
            <a:endParaRPr lang="en-US" sz="1050" dirty="0"/>
          </a:p>
          <a:p>
            <a:pPr indent="0" marL="0">
              <a:lnSpc>
                <a:spcPct val="116000"/>
              </a:lnSpc>
              <a:buNone/>
            </a:pPr>
            <a:r>
              <a:rPr lang="en-US" sz="1050" dirty="0">
                <a:solidFill>
                  <a:srgbClr val="D7E6EC"/>
                </a:solidFill>
                <a:latin typeface="Courier New" pitchFamily="34" charset="0"/>
                <a:ea typeface="Courier New" pitchFamily="34" charset="-122"/>
                <a:cs typeface="Courier New" pitchFamily="34" charset="-120"/>
              </a:rPr>
              <a:t xml:space="preserve">    customer_name:  str | None</a:t>
            </a:r>
            <a:endParaRPr lang="en-US" sz="1050" dirty="0"/>
          </a:p>
          <a:p>
            <a:pPr indent="0" marL="0">
              <a:lnSpc>
                <a:spcPct val="116000"/>
              </a:lnSpc>
              <a:buNone/>
            </a:pPr>
            <a:r>
              <a:rPr lang="en-US" sz="1050" dirty="0">
                <a:solidFill>
                  <a:srgbClr val="D7E6EC"/>
                </a:solidFill>
                <a:latin typeface="Courier New" pitchFamily="34" charset="0"/>
                <a:ea typeface="Courier New" pitchFamily="34" charset="-122"/>
                <a:cs typeface="Courier New" pitchFamily="34" charset="-120"/>
              </a:rPr>
              <a:t xml:space="preserve">    email:          str | None</a:t>
            </a:r>
            <a:endParaRPr lang="en-US" sz="1050" dirty="0"/>
          </a:p>
          <a:p>
            <a:pPr indent="0" marL="0">
              <a:lnSpc>
                <a:spcPct val="116000"/>
              </a:lnSpc>
              <a:buNone/>
            </a:pPr>
            <a:r>
              <a:rPr lang="en-US" sz="1050" dirty="0">
                <a:solidFill>
                  <a:srgbClr val="D7E6EC"/>
                </a:solidFill>
                <a:latin typeface="Courier New" pitchFamily="34" charset="0"/>
                <a:ea typeface="Courier New" pitchFamily="34" charset="-122"/>
                <a:cs typeface="Courier New" pitchFamily="34" charset="-120"/>
              </a:rPr>
              <a:t xml:space="preserve">    phone_number:   str | None</a:t>
            </a:r>
            <a:endParaRPr lang="en-US" sz="1050" dirty="0"/>
          </a:p>
          <a:p>
            <a:pPr indent="0" marL="0">
              <a:lnSpc>
                <a:spcPct val="116000"/>
              </a:lnSpc>
              <a:buNone/>
            </a:pPr>
            <a:r>
              <a:rPr lang="en-US" sz="1050" dirty="0">
                <a:solidFill>
                  <a:srgbClr val="D7E6EC"/>
                </a:solidFill>
                <a:latin typeface="Courier New" pitchFamily="34" charset="0"/>
                <a:ea typeface="Courier New" pitchFamily="34" charset="-122"/>
                <a:cs typeface="Courier New" pitchFamily="34" charset="-120"/>
              </a:rPr>
              <a:t xml:space="preserve">    complaint_category: ComplaintCategory</a:t>
            </a:r>
            <a:endParaRPr lang="en-US" sz="1050" dirty="0"/>
          </a:p>
          <a:p>
            <a:pPr indent="0" marL="0">
              <a:lnSpc>
                <a:spcPct val="116000"/>
              </a:lnSpc>
              <a:buNone/>
            </a:pPr>
            <a:r>
              <a:rPr lang="en-US" sz="1050" dirty="0">
                <a:solidFill>
                  <a:srgbClr val="D7E6EC"/>
                </a:solidFill>
                <a:latin typeface="Courier New" pitchFamily="34" charset="0"/>
                <a:ea typeface="Courier New" pitchFamily="34" charset="-122"/>
                <a:cs typeface="Courier New" pitchFamily="34" charset="-120"/>
              </a:rPr>
              <a:t xml:space="preserve">    issue_description:  str</a:t>
            </a:r>
            <a:endParaRPr lang="en-US" sz="1050" dirty="0"/>
          </a:p>
          <a:p>
            <a:pPr indent="0" marL="0">
              <a:lnSpc>
                <a:spcPct val="116000"/>
              </a:lnSpc>
              <a:buNone/>
            </a:pPr>
            <a:r>
              <a:rPr lang="en-US" sz="1050" dirty="0">
                <a:solidFill>
                  <a:srgbClr val="D7E6EC"/>
                </a:solidFill>
                <a:latin typeface="Courier New" pitchFamily="34" charset="0"/>
                <a:ea typeface="Courier New" pitchFamily="34" charset="-122"/>
                <a:cs typeface="Courier New" pitchFamily="34" charset="-120"/>
              </a:rPr>
              <a:t xml:space="preserve">    resolution_provided: str | None</a:t>
            </a:r>
            <a:endParaRPr lang="en-US" sz="1050" dirty="0"/>
          </a:p>
          <a:p>
            <a:pPr indent="0" marL="0">
              <a:lnSpc>
                <a:spcPct val="116000"/>
              </a:lnSpc>
              <a:buNone/>
            </a:pPr>
            <a:r>
              <a:rPr lang="en-US" sz="1050" dirty="0">
                <a:solidFill>
                  <a:srgbClr val="D7E6EC"/>
                </a:solidFill>
                <a:latin typeface="Courier New" pitchFamily="34" charset="0"/>
                <a:ea typeface="Courier New" pitchFamily="34" charset="-122"/>
                <a:cs typeface="Courier New" pitchFamily="34" charset="-120"/>
              </a:rPr>
              <a:t xml:space="preserve">    is_complaint:        bool</a:t>
            </a:r>
            <a:endParaRPr lang="en-US" sz="1050" dirty="0"/>
          </a:p>
          <a:p>
            <a:pPr indent="0" marL="0">
              <a:lnSpc>
                <a:spcPct val="116000"/>
              </a:lnSpc>
              <a:buNone/>
            </a:pPr>
            <a:r>
              <a:rPr lang="en-US" sz="1050" dirty="0">
                <a:solidFill>
                  <a:srgbClr val="D7E6EC"/>
                </a:solidFill>
                <a:latin typeface="Courier New" pitchFamily="34" charset="0"/>
                <a:ea typeface="Courier New" pitchFamily="34" charset="-122"/>
                <a:cs typeface="Courier New" pitchFamily="34" charset="-120"/>
              </a:rPr>
              <a:t xml:space="preserve">    escalation_required: bool</a:t>
            </a:r>
            <a:endParaRPr lang="en-US" sz="1050" dirty="0"/>
          </a:p>
          <a:p>
            <a:pPr indent="0" marL="0">
              <a:lnSpc>
                <a:spcPct val="116000"/>
              </a:lnSpc>
              <a:buNone/>
            </a:pPr>
            <a:r>
              <a:rPr lang="en-US" sz="1050" dirty="0">
                <a:solidFill>
                  <a:srgbClr val="D7E6EC"/>
                </a:solidFill>
                <a:latin typeface="Courier New" pitchFamily="34" charset="0"/>
                <a:ea typeface="Courier New" pitchFamily="34" charset="-122"/>
                <a:cs typeface="Courier New" pitchFamily="34" charset="-120"/>
              </a:rPr>
              <a:t xml:space="preserve">    supporting_document_available: bool</a:t>
            </a:r>
            <a:endParaRPr lang="en-US" sz="1050" dirty="0"/>
          </a:p>
          <a:p>
            <a:pPr indent="0" marL="0">
              <a:lnSpc>
                <a:spcPct val="116000"/>
              </a:lnSpc>
              <a:buNone/>
            </a:pPr>
            <a:r>
              <a:rPr lang="en-US" sz="1050" dirty="0">
                <a:solidFill>
                  <a:srgbClr val="D7E6EC"/>
                </a:solidFill>
                <a:latin typeface="Courier New" pitchFamily="34" charset="0"/>
                <a:ea typeface="Courier New" pitchFamily="34" charset="-122"/>
                <a:cs typeface="Courier New" pitchFamily="34" charset="-120"/>
              </a:rPr>
              <a:t xml:space="preserve">    overall_case_status: CaseStatus</a:t>
            </a:r>
            <a:endParaRPr lang="en-US" sz="1050" dirty="0"/>
          </a:p>
          <a:p>
            <a:pPr indent="0" marL="0">
              <a:lnSpc>
                <a:spcPct val="116000"/>
              </a:lnSpc>
              <a:buNone/>
            </a:pPr>
            <a:r>
              <a:rPr lang="en-US" sz="1050" dirty="0">
                <a:solidFill>
                  <a:srgbClr val="D7E6EC"/>
                </a:solidFill>
                <a:latin typeface="Courier New" pitchFamily="34" charset="0"/>
                <a:ea typeface="Courier New" pitchFamily="34" charset="-122"/>
                <a:cs typeface="Courier New" pitchFamily="34" charset="-120"/>
              </a:rPr>
              <a:t xml:space="preserve">    priority:            Priority</a:t>
            </a:r>
            <a:endParaRPr lang="en-US" sz="1050" dirty="0"/>
          </a:p>
          <a:p>
            <a:pPr indent="0" marL="0">
              <a:lnSpc>
                <a:spcPct val="116000"/>
              </a:lnSpc>
              <a:buNone/>
            </a:pPr>
            <a:r>
              <a:rPr lang="en-US" sz="1050" dirty="0">
                <a:solidFill>
                  <a:srgbClr val="D7E6EC"/>
                </a:solidFill>
                <a:latin typeface="Courier New" pitchFamily="34" charset="0"/>
                <a:ea typeface="Courier New" pitchFamily="34" charset="-122"/>
                <a:cs typeface="Courier New" pitchFamily="34" charset="-120"/>
              </a:rPr>
              <a:t xml:space="preserve">    customer_sentiment:  Sentiment</a:t>
            </a:r>
            <a:endParaRPr lang="en-US" sz="1050" dirty="0"/>
          </a:p>
        </p:txBody>
      </p:sp>
      <p:sp>
        <p:nvSpPr>
          <p:cNvPr id="9" name="Text 7"/>
          <p:cNvSpPr txBox="1"/>
          <p:nvPr/>
        </p:nvSpPr>
        <p:spPr>
          <a:xfrm>
            <a:off x="932688" y="4645152"/>
            <a:ext cx="5120640" cy="621792"/>
          </a:xfrm>
          <a:prstGeom prst="rect">
            <a:avLst/>
          </a:prstGeom>
          <a:noFill/>
          <a:ln/>
        </p:spPr>
        <p:txBody>
          <a:bodyPr wrap="square" lIns="0" tIns="0" rIns="0" bIns="0" rtlCol="0" anchor="ctr"/>
          <a:lstStyle/>
          <a:p>
            <a:pPr indent="0" marL="0">
              <a:lnSpc>
                <a:spcPct val="120000"/>
              </a:lnSpc>
              <a:buNone/>
            </a:pPr>
            <a:r>
              <a:rPr lang="en-US" sz="1150" dirty="0">
                <a:solidFill>
                  <a:srgbClr val="9DB4BE"/>
                </a:solidFill>
                <a:latin typeface="Calibri" pitchFamily="34" charset="0"/>
                <a:ea typeface="Calibri" pitchFamily="34" charset="-122"/>
                <a:cs typeface="Calibri" pitchFamily="34" charset="-120"/>
              </a:rPr>
              <a:t>Sent to the model as a strict JSON schema; the SDK returns a validated object. No JSON-in-markdown parsing anywhere in the codebase.</a:t>
            </a:r>
            <a:endParaRPr lang="en-US" sz="1150" dirty="0"/>
          </a:p>
        </p:txBody>
      </p:sp>
      <p:sp>
        <p:nvSpPr>
          <p:cNvPr id="10" name="Shape 8"/>
          <p:cNvSpPr/>
          <p:nvPr/>
        </p:nvSpPr>
        <p:spPr>
          <a:xfrm>
            <a:off x="6565392" y="1609344"/>
            <a:ext cx="4974336" cy="877824"/>
          </a:xfrm>
          <a:prstGeom prst="roundRect">
            <a:avLst>
              <a:gd name="adj" fmla="val 6250"/>
            </a:avLst>
          </a:prstGeom>
          <a:solidFill>
            <a:srgbClr val="F1F5F7"/>
          </a:solidFill>
          <a:ln w="12700">
            <a:solidFill>
              <a:srgbClr val="F1F5F7"/>
            </a:solidFill>
            <a:prstDash val="solid"/>
          </a:ln>
        </p:spPr>
      </p:sp>
      <p:sp>
        <p:nvSpPr>
          <p:cNvPr id="11" name="Shape 9"/>
          <p:cNvSpPr/>
          <p:nvPr/>
        </p:nvSpPr>
        <p:spPr>
          <a:xfrm>
            <a:off x="6803136" y="1883664"/>
            <a:ext cx="310896" cy="310896"/>
          </a:xfrm>
          <a:prstGeom prst="ellipse">
            <a:avLst/>
          </a:prstGeom>
          <a:solidFill>
            <a:srgbClr val="028090"/>
          </a:solidFill>
          <a:ln w="12700">
            <a:solidFill>
              <a:srgbClr val="028090"/>
            </a:solidFill>
            <a:prstDash val="solid"/>
          </a:ln>
        </p:spPr>
      </p:sp>
      <p:sp>
        <p:nvSpPr>
          <p:cNvPr id="12" name="Text 10"/>
          <p:cNvSpPr txBox="1"/>
          <p:nvPr/>
        </p:nvSpPr>
        <p:spPr>
          <a:xfrm>
            <a:off x="6803136" y="1901952"/>
            <a:ext cx="310896"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txBox="1"/>
          <p:nvPr/>
        </p:nvSpPr>
        <p:spPr>
          <a:xfrm>
            <a:off x="7223760" y="1755648"/>
            <a:ext cx="4160520" cy="256032"/>
          </a:xfrm>
          <a:prstGeom prst="rect">
            <a:avLst/>
          </a:prstGeom>
          <a:noFill/>
          <a:ln/>
        </p:spPr>
        <p:txBody>
          <a:bodyPr wrap="square" lIns="0" tIns="0" rIns="0" bIns="0" rtlCol="0" anchor="ctr"/>
          <a:lstStyle/>
          <a:p>
            <a:pPr indent="0" marL="0">
              <a:buNone/>
            </a:pPr>
            <a:r>
              <a:rPr lang="en-US" sz="1300" b="1" dirty="0">
                <a:solidFill>
                  <a:srgbClr val="172A33"/>
                </a:solidFill>
                <a:latin typeface="Calibri" pitchFamily="34" charset="0"/>
                <a:ea typeface="Calibri" pitchFamily="34" charset="-122"/>
                <a:cs typeface="Calibri" pitchFamily="34" charset="-120"/>
              </a:rPr>
              <a:t>The raw response is never saved</a:t>
            </a:r>
            <a:endParaRPr lang="en-US" sz="1300" dirty="0"/>
          </a:p>
        </p:txBody>
      </p:sp>
      <p:sp>
        <p:nvSpPr>
          <p:cNvPr id="14" name="Text 12"/>
          <p:cNvSpPr txBox="1"/>
          <p:nvPr/>
        </p:nvSpPr>
        <p:spPr>
          <a:xfrm>
            <a:off x="7223760" y="2011680"/>
            <a:ext cx="4114800" cy="420624"/>
          </a:xfrm>
          <a:prstGeom prst="rect">
            <a:avLst/>
          </a:prstGeom>
          <a:noFill/>
          <a:ln/>
        </p:spPr>
        <p:txBody>
          <a:bodyPr wrap="square" lIns="0" tIns="0" rIns="0" bIns="0" rtlCol="0" anchor="ctr"/>
          <a:lstStyle/>
          <a:p>
            <a:pPr indent="0" marL="0">
              <a:lnSpc>
                <a:spcPct val="114000"/>
              </a:lnSpc>
              <a:buNone/>
            </a:pPr>
            <a:r>
              <a:rPr lang="en-US" sz="1100" dirty="0">
                <a:solidFill>
                  <a:srgbClr val="5D7480"/>
                </a:solidFill>
                <a:latin typeface="Calibri" pitchFamily="34" charset="0"/>
                <a:ea typeface="Calibri" pitchFamily="34" charset="-122"/>
                <a:cs typeface="Calibri" pitchFamily="34" charset="-120"/>
              </a:rPr>
              <a:t>Every field passes through validators before it is persisted.</a:t>
            </a:r>
            <a:endParaRPr lang="en-US" sz="1100" dirty="0"/>
          </a:p>
        </p:txBody>
      </p:sp>
      <p:sp>
        <p:nvSpPr>
          <p:cNvPr id="15" name="Shape 13"/>
          <p:cNvSpPr/>
          <p:nvPr/>
        </p:nvSpPr>
        <p:spPr>
          <a:xfrm>
            <a:off x="6565392" y="2578608"/>
            <a:ext cx="4974336" cy="877824"/>
          </a:xfrm>
          <a:prstGeom prst="roundRect">
            <a:avLst>
              <a:gd name="adj" fmla="val 6250"/>
            </a:avLst>
          </a:prstGeom>
          <a:solidFill>
            <a:srgbClr val="F1F5F7"/>
          </a:solidFill>
          <a:ln w="12700">
            <a:solidFill>
              <a:srgbClr val="F1F5F7"/>
            </a:solidFill>
            <a:prstDash val="solid"/>
          </a:ln>
        </p:spPr>
      </p:sp>
      <p:sp>
        <p:nvSpPr>
          <p:cNvPr id="16" name="Shape 14"/>
          <p:cNvSpPr/>
          <p:nvPr/>
        </p:nvSpPr>
        <p:spPr>
          <a:xfrm>
            <a:off x="6803136" y="2852928"/>
            <a:ext cx="310896" cy="310896"/>
          </a:xfrm>
          <a:prstGeom prst="ellipse">
            <a:avLst/>
          </a:prstGeom>
          <a:solidFill>
            <a:srgbClr val="028090"/>
          </a:solidFill>
          <a:ln w="12700">
            <a:solidFill>
              <a:srgbClr val="028090"/>
            </a:solidFill>
            <a:prstDash val="solid"/>
          </a:ln>
        </p:spPr>
      </p:sp>
      <p:sp>
        <p:nvSpPr>
          <p:cNvPr id="17" name="Text 15"/>
          <p:cNvSpPr txBox="1"/>
          <p:nvPr/>
        </p:nvSpPr>
        <p:spPr>
          <a:xfrm>
            <a:off x="6803136" y="2871216"/>
            <a:ext cx="310896"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txBox="1"/>
          <p:nvPr/>
        </p:nvSpPr>
        <p:spPr>
          <a:xfrm>
            <a:off x="7223760" y="2724912"/>
            <a:ext cx="4160520" cy="256032"/>
          </a:xfrm>
          <a:prstGeom prst="rect">
            <a:avLst/>
          </a:prstGeom>
          <a:noFill/>
          <a:ln/>
        </p:spPr>
        <p:txBody>
          <a:bodyPr wrap="square" lIns="0" tIns="0" rIns="0" bIns="0" rtlCol="0" anchor="ctr"/>
          <a:lstStyle/>
          <a:p>
            <a:pPr indent="0" marL="0">
              <a:buNone/>
            </a:pPr>
            <a:r>
              <a:rPr lang="en-US" sz="1300" b="1" dirty="0">
                <a:solidFill>
                  <a:srgbClr val="172A33"/>
                </a:solidFill>
                <a:latin typeface="Calibri" pitchFamily="34" charset="0"/>
                <a:ea typeface="Calibri" pitchFamily="34" charset="-122"/>
                <a:cs typeface="Calibri" pitchFamily="34" charset="-120"/>
              </a:rPr>
              <a:t>Placeholders become real nulls</a:t>
            </a:r>
            <a:endParaRPr lang="en-US" sz="1300" dirty="0"/>
          </a:p>
        </p:txBody>
      </p:sp>
      <p:sp>
        <p:nvSpPr>
          <p:cNvPr id="19" name="Text 17"/>
          <p:cNvSpPr txBox="1"/>
          <p:nvPr/>
        </p:nvSpPr>
        <p:spPr>
          <a:xfrm>
            <a:off x="7223760" y="2980944"/>
            <a:ext cx="4114800" cy="420624"/>
          </a:xfrm>
          <a:prstGeom prst="rect">
            <a:avLst/>
          </a:prstGeom>
          <a:noFill/>
          <a:ln/>
        </p:spPr>
        <p:txBody>
          <a:bodyPr wrap="square" lIns="0" tIns="0" rIns="0" bIns="0" rtlCol="0" anchor="ctr"/>
          <a:lstStyle/>
          <a:p>
            <a:pPr indent="0" marL="0">
              <a:lnSpc>
                <a:spcPct val="114000"/>
              </a:lnSpc>
              <a:buNone/>
            </a:pPr>
            <a:r>
              <a:rPr lang="en-US" sz="1100" dirty="0">
                <a:solidFill>
                  <a:srgbClr val="5D7480"/>
                </a:solidFill>
                <a:latin typeface="Calibri" pitchFamily="34" charset="0"/>
                <a:ea typeface="Calibri" pitchFamily="34" charset="-122"/>
                <a:cs typeface="Calibri" pitchFamily="34" charset="-120"/>
              </a:rPr>
              <a:t>"N/A", "unknown", "not provided" → None, so the report shows an empty cell, not the word.</a:t>
            </a:r>
            <a:endParaRPr lang="en-US" sz="1100" dirty="0"/>
          </a:p>
        </p:txBody>
      </p:sp>
      <p:sp>
        <p:nvSpPr>
          <p:cNvPr id="20" name="Shape 18"/>
          <p:cNvSpPr/>
          <p:nvPr/>
        </p:nvSpPr>
        <p:spPr>
          <a:xfrm>
            <a:off x="6565392" y="3547872"/>
            <a:ext cx="4974336" cy="877824"/>
          </a:xfrm>
          <a:prstGeom prst="roundRect">
            <a:avLst>
              <a:gd name="adj" fmla="val 6250"/>
            </a:avLst>
          </a:prstGeom>
          <a:solidFill>
            <a:srgbClr val="F1F5F7"/>
          </a:solidFill>
          <a:ln w="12700">
            <a:solidFill>
              <a:srgbClr val="F1F5F7"/>
            </a:solidFill>
            <a:prstDash val="solid"/>
          </a:ln>
        </p:spPr>
      </p:sp>
      <p:sp>
        <p:nvSpPr>
          <p:cNvPr id="21" name="Shape 19"/>
          <p:cNvSpPr/>
          <p:nvPr/>
        </p:nvSpPr>
        <p:spPr>
          <a:xfrm>
            <a:off x="6803136" y="3822192"/>
            <a:ext cx="310896" cy="310896"/>
          </a:xfrm>
          <a:prstGeom prst="ellipse">
            <a:avLst/>
          </a:prstGeom>
          <a:solidFill>
            <a:srgbClr val="028090"/>
          </a:solidFill>
          <a:ln w="12700">
            <a:solidFill>
              <a:srgbClr val="028090"/>
            </a:solidFill>
            <a:prstDash val="solid"/>
          </a:ln>
        </p:spPr>
      </p:sp>
      <p:sp>
        <p:nvSpPr>
          <p:cNvPr id="22" name="Text 20"/>
          <p:cNvSpPr txBox="1"/>
          <p:nvPr/>
        </p:nvSpPr>
        <p:spPr>
          <a:xfrm>
            <a:off x="6803136" y="3840480"/>
            <a:ext cx="310896"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txBox="1"/>
          <p:nvPr/>
        </p:nvSpPr>
        <p:spPr>
          <a:xfrm>
            <a:off x="7223760" y="3694176"/>
            <a:ext cx="4160520" cy="256032"/>
          </a:xfrm>
          <a:prstGeom prst="rect">
            <a:avLst/>
          </a:prstGeom>
          <a:noFill/>
          <a:ln/>
        </p:spPr>
        <p:txBody>
          <a:bodyPr wrap="square" lIns="0" tIns="0" rIns="0" bIns="0" rtlCol="0" anchor="ctr"/>
          <a:lstStyle/>
          <a:p>
            <a:pPr indent="0" marL="0">
              <a:buNone/>
            </a:pPr>
            <a:r>
              <a:rPr lang="en-US" sz="1300" b="1" dirty="0">
                <a:solidFill>
                  <a:srgbClr val="172A33"/>
                </a:solidFill>
                <a:latin typeface="Calibri" pitchFamily="34" charset="0"/>
                <a:ea typeface="Calibri" pitchFamily="34" charset="-122"/>
                <a:cs typeface="Calibri" pitchFamily="34" charset="-120"/>
              </a:rPr>
              <a:t>Malformed emails are dropped</a:t>
            </a:r>
            <a:endParaRPr lang="en-US" sz="1300" dirty="0"/>
          </a:p>
        </p:txBody>
      </p:sp>
      <p:sp>
        <p:nvSpPr>
          <p:cNvPr id="24" name="Text 22"/>
          <p:cNvSpPr txBox="1"/>
          <p:nvPr/>
        </p:nvSpPr>
        <p:spPr>
          <a:xfrm>
            <a:off x="7223760" y="3950208"/>
            <a:ext cx="4114800" cy="420624"/>
          </a:xfrm>
          <a:prstGeom prst="rect">
            <a:avLst/>
          </a:prstGeom>
          <a:noFill/>
          <a:ln/>
        </p:spPr>
        <p:txBody>
          <a:bodyPr wrap="square" lIns="0" tIns="0" rIns="0" bIns="0" rtlCol="0" anchor="ctr"/>
          <a:lstStyle/>
          <a:p>
            <a:pPr indent="0" marL="0">
              <a:lnSpc>
                <a:spcPct val="114000"/>
              </a:lnSpc>
              <a:buNone/>
            </a:pPr>
            <a:r>
              <a:rPr lang="en-US" sz="1100" dirty="0">
                <a:solidFill>
                  <a:srgbClr val="5D7480"/>
                </a:solidFill>
                <a:latin typeface="Calibri" pitchFamily="34" charset="0"/>
                <a:ea typeface="Calibri" pitchFamily="34" charset="-122"/>
                <a:cs typeface="Calibri" pitchFamily="34" charset="-120"/>
              </a:rPr>
              <a:t>Sending mail to a hallucinated address is worse than recording that we have none.</a:t>
            </a:r>
            <a:endParaRPr lang="en-US" sz="1100" dirty="0"/>
          </a:p>
        </p:txBody>
      </p:sp>
      <p:sp>
        <p:nvSpPr>
          <p:cNvPr id="25" name="Shape 23"/>
          <p:cNvSpPr/>
          <p:nvPr/>
        </p:nvSpPr>
        <p:spPr>
          <a:xfrm>
            <a:off x="6565392" y="4517136"/>
            <a:ext cx="4974336" cy="877824"/>
          </a:xfrm>
          <a:prstGeom prst="roundRect">
            <a:avLst>
              <a:gd name="adj" fmla="val 6250"/>
            </a:avLst>
          </a:prstGeom>
          <a:solidFill>
            <a:srgbClr val="F1F5F7"/>
          </a:solidFill>
          <a:ln w="12700">
            <a:solidFill>
              <a:srgbClr val="F1F5F7"/>
            </a:solidFill>
            <a:prstDash val="solid"/>
          </a:ln>
        </p:spPr>
      </p:sp>
      <p:sp>
        <p:nvSpPr>
          <p:cNvPr id="26" name="Shape 24"/>
          <p:cNvSpPr/>
          <p:nvPr/>
        </p:nvSpPr>
        <p:spPr>
          <a:xfrm>
            <a:off x="6803136" y="4791456"/>
            <a:ext cx="310896" cy="310896"/>
          </a:xfrm>
          <a:prstGeom prst="ellipse">
            <a:avLst/>
          </a:prstGeom>
          <a:solidFill>
            <a:srgbClr val="028090"/>
          </a:solidFill>
          <a:ln w="12700">
            <a:solidFill>
              <a:srgbClr val="028090"/>
            </a:solidFill>
            <a:prstDash val="solid"/>
          </a:ln>
        </p:spPr>
      </p:sp>
      <p:sp>
        <p:nvSpPr>
          <p:cNvPr id="27" name="Text 25"/>
          <p:cNvSpPr txBox="1"/>
          <p:nvPr/>
        </p:nvSpPr>
        <p:spPr>
          <a:xfrm>
            <a:off x="6803136" y="4809744"/>
            <a:ext cx="310896"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txBox="1"/>
          <p:nvPr/>
        </p:nvSpPr>
        <p:spPr>
          <a:xfrm>
            <a:off x="7223760" y="4663440"/>
            <a:ext cx="4160520" cy="256032"/>
          </a:xfrm>
          <a:prstGeom prst="rect">
            <a:avLst/>
          </a:prstGeom>
          <a:noFill/>
          <a:ln/>
        </p:spPr>
        <p:txBody>
          <a:bodyPr wrap="square" lIns="0" tIns="0" rIns="0" bIns="0" rtlCol="0" anchor="ctr"/>
          <a:lstStyle/>
          <a:p>
            <a:pPr indent="0" marL="0">
              <a:buNone/>
            </a:pPr>
            <a:r>
              <a:rPr lang="en-US" sz="1300" b="1" dirty="0">
                <a:solidFill>
                  <a:srgbClr val="172A33"/>
                </a:solidFill>
                <a:latin typeface="Calibri" pitchFamily="34" charset="0"/>
                <a:ea typeface="Calibri" pitchFamily="34" charset="-122"/>
                <a:cs typeface="Calibri" pitchFamily="34" charset="-120"/>
              </a:rPr>
              <a:t>No defaults on LLM-facing schemas</a:t>
            </a:r>
            <a:endParaRPr lang="en-US" sz="1300" dirty="0"/>
          </a:p>
        </p:txBody>
      </p:sp>
      <p:sp>
        <p:nvSpPr>
          <p:cNvPr id="29" name="Text 27"/>
          <p:cNvSpPr txBox="1"/>
          <p:nvPr/>
        </p:nvSpPr>
        <p:spPr>
          <a:xfrm>
            <a:off x="7223760" y="4919472"/>
            <a:ext cx="4114800" cy="420624"/>
          </a:xfrm>
          <a:prstGeom prst="rect">
            <a:avLst/>
          </a:prstGeom>
          <a:noFill/>
          <a:ln/>
        </p:spPr>
        <p:txBody>
          <a:bodyPr wrap="square" lIns="0" tIns="0" rIns="0" bIns="0" rtlCol="0" anchor="ctr"/>
          <a:lstStyle/>
          <a:p>
            <a:pPr indent="0" marL="0">
              <a:lnSpc>
                <a:spcPct val="114000"/>
              </a:lnSpc>
              <a:buNone/>
            </a:pPr>
            <a:r>
              <a:rPr lang="en-US" sz="1100" dirty="0">
                <a:solidFill>
                  <a:srgbClr val="5D7480"/>
                </a:solidFill>
                <a:latin typeface="Calibri" pitchFamily="34" charset="0"/>
                <a:ea typeface="Calibri" pitchFamily="34" charset="-122"/>
                <a:cs typeface="Calibri" pitchFamily="34" charset="-120"/>
              </a:rPr>
              <a:t>OpenAI strict mode requires every property; a test asserts this so it cannot regress.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222E"/>
        </a:solidFill>
      </p:bgPr>
    </p:bg>
    <p:spTree>
      <p:nvGrpSpPr>
        <p:cNvPr id="1" name=""/>
        <p:cNvGrpSpPr/>
        <p:nvPr/>
      </p:nvGrpSpPr>
      <p:grpSpPr>
        <a:xfrm>
          <a:off x="0" y="0"/>
          <a:ext cx="0" cy="0"/>
          <a:chOff x="0" y="0"/>
          <a:chExt cx="0" cy="0"/>
        </a:xfrm>
      </p:grpSpPr>
      <p:sp>
        <p:nvSpPr>
          <p:cNvPr id="2" name="Text 0"/>
          <p:cNvSpPr txBox="1"/>
          <p:nvPr/>
        </p:nvSpPr>
        <p:spPr>
          <a:xfrm>
            <a:off x="658368" y="402336"/>
            <a:ext cx="10874959" cy="237744"/>
          </a:xfrm>
          <a:prstGeom prst="rect">
            <a:avLst/>
          </a:prstGeom>
          <a:noFill/>
          <a:ln/>
        </p:spPr>
        <p:txBody>
          <a:bodyPr wrap="square" lIns="0" tIns="0" rIns="0" bIns="0" rtlCol="0" anchor="ctr"/>
          <a:lstStyle/>
          <a:p>
            <a:pPr indent="0" marL="0">
              <a:buNone/>
            </a:pPr>
            <a:r>
              <a:rPr lang="en-US" sz="1100" b="1" spc="160" kern="0" dirty="0">
                <a:solidFill>
                  <a:srgbClr val="02C39A"/>
                </a:solidFill>
                <a:latin typeface="Calibri" pitchFamily="34" charset="0"/>
                <a:ea typeface="Calibri" pitchFamily="34" charset="-122"/>
                <a:cs typeface="Calibri" pitchFamily="34" charset="-120"/>
              </a:rPr>
              <a:t>PROMPT ENGINEERING</a:t>
            </a:r>
            <a:endParaRPr lang="en-US" sz="1100" dirty="0"/>
          </a:p>
        </p:txBody>
      </p:sp>
      <p:sp>
        <p:nvSpPr>
          <p:cNvPr id="3" name="Text 1"/>
          <p:cNvSpPr txBox="1"/>
          <p:nvPr/>
        </p:nvSpPr>
        <p:spPr>
          <a:xfrm>
            <a:off x="658368" y="658368"/>
            <a:ext cx="10874959" cy="658368"/>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Rules and data are kept apart</a:t>
            </a:r>
            <a:endParaRPr lang="en-US" sz="3200" dirty="0"/>
          </a:p>
        </p:txBody>
      </p:sp>
      <p:sp>
        <p:nvSpPr>
          <p:cNvPr id="4" name="Text 2"/>
          <p:cNvSpPr txBox="1"/>
          <p:nvPr/>
        </p:nvSpPr>
        <p:spPr>
          <a:xfrm>
            <a:off x="10984687" y="6382512"/>
            <a:ext cx="548640" cy="256032"/>
          </a:xfrm>
          <a:prstGeom prst="rect">
            <a:avLst/>
          </a:prstGeom>
          <a:noFill/>
          <a:ln/>
        </p:spPr>
        <p:txBody>
          <a:bodyPr wrap="square" lIns="0" tIns="0" rIns="0" bIns="0" rtlCol="0" anchor="ctr"/>
          <a:lstStyle/>
          <a:p>
            <a:pPr algn="r" indent="0" marL="0">
              <a:buNone/>
            </a:pPr>
            <a:r>
              <a:rPr lang="en-US" sz="1000" dirty="0">
                <a:solidFill>
                  <a:srgbClr val="9DB4BE"/>
                </a:solidFill>
                <a:latin typeface="Calibri" pitchFamily="34" charset="0"/>
                <a:ea typeface="Calibri" pitchFamily="34" charset="-122"/>
                <a:cs typeface="Calibri" pitchFamily="34" charset="-120"/>
              </a:rPr>
              <a:t>7</a:t>
            </a:r>
            <a:endParaRPr lang="en-US" sz="1000" dirty="0"/>
          </a:p>
        </p:txBody>
      </p:sp>
      <p:sp>
        <p:nvSpPr>
          <p:cNvPr id="5" name="Text 3"/>
          <p:cNvSpPr txBox="1"/>
          <p:nvPr/>
        </p:nvSpPr>
        <p:spPr>
          <a:xfrm>
            <a:off x="658368" y="6382512"/>
            <a:ext cx="6858000" cy="256032"/>
          </a:xfrm>
          <a:prstGeom prst="rect">
            <a:avLst/>
          </a:prstGeom>
          <a:noFill/>
          <a:ln/>
        </p:spPr>
        <p:txBody>
          <a:bodyPr wrap="square" lIns="0" tIns="0" rIns="0" bIns="0" rtlCol="0" anchor="ctr"/>
          <a:lstStyle/>
          <a:p>
            <a:pPr indent="0" marL="0">
              <a:buNone/>
            </a:pPr>
            <a:r>
              <a:rPr lang="en-US" sz="1000" dirty="0">
                <a:solidFill>
                  <a:srgbClr val="9DB4BE"/>
                </a:solidFill>
                <a:latin typeface="Calibri" pitchFamily="34" charset="0"/>
                <a:ea typeface="Calibri" pitchFamily="34" charset="-122"/>
                <a:cs typeface="Calibri" pitchFamily="34" charset="-120"/>
              </a:rPr>
              <a:t>AI Customer Complaint &amp; Case Processing System</a:t>
            </a:r>
            <a:endParaRPr lang="en-US" sz="1000" dirty="0"/>
          </a:p>
        </p:txBody>
      </p:sp>
      <p:sp>
        <p:nvSpPr>
          <p:cNvPr id="6" name="Shape 4"/>
          <p:cNvSpPr/>
          <p:nvPr/>
        </p:nvSpPr>
        <p:spPr>
          <a:xfrm>
            <a:off x="658368" y="1645920"/>
            <a:ext cx="5358384" cy="1975104"/>
          </a:xfrm>
          <a:prstGeom prst="roundRect">
            <a:avLst>
              <a:gd name="adj" fmla="val 2778"/>
            </a:avLst>
          </a:prstGeom>
          <a:solidFill>
            <a:srgbClr val="1B3B4A"/>
          </a:solidFill>
          <a:ln w="12700">
            <a:solidFill>
              <a:srgbClr val="1B3B4A"/>
            </a:solidFill>
            <a:prstDash val="solid"/>
          </a:ln>
        </p:spPr>
      </p:sp>
      <p:sp>
        <p:nvSpPr>
          <p:cNvPr id="7" name="Text 5"/>
          <p:cNvSpPr txBox="1"/>
          <p:nvPr/>
        </p:nvSpPr>
        <p:spPr>
          <a:xfrm>
            <a:off x="932688" y="1847088"/>
            <a:ext cx="4754880" cy="256032"/>
          </a:xfrm>
          <a:prstGeom prst="rect">
            <a:avLst/>
          </a:prstGeom>
          <a:noFill/>
          <a:ln/>
        </p:spPr>
        <p:txBody>
          <a:bodyPr wrap="square" lIns="0" tIns="0" rIns="0" bIns="0" rtlCol="0" anchor="ctr"/>
          <a:lstStyle/>
          <a:p>
            <a:pPr indent="0" marL="0">
              <a:buNone/>
            </a:pPr>
            <a:r>
              <a:rPr lang="en-US" sz="1100" b="1" spc="120" kern="0" dirty="0">
                <a:solidFill>
                  <a:srgbClr val="02C39A"/>
                </a:solidFill>
                <a:latin typeface="Calibri" pitchFamily="34" charset="0"/>
                <a:ea typeface="Calibri" pitchFamily="34" charset="-122"/>
                <a:cs typeface="Calibri" pitchFamily="34" charset="-120"/>
              </a:rPr>
              <a:t>SYSTEM PROMPT — the rules</a:t>
            </a:r>
            <a:endParaRPr lang="en-US" sz="1100" dirty="0"/>
          </a:p>
        </p:txBody>
      </p:sp>
      <p:sp>
        <p:nvSpPr>
          <p:cNvPr id="8" name="Text 6"/>
          <p:cNvSpPr txBox="1"/>
          <p:nvPr/>
        </p:nvSpPr>
        <p:spPr>
          <a:xfrm>
            <a:off x="932688" y="2139696"/>
            <a:ext cx="4809744" cy="548640"/>
          </a:xfrm>
          <a:prstGeom prst="rect">
            <a:avLst/>
          </a:prstGeom>
          <a:noFill/>
          <a:ln/>
        </p:spPr>
        <p:txBody>
          <a:bodyPr wrap="square" lIns="0" tIns="0" rIns="0" bIns="0" rtlCol="0" anchor="ctr"/>
          <a:lstStyle/>
          <a:p>
            <a:pPr indent="0" marL="0">
              <a:lnSpc>
                <a:spcPct val="120000"/>
              </a:lnSpc>
              <a:buNone/>
            </a:pPr>
            <a:r>
              <a:rPr lang="en-US" sz="1250" dirty="0">
                <a:solidFill>
                  <a:srgbClr val="C9DCE4"/>
                </a:solidFill>
                <a:latin typeface="Calibri" pitchFamily="34" charset="0"/>
                <a:ea typeface="Calibri" pitchFamily="34" charset="-122"/>
                <a:cs typeface="Calibri" pitchFamily="34" charset="-120"/>
              </a:rPr>
              <a:t>Role, constraints and the output contract. Fixed for every document, so nothing in a document can dilute it.</a:t>
            </a:r>
            <a:endParaRPr lang="en-US" sz="1250" dirty="0"/>
          </a:p>
        </p:txBody>
      </p:sp>
      <p:sp>
        <p:nvSpPr>
          <p:cNvPr id="9" name="Text 7"/>
          <p:cNvSpPr txBox="1"/>
          <p:nvPr/>
        </p:nvSpPr>
        <p:spPr>
          <a:xfrm>
            <a:off x="932688" y="2724912"/>
            <a:ext cx="4809744" cy="713232"/>
          </a:xfrm>
          <a:prstGeom prst="rect">
            <a:avLst/>
          </a:prstGeom>
          <a:noFill/>
          <a:ln/>
        </p:spPr>
        <p:txBody>
          <a:bodyPr wrap="square" lIns="0" tIns="0" rIns="0" bIns="0" rtlCol="0" anchor="ctr"/>
          <a:lstStyle/>
          <a:p>
            <a:pPr indent="0" marL="0">
              <a:lnSpc>
                <a:spcPct val="118000"/>
              </a:lnSpc>
              <a:buNone/>
            </a:pPr>
            <a:r>
              <a:rPr lang="en-US" sz="1150" i="1" dirty="0">
                <a:solidFill>
                  <a:srgbClr val="FFFFFF"/>
                </a:solidFill>
                <a:latin typeface="Courier New" pitchFamily="34" charset="0"/>
                <a:ea typeface="Courier New" pitchFamily="34" charset="-122"/>
                <a:cs typeface="Courier New" pitchFamily="34" charset="-120"/>
              </a:rPr>
              <a:t>"If a value is genuinely absent, return null.</a:t>
            </a:r>
            <a:endParaRPr lang="en-US" sz="1150" dirty="0"/>
          </a:p>
          <a:p>
            <a:pPr indent="0" marL="0">
              <a:lnSpc>
                <a:spcPct val="118000"/>
              </a:lnSpc>
              <a:buNone/>
            </a:pPr>
            <a:r>
              <a:rPr lang="en-US" sz="1150" i="1" dirty="0">
                <a:solidFill>
                  <a:srgbClr val="FFFFFF"/>
                </a:solidFill>
                <a:latin typeface="Courier New" pitchFamily="34" charset="0"/>
                <a:ea typeface="Courier New" pitchFamily="34" charset="-122"/>
                <a:cs typeface="Courier New" pitchFamily="34" charset="-120"/>
              </a:rPr>
              <a:t>Do not guess, and do not substitute</a:t>
            </a:r>
            <a:endParaRPr lang="en-US" sz="1150" dirty="0"/>
          </a:p>
          <a:p>
            <a:pPr indent="0" marL="0">
              <a:lnSpc>
                <a:spcPct val="118000"/>
              </a:lnSpc>
              <a:buNone/>
            </a:pPr>
            <a:r>
              <a:rPr lang="en-US" sz="1150" i="1" dirty="0">
                <a:solidFill>
                  <a:srgbClr val="FFFFFF"/>
                </a:solidFill>
                <a:latin typeface="Courier New" pitchFamily="34" charset="0"/>
                <a:ea typeface="Courier New" pitchFamily="34" charset="-122"/>
                <a:cs typeface="Courier New" pitchFamily="34" charset="-120"/>
              </a:rPr>
              <a:t>placeholder text such as "N/A"."</a:t>
            </a:r>
            <a:endParaRPr lang="en-US" sz="1150" dirty="0"/>
          </a:p>
        </p:txBody>
      </p:sp>
      <p:sp>
        <p:nvSpPr>
          <p:cNvPr id="10" name="Shape 8"/>
          <p:cNvSpPr/>
          <p:nvPr/>
        </p:nvSpPr>
        <p:spPr>
          <a:xfrm>
            <a:off x="658368" y="3749040"/>
            <a:ext cx="5358384" cy="1773936"/>
          </a:xfrm>
          <a:prstGeom prst="roundRect">
            <a:avLst>
              <a:gd name="adj" fmla="val 3093"/>
            </a:avLst>
          </a:prstGeom>
          <a:solidFill>
            <a:srgbClr val="1B3B4A"/>
          </a:solidFill>
          <a:ln w="12700">
            <a:solidFill>
              <a:srgbClr val="1B3B4A"/>
            </a:solidFill>
            <a:prstDash val="solid"/>
          </a:ln>
        </p:spPr>
      </p:sp>
      <p:sp>
        <p:nvSpPr>
          <p:cNvPr id="11" name="Text 9"/>
          <p:cNvSpPr txBox="1"/>
          <p:nvPr/>
        </p:nvSpPr>
        <p:spPr>
          <a:xfrm>
            <a:off x="932688" y="3950208"/>
            <a:ext cx="4754880" cy="256032"/>
          </a:xfrm>
          <a:prstGeom prst="rect">
            <a:avLst/>
          </a:prstGeom>
          <a:noFill/>
          <a:ln/>
        </p:spPr>
        <p:txBody>
          <a:bodyPr wrap="square" lIns="0" tIns="0" rIns="0" bIns="0" rtlCol="0" anchor="ctr"/>
          <a:lstStyle/>
          <a:p>
            <a:pPr indent="0" marL="0">
              <a:buNone/>
            </a:pPr>
            <a:r>
              <a:rPr lang="en-US" sz="1100" b="1" spc="120" kern="0" dirty="0">
                <a:solidFill>
                  <a:srgbClr val="00A896"/>
                </a:solidFill>
                <a:latin typeface="Calibri" pitchFamily="34" charset="0"/>
                <a:ea typeface="Calibri" pitchFamily="34" charset="-122"/>
                <a:cs typeface="Calibri" pitchFamily="34" charset="-120"/>
              </a:rPr>
              <a:t>USER PROMPT — only data</a:t>
            </a:r>
            <a:endParaRPr lang="en-US" sz="1100" dirty="0"/>
          </a:p>
        </p:txBody>
      </p:sp>
      <p:sp>
        <p:nvSpPr>
          <p:cNvPr id="12" name="Text 10"/>
          <p:cNvSpPr txBox="1"/>
          <p:nvPr/>
        </p:nvSpPr>
        <p:spPr>
          <a:xfrm>
            <a:off x="932688" y="4242816"/>
            <a:ext cx="4809744" cy="512064"/>
          </a:xfrm>
          <a:prstGeom prst="rect">
            <a:avLst/>
          </a:prstGeom>
          <a:noFill/>
          <a:ln/>
        </p:spPr>
        <p:txBody>
          <a:bodyPr wrap="square" lIns="0" tIns="0" rIns="0" bIns="0" rtlCol="0" anchor="ctr"/>
          <a:lstStyle/>
          <a:p>
            <a:pPr indent="0" marL="0">
              <a:lnSpc>
                <a:spcPct val="120000"/>
              </a:lnSpc>
              <a:buNone/>
            </a:pPr>
            <a:r>
              <a:rPr lang="en-US" sz="1250" dirty="0">
                <a:solidFill>
                  <a:srgbClr val="C9DCE4"/>
                </a:solidFill>
                <a:latin typeface="Calibri" pitchFamily="34" charset="0"/>
                <a:ea typeface="Calibri" pitchFamily="34" charset="-122"/>
                <a:cs typeface="Calibri" pitchFamily="34" charset="-120"/>
              </a:rPr>
              <a:t>The document is wrapped in explicit delimiters so the model can always tell instructions from input.</a:t>
            </a:r>
            <a:endParaRPr lang="en-US" sz="1250" dirty="0"/>
          </a:p>
        </p:txBody>
      </p:sp>
      <p:sp>
        <p:nvSpPr>
          <p:cNvPr id="13" name="Text 11"/>
          <p:cNvSpPr txBox="1"/>
          <p:nvPr/>
        </p:nvSpPr>
        <p:spPr>
          <a:xfrm>
            <a:off x="932688" y="4773168"/>
            <a:ext cx="4809744" cy="694944"/>
          </a:xfrm>
          <a:prstGeom prst="rect">
            <a:avLst/>
          </a:prstGeom>
          <a:noFill/>
          <a:ln/>
        </p:spPr>
        <p:txBody>
          <a:bodyPr wrap="square" lIns="0" tIns="0" rIns="0" bIns="0" rtlCol="0" anchor="ctr"/>
          <a:lstStyle/>
          <a:p>
            <a:pPr indent="0" marL="0">
              <a:lnSpc>
                <a:spcPct val="118000"/>
              </a:lnSpc>
              <a:buNone/>
            </a:pPr>
            <a:r>
              <a:rPr lang="en-US" sz="1200" dirty="0">
                <a:solidFill>
                  <a:srgbClr val="02C39A"/>
                </a:solidFill>
                <a:latin typeface="Courier New" pitchFamily="34" charset="0"/>
                <a:ea typeface="Courier New" pitchFamily="34" charset="-122"/>
                <a:cs typeface="Courier New" pitchFamily="34" charset="-120"/>
              </a:rPr>
              <a:t>&lt;document&gt;</a:t>
            </a:r>
            <a:endParaRPr lang="en-US" sz="1200" dirty="0"/>
          </a:p>
          <a:p>
            <a:pPr indent="0" marL="0">
              <a:lnSpc>
                <a:spcPct val="118000"/>
              </a:lnSpc>
              <a:buNone/>
            </a:pPr>
            <a:r>
              <a:rPr lang="en-US" sz="1200" dirty="0">
                <a:solidFill>
                  <a:srgbClr val="02C39A"/>
                </a:solidFill>
                <a:latin typeface="Courier New" pitchFamily="34" charset="0"/>
                <a:ea typeface="Courier New" pitchFamily="34" charset="-122"/>
                <a:cs typeface="Courier New" pitchFamily="34" charset="-120"/>
              </a:rPr>
              <a:t xml:space="preserve">  … complaint text …</a:t>
            </a:r>
            <a:endParaRPr lang="en-US" sz="1200" dirty="0"/>
          </a:p>
          <a:p>
            <a:pPr indent="0" marL="0">
              <a:lnSpc>
                <a:spcPct val="118000"/>
              </a:lnSpc>
              <a:buNone/>
            </a:pPr>
            <a:r>
              <a:rPr lang="en-US" sz="1200" dirty="0">
                <a:solidFill>
                  <a:srgbClr val="02C39A"/>
                </a:solidFill>
                <a:latin typeface="Courier New" pitchFamily="34" charset="0"/>
                <a:ea typeface="Courier New" pitchFamily="34" charset="-122"/>
                <a:cs typeface="Courier New" pitchFamily="34" charset="-120"/>
              </a:rPr>
              <a:t>&lt;/document&gt;</a:t>
            </a:r>
            <a:endParaRPr lang="en-US" sz="1200" dirty="0"/>
          </a:p>
        </p:txBody>
      </p:sp>
      <p:sp>
        <p:nvSpPr>
          <p:cNvPr id="14" name="Shape 12"/>
          <p:cNvSpPr/>
          <p:nvPr/>
        </p:nvSpPr>
        <p:spPr>
          <a:xfrm>
            <a:off x="6455664" y="1737360"/>
            <a:ext cx="164592" cy="164592"/>
          </a:xfrm>
          <a:prstGeom prst="ellipse">
            <a:avLst/>
          </a:prstGeom>
          <a:solidFill>
            <a:srgbClr val="02C39A"/>
          </a:solidFill>
          <a:ln w="12700">
            <a:solidFill>
              <a:srgbClr val="02C39A"/>
            </a:solidFill>
            <a:prstDash val="solid"/>
          </a:ln>
        </p:spPr>
      </p:sp>
      <p:sp>
        <p:nvSpPr>
          <p:cNvPr id="15" name="Text 13"/>
          <p:cNvSpPr txBox="1"/>
          <p:nvPr/>
        </p:nvSpPr>
        <p:spPr>
          <a:xfrm>
            <a:off x="6766560" y="1645920"/>
            <a:ext cx="475488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Injection resistance</a:t>
            </a:r>
            <a:endParaRPr lang="en-US" sz="1400" dirty="0"/>
          </a:p>
        </p:txBody>
      </p:sp>
      <p:sp>
        <p:nvSpPr>
          <p:cNvPr id="16" name="Text 14"/>
          <p:cNvSpPr txBox="1"/>
          <p:nvPr/>
        </p:nvSpPr>
        <p:spPr>
          <a:xfrm>
            <a:off x="6766560" y="1920240"/>
            <a:ext cx="4773168" cy="658368"/>
          </a:xfrm>
          <a:prstGeom prst="rect">
            <a:avLst/>
          </a:prstGeom>
          <a:noFill/>
          <a:ln/>
        </p:spPr>
        <p:txBody>
          <a:bodyPr wrap="square" lIns="0" tIns="0" rIns="0" bIns="0" rtlCol="0" anchor="ctr"/>
          <a:lstStyle/>
          <a:p>
            <a:pPr indent="0" marL="0">
              <a:lnSpc>
                <a:spcPct val="120000"/>
              </a:lnSpc>
              <a:buNone/>
            </a:pPr>
            <a:r>
              <a:rPr lang="en-US" sz="1200" dirty="0">
                <a:solidFill>
                  <a:srgbClr val="9DB4BE"/>
                </a:solidFill>
                <a:latin typeface="Calibri" pitchFamily="34" charset="0"/>
                <a:ea typeface="Calibri" pitchFamily="34" charset="-122"/>
                <a:cs typeface="Calibri" pitchFamily="34" charset="-120"/>
              </a:rPr>
              <a:t>A hostile document cannot rewrite the rules, because the rules are in a different message.</a:t>
            </a:r>
            <a:endParaRPr lang="en-US" sz="1200" dirty="0"/>
          </a:p>
        </p:txBody>
      </p:sp>
      <p:sp>
        <p:nvSpPr>
          <p:cNvPr id="17" name="Shape 15"/>
          <p:cNvSpPr/>
          <p:nvPr/>
        </p:nvSpPr>
        <p:spPr>
          <a:xfrm>
            <a:off x="6455664" y="2743200"/>
            <a:ext cx="164592" cy="164592"/>
          </a:xfrm>
          <a:prstGeom prst="ellipse">
            <a:avLst/>
          </a:prstGeom>
          <a:solidFill>
            <a:srgbClr val="02C39A"/>
          </a:solidFill>
          <a:ln w="12700">
            <a:solidFill>
              <a:srgbClr val="02C39A"/>
            </a:solidFill>
            <a:prstDash val="solid"/>
          </a:ln>
        </p:spPr>
      </p:sp>
      <p:sp>
        <p:nvSpPr>
          <p:cNvPr id="18" name="Text 16"/>
          <p:cNvSpPr txBox="1"/>
          <p:nvPr/>
        </p:nvSpPr>
        <p:spPr>
          <a:xfrm>
            <a:off x="6766560" y="2651760"/>
            <a:ext cx="475488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Actionable anti-hallucination</a:t>
            </a:r>
            <a:endParaRPr lang="en-US" sz="1400" dirty="0"/>
          </a:p>
        </p:txBody>
      </p:sp>
      <p:sp>
        <p:nvSpPr>
          <p:cNvPr id="19" name="Text 17"/>
          <p:cNvSpPr txBox="1"/>
          <p:nvPr/>
        </p:nvSpPr>
        <p:spPr>
          <a:xfrm>
            <a:off x="6766560" y="2926080"/>
            <a:ext cx="4773168" cy="658368"/>
          </a:xfrm>
          <a:prstGeom prst="rect">
            <a:avLst/>
          </a:prstGeom>
          <a:noFill/>
          <a:ln/>
        </p:spPr>
        <p:txBody>
          <a:bodyPr wrap="square" lIns="0" tIns="0" rIns="0" bIns="0" rtlCol="0" anchor="ctr"/>
          <a:lstStyle/>
          <a:p>
            <a:pPr indent="0" marL="0">
              <a:lnSpc>
                <a:spcPct val="120000"/>
              </a:lnSpc>
              <a:buNone/>
            </a:pPr>
            <a:r>
              <a:rPr lang="en-US" sz="1200" dirty="0">
                <a:solidFill>
                  <a:srgbClr val="9DB4BE"/>
                </a:solidFill>
                <a:latin typeface="Calibri" pitchFamily="34" charset="0"/>
                <a:ea typeface="Calibri" pitchFamily="34" charset="-122"/>
                <a:cs typeface="Calibri" pitchFamily="34" charset="-120"/>
              </a:rPr>
              <a:t>"Return null" maps onto something the model can actually do inside the schema — unlike "be accurate".</a:t>
            </a:r>
            <a:endParaRPr lang="en-US" sz="1200" dirty="0"/>
          </a:p>
        </p:txBody>
      </p:sp>
      <p:sp>
        <p:nvSpPr>
          <p:cNvPr id="20" name="Shape 18"/>
          <p:cNvSpPr/>
          <p:nvPr/>
        </p:nvSpPr>
        <p:spPr>
          <a:xfrm>
            <a:off x="6455664" y="3749040"/>
            <a:ext cx="164592" cy="164592"/>
          </a:xfrm>
          <a:prstGeom prst="ellipse">
            <a:avLst/>
          </a:prstGeom>
          <a:solidFill>
            <a:srgbClr val="02C39A"/>
          </a:solidFill>
          <a:ln w="12700">
            <a:solidFill>
              <a:srgbClr val="02C39A"/>
            </a:solidFill>
            <a:prstDash val="solid"/>
          </a:ln>
        </p:spPr>
      </p:sp>
      <p:sp>
        <p:nvSpPr>
          <p:cNvPr id="21" name="Text 19"/>
          <p:cNvSpPr txBox="1"/>
          <p:nvPr/>
        </p:nvSpPr>
        <p:spPr>
          <a:xfrm>
            <a:off x="6766560" y="3657600"/>
            <a:ext cx="475488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Grounded downstream tasks</a:t>
            </a:r>
            <a:endParaRPr lang="en-US" sz="1400" dirty="0"/>
          </a:p>
        </p:txBody>
      </p:sp>
      <p:sp>
        <p:nvSpPr>
          <p:cNvPr id="22" name="Text 20"/>
          <p:cNvSpPr txBox="1"/>
          <p:nvPr/>
        </p:nvSpPr>
        <p:spPr>
          <a:xfrm>
            <a:off x="6766560" y="3931920"/>
            <a:ext cx="4773168" cy="658368"/>
          </a:xfrm>
          <a:prstGeom prst="rect">
            <a:avLst/>
          </a:prstGeom>
          <a:noFill/>
          <a:ln/>
        </p:spPr>
        <p:txBody>
          <a:bodyPr wrap="square" lIns="0" tIns="0" rIns="0" bIns="0" rtlCol="0" anchor="ctr"/>
          <a:lstStyle/>
          <a:p>
            <a:pPr indent="0" marL="0">
              <a:lnSpc>
                <a:spcPct val="120000"/>
              </a:lnSpc>
              <a:buNone/>
            </a:pPr>
            <a:r>
              <a:rPr lang="en-US" sz="1200" dirty="0">
                <a:solidFill>
                  <a:srgbClr val="9DB4BE"/>
                </a:solidFill>
                <a:latin typeface="Calibri" pitchFamily="34" charset="0"/>
                <a:ea typeface="Calibri" pitchFamily="34" charset="-122"/>
                <a:cs typeface="Calibri" pitchFamily="34" charset="-120"/>
              </a:rPr>
              <a:t>The email and summary read the validated record, not the raw document, so a dropped field cannot reappear.</a:t>
            </a:r>
            <a:endParaRPr lang="en-US" sz="1200" dirty="0"/>
          </a:p>
        </p:txBody>
      </p:sp>
      <p:sp>
        <p:nvSpPr>
          <p:cNvPr id="23" name="Shape 21"/>
          <p:cNvSpPr/>
          <p:nvPr/>
        </p:nvSpPr>
        <p:spPr>
          <a:xfrm>
            <a:off x="6455664" y="4754880"/>
            <a:ext cx="164592" cy="164592"/>
          </a:xfrm>
          <a:prstGeom prst="ellipse">
            <a:avLst/>
          </a:prstGeom>
          <a:solidFill>
            <a:srgbClr val="02C39A"/>
          </a:solidFill>
          <a:ln w="12700">
            <a:solidFill>
              <a:srgbClr val="02C39A"/>
            </a:solidFill>
            <a:prstDash val="solid"/>
          </a:ln>
        </p:spPr>
      </p:sp>
      <p:sp>
        <p:nvSpPr>
          <p:cNvPr id="24" name="Text 22"/>
          <p:cNvSpPr txBox="1"/>
          <p:nvPr/>
        </p:nvSpPr>
        <p:spPr>
          <a:xfrm>
            <a:off x="6766560" y="4663440"/>
            <a:ext cx="475488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Independently tunable</a:t>
            </a:r>
            <a:endParaRPr lang="en-US" sz="1400" dirty="0"/>
          </a:p>
        </p:txBody>
      </p:sp>
      <p:sp>
        <p:nvSpPr>
          <p:cNvPr id="25" name="Text 23"/>
          <p:cNvSpPr txBox="1"/>
          <p:nvPr/>
        </p:nvSpPr>
        <p:spPr>
          <a:xfrm>
            <a:off x="6766560" y="4937760"/>
            <a:ext cx="4773168" cy="658368"/>
          </a:xfrm>
          <a:prstGeom prst="rect">
            <a:avLst/>
          </a:prstGeom>
          <a:noFill/>
          <a:ln/>
        </p:spPr>
        <p:txBody>
          <a:bodyPr wrap="square" lIns="0" tIns="0" rIns="0" bIns="0" rtlCol="0" anchor="ctr"/>
          <a:lstStyle/>
          <a:p>
            <a:pPr indent="0" marL="0">
              <a:lnSpc>
                <a:spcPct val="120000"/>
              </a:lnSpc>
              <a:buNone/>
            </a:pPr>
            <a:r>
              <a:rPr lang="en-US" sz="1200" dirty="0">
                <a:solidFill>
                  <a:srgbClr val="9DB4BE"/>
                </a:solidFill>
                <a:latin typeface="Calibri" pitchFamily="34" charset="0"/>
                <a:ea typeface="Calibri" pitchFamily="34" charset="-122"/>
                <a:cs typeface="Calibri" pitchFamily="34" charset="-120"/>
              </a:rPr>
              <a:t>Prompts live in prompts/, so they can be iterated without touching workflow code.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02336"/>
            <a:ext cx="10874959" cy="237744"/>
          </a:xfrm>
          <a:prstGeom prst="rect">
            <a:avLst/>
          </a:prstGeom>
          <a:noFill/>
          <a:ln/>
        </p:spPr>
        <p:txBody>
          <a:bodyPr wrap="square" lIns="0" tIns="0" rIns="0" bIns="0" rtlCol="0" anchor="ctr"/>
          <a:lstStyle/>
          <a:p>
            <a:pPr indent="0" marL="0">
              <a:buNone/>
            </a:pPr>
            <a:r>
              <a:rPr lang="en-US" sz="1100" b="1" spc="160" kern="0" dirty="0">
                <a:solidFill>
                  <a:srgbClr val="028090"/>
                </a:solidFill>
                <a:latin typeface="Calibri" pitchFamily="34" charset="0"/>
                <a:ea typeface="Calibri" pitchFamily="34" charset="-122"/>
                <a:cs typeface="Calibri" pitchFamily="34" charset="-120"/>
              </a:rPr>
              <a:t>MODULARITY</a:t>
            </a:r>
            <a:endParaRPr lang="en-US" sz="1100" dirty="0"/>
          </a:p>
        </p:txBody>
      </p:sp>
      <p:sp>
        <p:nvSpPr>
          <p:cNvPr id="3" name="Text 1"/>
          <p:cNvSpPr txBox="1"/>
          <p:nvPr/>
        </p:nvSpPr>
        <p:spPr>
          <a:xfrm>
            <a:off x="658368" y="658368"/>
            <a:ext cx="10874959" cy="658368"/>
          </a:xfrm>
          <a:prstGeom prst="rect">
            <a:avLst/>
          </a:prstGeom>
          <a:noFill/>
          <a:ln/>
        </p:spPr>
        <p:txBody>
          <a:bodyPr wrap="square" lIns="0" tIns="0" rIns="0" bIns="0" rtlCol="0" anchor="t"/>
          <a:lstStyle/>
          <a:p>
            <a:pPr indent="0" marL="0">
              <a:buNone/>
            </a:pPr>
            <a:r>
              <a:rPr lang="en-US" sz="3200" b="1" dirty="0">
                <a:solidFill>
                  <a:srgbClr val="172A33"/>
                </a:solidFill>
                <a:latin typeface="Cambria" pitchFamily="34" charset="0"/>
                <a:ea typeface="Cambria" pitchFamily="34" charset="-122"/>
                <a:cs typeface="Cambria" pitchFamily="34" charset="-120"/>
              </a:rPr>
              <a:t>One interface, three interchangeable backends</a:t>
            </a:r>
            <a:endParaRPr lang="en-US" sz="3200" dirty="0"/>
          </a:p>
        </p:txBody>
      </p:sp>
      <p:sp>
        <p:nvSpPr>
          <p:cNvPr id="4" name="Text 2"/>
          <p:cNvSpPr txBox="1"/>
          <p:nvPr/>
        </p:nvSpPr>
        <p:spPr>
          <a:xfrm>
            <a:off x="10984687" y="6382512"/>
            <a:ext cx="548640" cy="256032"/>
          </a:xfrm>
          <a:prstGeom prst="rect">
            <a:avLst/>
          </a:prstGeom>
          <a:noFill/>
          <a:ln/>
        </p:spPr>
        <p:txBody>
          <a:bodyPr wrap="square" lIns="0" tIns="0" rIns="0" bIns="0" rtlCol="0" anchor="ctr"/>
          <a:lstStyle/>
          <a:p>
            <a:pPr algn="r" indent="0" marL="0">
              <a:buNone/>
            </a:pPr>
            <a:r>
              <a:rPr lang="en-US" sz="1000" dirty="0">
                <a:solidFill>
                  <a:srgbClr val="5D7480"/>
                </a:solidFill>
                <a:latin typeface="Calibri" pitchFamily="34" charset="0"/>
                <a:ea typeface="Calibri" pitchFamily="34" charset="-122"/>
                <a:cs typeface="Calibri" pitchFamily="34" charset="-120"/>
              </a:rPr>
              <a:t>8</a:t>
            </a:r>
            <a:endParaRPr lang="en-US" sz="1000" dirty="0"/>
          </a:p>
        </p:txBody>
      </p:sp>
      <p:sp>
        <p:nvSpPr>
          <p:cNvPr id="5" name="Text 3"/>
          <p:cNvSpPr txBox="1"/>
          <p:nvPr/>
        </p:nvSpPr>
        <p:spPr>
          <a:xfrm>
            <a:off x="658368" y="6382512"/>
            <a:ext cx="6858000" cy="256032"/>
          </a:xfrm>
          <a:prstGeom prst="rect">
            <a:avLst/>
          </a:prstGeom>
          <a:noFill/>
          <a:ln/>
        </p:spPr>
        <p:txBody>
          <a:bodyPr wrap="square" lIns="0" tIns="0" rIns="0" bIns="0" rtlCol="0" anchor="ctr"/>
          <a:lstStyle/>
          <a:p>
            <a:pPr indent="0" marL="0">
              <a:buNone/>
            </a:pPr>
            <a:r>
              <a:rPr lang="en-US" sz="1000" dirty="0">
                <a:solidFill>
                  <a:srgbClr val="5D7480"/>
                </a:solidFill>
                <a:latin typeface="Calibri" pitchFamily="34" charset="0"/>
                <a:ea typeface="Calibri" pitchFamily="34" charset="-122"/>
                <a:cs typeface="Calibri" pitchFamily="34" charset="-120"/>
              </a:rPr>
              <a:t>AI Customer Complaint &amp; Case Processing System</a:t>
            </a:r>
            <a:endParaRPr lang="en-US" sz="1000" dirty="0"/>
          </a:p>
        </p:txBody>
      </p:sp>
      <p:sp>
        <p:nvSpPr>
          <p:cNvPr id="6" name="Shape 4"/>
          <p:cNvSpPr/>
          <p:nvPr/>
        </p:nvSpPr>
        <p:spPr>
          <a:xfrm>
            <a:off x="3566160" y="1645920"/>
            <a:ext cx="5074920" cy="969264"/>
          </a:xfrm>
          <a:prstGeom prst="roundRect">
            <a:avLst>
              <a:gd name="adj" fmla="val 5660"/>
            </a:avLst>
          </a:prstGeom>
          <a:solidFill>
            <a:srgbClr val="10222E"/>
          </a:solidFill>
          <a:ln w="12700">
            <a:solidFill>
              <a:srgbClr val="10222E"/>
            </a:solidFill>
            <a:prstDash val="solid"/>
          </a:ln>
        </p:spPr>
      </p:sp>
      <p:sp>
        <p:nvSpPr>
          <p:cNvPr id="7" name="Text 5"/>
          <p:cNvSpPr txBox="1"/>
          <p:nvPr/>
        </p:nvSpPr>
        <p:spPr>
          <a:xfrm>
            <a:off x="3566160" y="1792224"/>
            <a:ext cx="5074920" cy="329184"/>
          </a:xfrm>
          <a:prstGeom prst="rect">
            <a:avLst/>
          </a:prstGeom>
          <a:no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LLMClient</a:t>
            </a:r>
            <a:endParaRPr lang="en-US" sz="1700" dirty="0"/>
          </a:p>
        </p:txBody>
      </p:sp>
      <p:sp>
        <p:nvSpPr>
          <p:cNvPr id="8" name="Text 6"/>
          <p:cNvSpPr txBox="1"/>
          <p:nvPr/>
        </p:nvSpPr>
        <p:spPr>
          <a:xfrm>
            <a:off x="3566160" y="2139696"/>
            <a:ext cx="5074920" cy="274320"/>
          </a:xfrm>
          <a:prstGeom prst="rect">
            <a:avLst/>
          </a:prstGeom>
          <a:noFill/>
          <a:ln/>
        </p:spPr>
        <p:txBody>
          <a:bodyPr wrap="square" lIns="0" tIns="0" rIns="0" bIns="0" rtlCol="0" anchor="ctr"/>
          <a:lstStyle/>
          <a:p>
            <a:pPr algn="ctr" indent="0" marL="0">
              <a:buNone/>
            </a:pPr>
            <a:r>
              <a:rPr lang="en-US" sz="1150" dirty="0">
                <a:solidFill>
                  <a:srgbClr val="02C39A"/>
                </a:solidFill>
                <a:latin typeface="Courier New" pitchFamily="34" charset="0"/>
                <a:ea typeface="Courier New" pitchFamily="34" charset="-122"/>
                <a:cs typeface="Courier New" pitchFamily="34" charset="-120"/>
              </a:rPr>
              <a:t>generate_structured(system, user, schema) → validated object</a:t>
            </a:r>
            <a:endParaRPr lang="en-US" sz="1150" dirty="0"/>
          </a:p>
        </p:txBody>
      </p:sp>
      <p:sp>
        <p:nvSpPr>
          <p:cNvPr id="9" name="Text 7"/>
          <p:cNvSpPr txBox="1"/>
          <p:nvPr/>
        </p:nvSpPr>
        <p:spPr>
          <a:xfrm>
            <a:off x="2212848" y="2670048"/>
            <a:ext cx="274320" cy="237744"/>
          </a:xfrm>
          <a:prstGeom prst="rect">
            <a:avLst/>
          </a:prstGeom>
          <a:noFill/>
          <a:ln/>
        </p:spPr>
        <p:txBody>
          <a:bodyPr wrap="square" lIns="0" tIns="0" rIns="0" bIns="0" rtlCol="0" anchor="ctr"/>
          <a:lstStyle/>
          <a:p>
            <a:pPr algn="ctr" indent="0" marL="0">
              <a:buNone/>
            </a:pPr>
            <a:r>
              <a:rPr lang="en-US" sz="1200" dirty="0">
                <a:solidFill>
                  <a:srgbClr val="9DB4BE"/>
                </a:solidFill>
                <a:latin typeface="Calibri" pitchFamily="34" charset="0"/>
                <a:ea typeface="Calibri" pitchFamily="34" charset="-122"/>
                <a:cs typeface="Calibri" pitchFamily="34" charset="-120"/>
              </a:rPr>
              <a:t>│</a:t>
            </a:r>
            <a:endParaRPr lang="en-US" sz="1200" dirty="0"/>
          </a:p>
        </p:txBody>
      </p:sp>
      <p:sp>
        <p:nvSpPr>
          <p:cNvPr id="10" name="Shape 8"/>
          <p:cNvSpPr/>
          <p:nvPr/>
        </p:nvSpPr>
        <p:spPr>
          <a:xfrm>
            <a:off x="658368" y="2962656"/>
            <a:ext cx="3429000" cy="1700784"/>
          </a:xfrm>
          <a:prstGeom prst="roundRect">
            <a:avLst>
              <a:gd name="adj" fmla="val 3226"/>
            </a:avLst>
          </a:prstGeom>
          <a:solidFill>
            <a:srgbClr val="F1F5F7"/>
          </a:solidFill>
          <a:ln w="12700">
            <a:solidFill>
              <a:srgbClr val="F1F5F7"/>
            </a:solidFill>
            <a:prstDash val="solid"/>
          </a:ln>
        </p:spPr>
      </p:sp>
      <p:sp>
        <p:nvSpPr>
          <p:cNvPr id="11" name="Shape 9"/>
          <p:cNvSpPr/>
          <p:nvPr/>
        </p:nvSpPr>
        <p:spPr>
          <a:xfrm>
            <a:off x="932688" y="3200400"/>
            <a:ext cx="329184" cy="329184"/>
          </a:xfrm>
          <a:prstGeom prst="ellipse">
            <a:avLst/>
          </a:prstGeom>
          <a:solidFill>
            <a:srgbClr val="028090"/>
          </a:solidFill>
          <a:ln w="12700">
            <a:solidFill>
              <a:srgbClr val="028090"/>
            </a:solidFill>
            <a:prstDash val="solid"/>
          </a:ln>
        </p:spPr>
      </p:sp>
      <p:sp>
        <p:nvSpPr>
          <p:cNvPr id="12" name="Text 10"/>
          <p:cNvSpPr txBox="1"/>
          <p:nvPr/>
        </p:nvSpPr>
        <p:spPr>
          <a:xfrm>
            <a:off x="1371600" y="3200400"/>
            <a:ext cx="2468880" cy="310896"/>
          </a:xfrm>
          <a:prstGeom prst="rect">
            <a:avLst/>
          </a:prstGeom>
          <a:noFill/>
          <a:ln/>
        </p:spPr>
        <p:txBody>
          <a:bodyPr wrap="square" lIns="0" tIns="0" rIns="0" bIns="0" rtlCol="0" anchor="ctr"/>
          <a:lstStyle/>
          <a:p>
            <a:pPr indent="0" marL="0">
              <a:buNone/>
            </a:pPr>
            <a:r>
              <a:rPr lang="en-US" sz="1600" b="1" dirty="0">
                <a:solidFill>
                  <a:srgbClr val="172A33"/>
                </a:solidFill>
                <a:latin typeface="Cambria" pitchFamily="34" charset="0"/>
                <a:ea typeface="Cambria" pitchFamily="34" charset="-122"/>
                <a:cs typeface="Cambria" pitchFamily="34" charset="-120"/>
              </a:rPr>
              <a:t>OpenAI</a:t>
            </a:r>
            <a:endParaRPr lang="en-US" sz="1600" dirty="0"/>
          </a:p>
        </p:txBody>
      </p:sp>
      <p:sp>
        <p:nvSpPr>
          <p:cNvPr id="13" name="Text 11"/>
          <p:cNvSpPr txBox="1"/>
          <p:nvPr/>
        </p:nvSpPr>
        <p:spPr>
          <a:xfrm>
            <a:off x="932688" y="3621024"/>
            <a:ext cx="2880360" cy="256032"/>
          </a:xfrm>
          <a:prstGeom prst="rect">
            <a:avLst/>
          </a:prstGeom>
          <a:noFill/>
          <a:ln/>
        </p:spPr>
        <p:txBody>
          <a:bodyPr wrap="square" lIns="0" tIns="0" rIns="0" bIns="0" rtlCol="0" anchor="ctr"/>
          <a:lstStyle/>
          <a:p>
            <a:pPr indent="0" marL="0">
              <a:buNone/>
            </a:pPr>
            <a:r>
              <a:rPr lang="en-US" sz="1150" b="1" dirty="0">
                <a:solidFill>
                  <a:srgbClr val="028090"/>
                </a:solidFill>
                <a:latin typeface="Courier New" pitchFamily="34" charset="0"/>
                <a:ea typeface="Courier New" pitchFamily="34" charset="-122"/>
                <a:cs typeface="Courier New" pitchFamily="34" charset="-120"/>
              </a:rPr>
              <a:t>gpt-4o-mini</a:t>
            </a:r>
            <a:endParaRPr lang="en-US" sz="1150" dirty="0"/>
          </a:p>
        </p:txBody>
      </p:sp>
      <p:sp>
        <p:nvSpPr>
          <p:cNvPr id="14" name="Text 12"/>
          <p:cNvSpPr txBox="1"/>
          <p:nvPr/>
        </p:nvSpPr>
        <p:spPr>
          <a:xfrm>
            <a:off x="932688" y="3895344"/>
            <a:ext cx="2880360" cy="640080"/>
          </a:xfrm>
          <a:prstGeom prst="rect">
            <a:avLst/>
          </a:prstGeom>
          <a:noFill/>
          <a:ln/>
        </p:spPr>
        <p:txBody>
          <a:bodyPr wrap="square" lIns="0" tIns="0" rIns="0" bIns="0" rtlCol="0" anchor="ctr"/>
          <a:lstStyle/>
          <a:p>
            <a:pPr indent="0" marL="0">
              <a:lnSpc>
                <a:spcPct val="116000"/>
              </a:lnSpc>
              <a:buNone/>
            </a:pPr>
            <a:r>
              <a:rPr lang="en-US" sz="1150" dirty="0">
                <a:solidFill>
                  <a:srgbClr val="5D7480"/>
                </a:solidFill>
                <a:latin typeface="Calibri" pitchFamily="34" charset="0"/>
                <a:ea typeface="Calibri" pitchFamily="34" charset="-122"/>
                <a:cs typeface="Calibri" pitchFamily="34" charset="-120"/>
              </a:rPr>
              <a:t>chat.completions.parse with a strict JSON schema</a:t>
            </a:r>
            <a:endParaRPr lang="en-US" sz="1150" dirty="0"/>
          </a:p>
        </p:txBody>
      </p:sp>
      <p:sp>
        <p:nvSpPr>
          <p:cNvPr id="15" name="Text 13"/>
          <p:cNvSpPr txBox="1"/>
          <p:nvPr/>
        </p:nvSpPr>
        <p:spPr>
          <a:xfrm>
            <a:off x="5934456" y="2670048"/>
            <a:ext cx="274320" cy="237744"/>
          </a:xfrm>
          <a:prstGeom prst="rect">
            <a:avLst/>
          </a:prstGeom>
          <a:noFill/>
          <a:ln/>
        </p:spPr>
        <p:txBody>
          <a:bodyPr wrap="square" lIns="0" tIns="0" rIns="0" bIns="0" rtlCol="0" anchor="ctr"/>
          <a:lstStyle/>
          <a:p>
            <a:pPr algn="ctr" indent="0" marL="0">
              <a:buNone/>
            </a:pPr>
            <a:r>
              <a:rPr lang="en-US" sz="1200" dirty="0">
                <a:solidFill>
                  <a:srgbClr val="9DB4BE"/>
                </a:solidFill>
                <a:latin typeface="Calibri" pitchFamily="34" charset="0"/>
                <a:ea typeface="Calibri" pitchFamily="34" charset="-122"/>
                <a:cs typeface="Calibri" pitchFamily="34" charset="-120"/>
              </a:rPr>
              <a:t>│</a:t>
            </a:r>
            <a:endParaRPr lang="en-US" sz="1200" dirty="0"/>
          </a:p>
        </p:txBody>
      </p:sp>
      <p:sp>
        <p:nvSpPr>
          <p:cNvPr id="16" name="Shape 14"/>
          <p:cNvSpPr/>
          <p:nvPr/>
        </p:nvSpPr>
        <p:spPr>
          <a:xfrm>
            <a:off x="4379976" y="2962656"/>
            <a:ext cx="3429000" cy="1700784"/>
          </a:xfrm>
          <a:prstGeom prst="roundRect">
            <a:avLst>
              <a:gd name="adj" fmla="val 3226"/>
            </a:avLst>
          </a:prstGeom>
          <a:solidFill>
            <a:srgbClr val="F1F5F7"/>
          </a:solidFill>
          <a:ln w="12700">
            <a:solidFill>
              <a:srgbClr val="F1F5F7"/>
            </a:solidFill>
            <a:prstDash val="solid"/>
          </a:ln>
        </p:spPr>
      </p:sp>
      <p:sp>
        <p:nvSpPr>
          <p:cNvPr id="17" name="Shape 15"/>
          <p:cNvSpPr/>
          <p:nvPr/>
        </p:nvSpPr>
        <p:spPr>
          <a:xfrm>
            <a:off x="4654296" y="3200400"/>
            <a:ext cx="329184" cy="329184"/>
          </a:xfrm>
          <a:prstGeom prst="ellipse">
            <a:avLst/>
          </a:prstGeom>
          <a:solidFill>
            <a:srgbClr val="00A896"/>
          </a:solidFill>
          <a:ln w="12700">
            <a:solidFill>
              <a:srgbClr val="00A896"/>
            </a:solidFill>
            <a:prstDash val="solid"/>
          </a:ln>
        </p:spPr>
      </p:sp>
      <p:sp>
        <p:nvSpPr>
          <p:cNvPr id="18" name="Text 16"/>
          <p:cNvSpPr txBox="1"/>
          <p:nvPr/>
        </p:nvSpPr>
        <p:spPr>
          <a:xfrm>
            <a:off x="5093208" y="3200400"/>
            <a:ext cx="2468880" cy="310896"/>
          </a:xfrm>
          <a:prstGeom prst="rect">
            <a:avLst/>
          </a:prstGeom>
          <a:noFill/>
          <a:ln/>
        </p:spPr>
        <p:txBody>
          <a:bodyPr wrap="square" lIns="0" tIns="0" rIns="0" bIns="0" rtlCol="0" anchor="ctr"/>
          <a:lstStyle/>
          <a:p>
            <a:pPr indent="0" marL="0">
              <a:buNone/>
            </a:pPr>
            <a:r>
              <a:rPr lang="en-US" sz="1600" b="1" dirty="0">
                <a:solidFill>
                  <a:srgbClr val="172A33"/>
                </a:solidFill>
                <a:latin typeface="Cambria" pitchFamily="34" charset="0"/>
                <a:ea typeface="Cambria" pitchFamily="34" charset="-122"/>
                <a:cs typeface="Cambria" pitchFamily="34" charset="-120"/>
              </a:rPr>
              <a:t>Gemini</a:t>
            </a:r>
            <a:endParaRPr lang="en-US" sz="1600" dirty="0"/>
          </a:p>
        </p:txBody>
      </p:sp>
      <p:sp>
        <p:nvSpPr>
          <p:cNvPr id="19" name="Text 17"/>
          <p:cNvSpPr txBox="1"/>
          <p:nvPr/>
        </p:nvSpPr>
        <p:spPr>
          <a:xfrm>
            <a:off x="4654296" y="3621024"/>
            <a:ext cx="2880360" cy="256032"/>
          </a:xfrm>
          <a:prstGeom prst="rect">
            <a:avLst/>
          </a:prstGeom>
          <a:noFill/>
          <a:ln/>
        </p:spPr>
        <p:txBody>
          <a:bodyPr wrap="square" lIns="0" tIns="0" rIns="0" bIns="0" rtlCol="0" anchor="ctr"/>
          <a:lstStyle/>
          <a:p>
            <a:pPr indent="0" marL="0">
              <a:buNone/>
            </a:pPr>
            <a:r>
              <a:rPr lang="en-US" sz="1150" b="1" dirty="0">
                <a:solidFill>
                  <a:srgbClr val="00A896"/>
                </a:solidFill>
                <a:latin typeface="Courier New" pitchFamily="34" charset="0"/>
                <a:ea typeface="Courier New" pitchFamily="34" charset="-122"/>
                <a:cs typeface="Courier New" pitchFamily="34" charset="-120"/>
              </a:rPr>
              <a:t>gemini-2.0-flash</a:t>
            </a:r>
            <a:endParaRPr lang="en-US" sz="1150" dirty="0"/>
          </a:p>
        </p:txBody>
      </p:sp>
      <p:sp>
        <p:nvSpPr>
          <p:cNvPr id="20" name="Text 18"/>
          <p:cNvSpPr txBox="1"/>
          <p:nvPr/>
        </p:nvSpPr>
        <p:spPr>
          <a:xfrm>
            <a:off x="4654296" y="3895344"/>
            <a:ext cx="2880360" cy="640080"/>
          </a:xfrm>
          <a:prstGeom prst="rect">
            <a:avLst/>
          </a:prstGeom>
          <a:noFill/>
          <a:ln/>
        </p:spPr>
        <p:txBody>
          <a:bodyPr wrap="square" lIns="0" tIns="0" rIns="0" bIns="0" rtlCol="0" anchor="ctr"/>
          <a:lstStyle/>
          <a:p>
            <a:pPr indent="0" marL="0">
              <a:lnSpc>
                <a:spcPct val="116000"/>
              </a:lnSpc>
              <a:buNone/>
            </a:pPr>
            <a:r>
              <a:rPr lang="en-US" sz="1150" dirty="0">
                <a:solidFill>
                  <a:srgbClr val="5D7480"/>
                </a:solidFill>
                <a:latin typeface="Calibri" pitchFamily="34" charset="0"/>
                <a:ea typeface="Calibri" pitchFamily="34" charset="-122"/>
                <a:cs typeface="Calibri" pitchFamily="34" charset="-120"/>
              </a:rPr>
              <a:t>response_schema constrained decoding</a:t>
            </a:r>
            <a:endParaRPr lang="en-US" sz="1150" dirty="0"/>
          </a:p>
        </p:txBody>
      </p:sp>
      <p:sp>
        <p:nvSpPr>
          <p:cNvPr id="21" name="Text 19"/>
          <p:cNvSpPr txBox="1"/>
          <p:nvPr/>
        </p:nvSpPr>
        <p:spPr>
          <a:xfrm>
            <a:off x="9656064" y="2670048"/>
            <a:ext cx="274320" cy="237744"/>
          </a:xfrm>
          <a:prstGeom prst="rect">
            <a:avLst/>
          </a:prstGeom>
          <a:noFill/>
          <a:ln/>
        </p:spPr>
        <p:txBody>
          <a:bodyPr wrap="square" lIns="0" tIns="0" rIns="0" bIns="0" rtlCol="0" anchor="ctr"/>
          <a:lstStyle/>
          <a:p>
            <a:pPr algn="ctr" indent="0" marL="0">
              <a:buNone/>
            </a:pPr>
            <a:r>
              <a:rPr lang="en-US" sz="1200" dirty="0">
                <a:solidFill>
                  <a:srgbClr val="9DB4BE"/>
                </a:solidFill>
                <a:latin typeface="Calibri" pitchFamily="34" charset="0"/>
                <a:ea typeface="Calibri" pitchFamily="34" charset="-122"/>
                <a:cs typeface="Calibri" pitchFamily="34" charset="-120"/>
              </a:rPr>
              <a:t>│</a:t>
            </a:r>
            <a:endParaRPr lang="en-US" sz="1200" dirty="0"/>
          </a:p>
        </p:txBody>
      </p:sp>
      <p:sp>
        <p:nvSpPr>
          <p:cNvPr id="22" name="Shape 20"/>
          <p:cNvSpPr/>
          <p:nvPr/>
        </p:nvSpPr>
        <p:spPr>
          <a:xfrm>
            <a:off x="8101584" y="2962656"/>
            <a:ext cx="3429000" cy="1700784"/>
          </a:xfrm>
          <a:prstGeom prst="roundRect">
            <a:avLst>
              <a:gd name="adj" fmla="val 3226"/>
            </a:avLst>
          </a:prstGeom>
          <a:solidFill>
            <a:srgbClr val="F1F5F7"/>
          </a:solidFill>
          <a:ln w="12700">
            <a:solidFill>
              <a:srgbClr val="F1F5F7"/>
            </a:solidFill>
            <a:prstDash val="solid"/>
          </a:ln>
        </p:spPr>
      </p:sp>
      <p:sp>
        <p:nvSpPr>
          <p:cNvPr id="23" name="Shape 21"/>
          <p:cNvSpPr/>
          <p:nvPr/>
        </p:nvSpPr>
        <p:spPr>
          <a:xfrm>
            <a:off x="8375904" y="3200400"/>
            <a:ext cx="329184" cy="329184"/>
          </a:xfrm>
          <a:prstGeom prst="ellipse">
            <a:avLst/>
          </a:prstGeom>
          <a:solidFill>
            <a:srgbClr val="02C39A"/>
          </a:solidFill>
          <a:ln w="12700">
            <a:solidFill>
              <a:srgbClr val="02C39A"/>
            </a:solidFill>
            <a:prstDash val="solid"/>
          </a:ln>
        </p:spPr>
      </p:sp>
      <p:sp>
        <p:nvSpPr>
          <p:cNvPr id="24" name="Text 22"/>
          <p:cNvSpPr txBox="1"/>
          <p:nvPr/>
        </p:nvSpPr>
        <p:spPr>
          <a:xfrm>
            <a:off x="8814816" y="3200400"/>
            <a:ext cx="2468880" cy="310896"/>
          </a:xfrm>
          <a:prstGeom prst="rect">
            <a:avLst/>
          </a:prstGeom>
          <a:noFill/>
          <a:ln/>
        </p:spPr>
        <p:txBody>
          <a:bodyPr wrap="square" lIns="0" tIns="0" rIns="0" bIns="0" rtlCol="0" anchor="ctr"/>
          <a:lstStyle/>
          <a:p>
            <a:pPr indent="0" marL="0">
              <a:buNone/>
            </a:pPr>
            <a:r>
              <a:rPr lang="en-US" sz="1600" b="1" dirty="0">
                <a:solidFill>
                  <a:srgbClr val="172A33"/>
                </a:solidFill>
                <a:latin typeface="Cambria" pitchFamily="34" charset="0"/>
                <a:ea typeface="Cambria" pitchFamily="34" charset="-122"/>
                <a:cs typeface="Cambria" pitchFamily="34" charset="-120"/>
              </a:rPr>
              <a:t>Mock</a:t>
            </a:r>
            <a:endParaRPr lang="en-US" sz="1600" dirty="0"/>
          </a:p>
        </p:txBody>
      </p:sp>
      <p:sp>
        <p:nvSpPr>
          <p:cNvPr id="25" name="Text 23"/>
          <p:cNvSpPr txBox="1"/>
          <p:nvPr/>
        </p:nvSpPr>
        <p:spPr>
          <a:xfrm>
            <a:off x="8375904" y="3621024"/>
            <a:ext cx="2880360" cy="256032"/>
          </a:xfrm>
          <a:prstGeom prst="rect">
            <a:avLst/>
          </a:prstGeom>
          <a:noFill/>
          <a:ln/>
        </p:spPr>
        <p:txBody>
          <a:bodyPr wrap="square" lIns="0" tIns="0" rIns="0" bIns="0" rtlCol="0" anchor="ctr"/>
          <a:lstStyle/>
          <a:p>
            <a:pPr indent="0" marL="0">
              <a:buNone/>
            </a:pPr>
            <a:r>
              <a:rPr lang="en-US" sz="1150" b="1" dirty="0">
                <a:solidFill>
                  <a:srgbClr val="02C39A"/>
                </a:solidFill>
                <a:latin typeface="Courier New" pitchFamily="34" charset="0"/>
                <a:ea typeface="Courier New" pitchFamily="34" charset="-122"/>
                <a:cs typeface="Courier New" pitchFamily="34" charset="-120"/>
              </a:rPr>
              <a:t>offline · rule-based</a:t>
            </a:r>
            <a:endParaRPr lang="en-US" sz="1150" dirty="0"/>
          </a:p>
        </p:txBody>
      </p:sp>
      <p:sp>
        <p:nvSpPr>
          <p:cNvPr id="26" name="Text 24"/>
          <p:cNvSpPr txBox="1"/>
          <p:nvPr/>
        </p:nvSpPr>
        <p:spPr>
          <a:xfrm>
            <a:off x="8375904" y="3895344"/>
            <a:ext cx="2880360" cy="640080"/>
          </a:xfrm>
          <a:prstGeom prst="rect">
            <a:avLst/>
          </a:prstGeom>
          <a:noFill/>
          <a:ln/>
        </p:spPr>
        <p:txBody>
          <a:bodyPr wrap="square" lIns="0" tIns="0" rIns="0" bIns="0" rtlCol="0" anchor="ctr"/>
          <a:lstStyle/>
          <a:p>
            <a:pPr indent="0" marL="0">
              <a:lnSpc>
                <a:spcPct val="116000"/>
              </a:lnSpc>
              <a:buNone/>
            </a:pPr>
            <a:r>
              <a:rPr lang="en-US" sz="1150" dirty="0">
                <a:solidFill>
                  <a:srgbClr val="5D7480"/>
                </a:solidFill>
                <a:latin typeface="Calibri" pitchFamily="34" charset="0"/>
                <a:ea typeface="Calibri" pitchFamily="34" charset="-122"/>
                <a:cs typeface="Calibri" pitchFamily="34" charset="-120"/>
              </a:rPr>
              <a:t>Runs the whole pipeline with no API key and no spend</a:t>
            </a:r>
            <a:endParaRPr lang="en-US" sz="1150" dirty="0"/>
          </a:p>
        </p:txBody>
      </p:sp>
      <p:sp>
        <p:nvSpPr>
          <p:cNvPr id="27" name="Shape 25"/>
          <p:cNvSpPr/>
          <p:nvPr/>
        </p:nvSpPr>
        <p:spPr>
          <a:xfrm>
            <a:off x="658368" y="4882896"/>
            <a:ext cx="10874959" cy="1115568"/>
          </a:xfrm>
          <a:prstGeom prst="roundRect">
            <a:avLst>
              <a:gd name="adj" fmla="val 4918"/>
            </a:avLst>
          </a:prstGeom>
          <a:solidFill>
            <a:srgbClr val="E4EDF0"/>
          </a:solidFill>
          <a:ln w="12700">
            <a:solidFill>
              <a:srgbClr val="E4EDF0"/>
            </a:solidFill>
            <a:prstDash val="solid"/>
          </a:ln>
        </p:spPr>
      </p:sp>
      <p:sp>
        <p:nvSpPr>
          <p:cNvPr id="28" name="Text 26"/>
          <p:cNvSpPr txBox="1"/>
          <p:nvPr/>
        </p:nvSpPr>
        <p:spPr>
          <a:xfrm>
            <a:off x="969264" y="5047488"/>
            <a:ext cx="4937760" cy="274320"/>
          </a:xfrm>
          <a:prstGeom prst="rect">
            <a:avLst/>
          </a:prstGeom>
          <a:noFill/>
          <a:ln/>
        </p:spPr>
        <p:txBody>
          <a:bodyPr wrap="square" lIns="0" tIns="0" rIns="0" bIns="0" rtlCol="0" anchor="ctr"/>
          <a:lstStyle/>
          <a:p>
            <a:pPr indent="0" marL="0">
              <a:buNone/>
            </a:pPr>
            <a:r>
              <a:rPr lang="en-US" sz="1400" b="1" dirty="0">
                <a:solidFill>
                  <a:srgbClr val="172A33"/>
                </a:solidFill>
                <a:latin typeface="Calibri" pitchFamily="34" charset="0"/>
                <a:ea typeface="Calibri" pitchFamily="34" charset="-122"/>
                <a:cs typeface="Calibri" pitchFamily="34" charset="-120"/>
              </a:rPr>
              <a:t>Why the offline provider earns its place</a:t>
            </a:r>
            <a:endParaRPr lang="en-US" sz="1400" dirty="0"/>
          </a:p>
        </p:txBody>
      </p:sp>
      <p:sp>
        <p:nvSpPr>
          <p:cNvPr id="29" name="Text 27"/>
          <p:cNvSpPr txBox="1"/>
          <p:nvPr/>
        </p:nvSpPr>
        <p:spPr>
          <a:xfrm>
            <a:off x="969264" y="5340096"/>
            <a:ext cx="10253167" cy="512064"/>
          </a:xfrm>
          <a:prstGeom prst="rect">
            <a:avLst/>
          </a:prstGeom>
          <a:noFill/>
          <a:ln/>
        </p:spPr>
        <p:txBody>
          <a:bodyPr wrap="square" lIns="0" tIns="0" rIns="0" bIns="0" rtlCol="0" anchor="ctr"/>
          <a:lstStyle/>
          <a:p>
            <a:pPr indent="0" marL="0">
              <a:lnSpc>
                <a:spcPct val="118000"/>
              </a:lnSpc>
              <a:buNone/>
            </a:pPr>
            <a:r>
              <a:rPr lang="en-US" sz="1200" dirty="0">
                <a:solidFill>
                  <a:srgbClr val="172A33"/>
                </a:solidFill>
                <a:latin typeface="Calibri" pitchFamily="34" charset="0"/>
                <a:ea typeface="Calibri" pitchFamily="34" charset="-122"/>
                <a:cs typeface="Calibri" pitchFamily="34" charset="-120"/>
              </a:rPr>
              <a:t>An evaluator can run the entire pipeline with no key and no cost · the 79 tests exercise the real workflow, batching and reporting code with no network · and it proves the abstraction is genuinely an abstraction. It is rule-based, not a model — the README says so plainly.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02336"/>
            <a:ext cx="10874959" cy="237744"/>
          </a:xfrm>
          <a:prstGeom prst="rect">
            <a:avLst/>
          </a:prstGeom>
          <a:noFill/>
          <a:ln/>
        </p:spPr>
        <p:txBody>
          <a:bodyPr wrap="square" lIns="0" tIns="0" rIns="0" bIns="0" rtlCol="0" anchor="ctr"/>
          <a:lstStyle/>
          <a:p>
            <a:pPr indent="0" marL="0">
              <a:buNone/>
            </a:pPr>
            <a:r>
              <a:rPr lang="en-US" sz="1100" b="1" spc="160" kern="0" dirty="0">
                <a:solidFill>
                  <a:srgbClr val="028090"/>
                </a:solidFill>
                <a:latin typeface="Calibri" pitchFamily="34" charset="0"/>
                <a:ea typeface="Calibri" pitchFamily="34" charset="-122"/>
                <a:cs typeface="Calibri" pitchFamily="34" charset="-120"/>
              </a:rPr>
              <a:t>BATCH PROCESSING</a:t>
            </a:r>
            <a:endParaRPr lang="en-US" sz="1100" dirty="0"/>
          </a:p>
        </p:txBody>
      </p:sp>
      <p:sp>
        <p:nvSpPr>
          <p:cNvPr id="3" name="Text 1"/>
          <p:cNvSpPr txBox="1"/>
          <p:nvPr/>
        </p:nvSpPr>
        <p:spPr>
          <a:xfrm>
            <a:off x="658368" y="658368"/>
            <a:ext cx="10874959" cy="658368"/>
          </a:xfrm>
          <a:prstGeom prst="rect">
            <a:avLst/>
          </a:prstGeom>
          <a:noFill/>
          <a:ln/>
        </p:spPr>
        <p:txBody>
          <a:bodyPr wrap="square" lIns="0" tIns="0" rIns="0" bIns="0" rtlCol="0" anchor="t"/>
          <a:lstStyle/>
          <a:p>
            <a:pPr indent="0" marL="0">
              <a:buNone/>
            </a:pPr>
            <a:r>
              <a:rPr lang="en-US" sz="3200" b="1" dirty="0">
                <a:solidFill>
                  <a:srgbClr val="172A33"/>
                </a:solidFill>
                <a:latin typeface="Cambria" pitchFamily="34" charset="0"/>
                <a:ea typeface="Cambria" pitchFamily="34" charset="-122"/>
                <a:cs typeface="Cambria" pitchFamily="34" charset="-120"/>
              </a:rPr>
              <a:t>Two bounded levels of concurrency</a:t>
            </a:r>
            <a:endParaRPr lang="en-US" sz="3200" dirty="0"/>
          </a:p>
        </p:txBody>
      </p:sp>
      <p:sp>
        <p:nvSpPr>
          <p:cNvPr id="4" name="Text 2"/>
          <p:cNvSpPr txBox="1"/>
          <p:nvPr/>
        </p:nvSpPr>
        <p:spPr>
          <a:xfrm>
            <a:off x="10984687" y="6382512"/>
            <a:ext cx="548640" cy="256032"/>
          </a:xfrm>
          <a:prstGeom prst="rect">
            <a:avLst/>
          </a:prstGeom>
          <a:noFill/>
          <a:ln/>
        </p:spPr>
        <p:txBody>
          <a:bodyPr wrap="square" lIns="0" tIns="0" rIns="0" bIns="0" rtlCol="0" anchor="ctr"/>
          <a:lstStyle/>
          <a:p>
            <a:pPr algn="r" indent="0" marL="0">
              <a:buNone/>
            </a:pPr>
            <a:r>
              <a:rPr lang="en-US" sz="1000" dirty="0">
                <a:solidFill>
                  <a:srgbClr val="5D7480"/>
                </a:solidFill>
                <a:latin typeface="Calibri" pitchFamily="34" charset="0"/>
                <a:ea typeface="Calibri" pitchFamily="34" charset="-122"/>
                <a:cs typeface="Calibri" pitchFamily="34" charset="-120"/>
              </a:rPr>
              <a:t>9</a:t>
            </a:r>
            <a:endParaRPr lang="en-US" sz="1000" dirty="0"/>
          </a:p>
        </p:txBody>
      </p:sp>
      <p:sp>
        <p:nvSpPr>
          <p:cNvPr id="5" name="Text 3"/>
          <p:cNvSpPr txBox="1"/>
          <p:nvPr/>
        </p:nvSpPr>
        <p:spPr>
          <a:xfrm>
            <a:off x="658368" y="6382512"/>
            <a:ext cx="6858000" cy="256032"/>
          </a:xfrm>
          <a:prstGeom prst="rect">
            <a:avLst/>
          </a:prstGeom>
          <a:noFill/>
          <a:ln/>
        </p:spPr>
        <p:txBody>
          <a:bodyPr wrap="square" lIns="0" tIns="0" rIns="0" bIns="0" rtlCol="0" anchor="ctr"/>
          <a:lstStyle/>
          <a:p>
            <a:pPr indent="0" marL="0">
              <a:buNone/>
            </a:pPr>
            <a:r>
              <a:rPr lang="en-US" sz="1000" dirty="0">
                <a:solidFill>
                  <a:srgbClr val="5D7480"/>
                </a:solidFill>
                <a:latin typeface="Calibri" pitchFamily="34" charset="0"/>
                <a:ea typeface="Calibri" pitchFamily="34" charset="-122"/>
                <a:cs typeface="Calibri" pitchFamily="34" charset="-120"/>
              </a:rPr>
              <a:t>AI Customer Complaint &amp; Case Processing System</a:t>
            </a:r>
            <a:endParaRPr lang="en-US" sz="1000" dirty="0"/>
          </a:p>
        </p:txBody>
      </p:sp>
      <p:sp>
        <p:nvSpPr>
          <p:cNvPr id="6" name="Shape 4"/>
          <p:cNvSpPr/>
          <p:nvPr/>
        </p:nvSpPr>
        <p:spPr>
          <a:xfrm>
            <a:off x="658368" y="1645920"/>
            <a:ext cx="5358384" cy="2103120"/>
          </a:xfrm>
          <a:prstGeom prst="roundRect">
            <a:avLst>
              <a:gd name="adj" fmla="val 2609"/>
            </a:avLst>
          </a:prstGeom>
          <a:solidFill>
            <a:srgbClr val="F1F5F7"/>
          </a:solidFill>
          <a:ln w="12700">
            <a:solidFill>
              <a:srgbClr val="F1F5F7"/>
            </a:solidFill>
            <a:prstDash val="solid"/>
          </a:ln>
        </p:spPr>
      </p:sp>
      <p:sp>
        <p:nvSpPr>
          <p:cNvPr id="7" name="Text 5"/>
          <p:cNvSpPr txBox="1"/>
          <p:nvPr/>
        </p:nvSpPr>
        <p:spPr>
          <a:xfrm>
            <a:off x="950976" y="1847088"/>
            <a:ext cx="4754880" cy="292608"/>
          </a:xfrm>
          <a:prstGeom prst="rect">
            <a:avLst/>
          </a:prstGeom>
          <a:noFill/>
          <a:ln/>
        </p:spPr>
        <p:txBody>
          <a:bodyPr wrap="square" lIns="0" tIns="0" rIns="0" bIns="0" rtlCol="0" anchor="ctr"/>
          <a:lstStyle/>
          <a:p>
            <a:pPr indent="0" marL="0">
              <a:buNone/>
            </a:pPr>
            <a:r>
              <a:rPr lang="en-US" sz="1500" b="1" dirty="0">
                <a:solidFill>
                  <a:srgbClr val="028090"/>
                </a:solidFill>
                <a:latin typeface="Calibri" pitchFamily="34" charset="0"/>
                <a:ea typeface="Calibri" pitchFamily="34" charset="-122"/>
                <a:cs typeface="Calibri" pitchFamily="34" charset="-120"/>
              </a:rPr>
              <a:t>Across documents</a:t>
            </a:r>
            <a:endParaRPr lang="en-US" sz="1500" dirty="0"/>
          </a:p>
        </p:txBody>
      </p:sp>
      <p:sp>
        <p:nvSpPr>
          <p:cNvPr id="8" name="Text 6"/>
          <p:cNvSpPr txBox="1"/>
          <p:nvPr/>
        </p:nvSpPr>
        <p:spPr>
          <a:xfrm>
            <a:off x="950976" y="2176272"/>
            <a:ext cx="4754880" cy="256032"/>
          </a:xfrm>
          <a:prstGeom prst="rect">
            <a:avLst/>
          </a:prstGeom>
          <a:noFill/>
          <a:ln/>
        </p:spPr>
        <p:txBody>
          <a:bodyPr wrap="square" lIns="0" tIns="0" rIns="0" bIns="0" rtlCol="0" anchor="ctr"/>
          <a:lstStyle/>
          <a:p>
            <a:pPr indent="0" marL="0">
              <a:buNone/>
            </a:pPr>
            <a:r>
              <a:rPr lang="en-US" sz="1200" dirty="0">
                <a:solidFill>
                  <a:srgbClr val="172A33"/>
                </a:solidFill>
                <a:latin typeface="Courier New" pitchFamily="34" charset="0"/>
                <a:ea typeface="Courier New" pitchFamily="34" charset="-122"/>
                <a:cs typeface="Courier New" pitchFamily="34" charset="-120"/>
              </a:rPr>
              <a:t>ThreadPoolExecutor(BATCH_WORKERS)</a:t>
            </a:r>
            <a:endParaRPr lang="en-US" sz="1200" dirty="0"/>
          </a:p>
        </p:txBody>
      </p:sp>
      <p:sp>
        <p:nvSpPr>
          <p:cNvPr id="9" name="Text 7"/>
          <p:cNvSpPr txBox="1"/>
          <p:nvPr/>
        </p:nvSpPr>
        <p:spPr>
          <a:xfrm>
            <a:off x="950976" y="2505456"/>
            <a:ext cx="4773168" cy="566928"/>
          </a:xfrm>
          <a:prstGeom prst="rect">
            <a:avLst/>
          </a:prstGeom>
          <a:noFill/>
          <a:ln/>
        </p:spPr>
        <p:txBody>
          <a:bodyPr wrap="square" lIns="0" tIns="0" rIns="0" bIns="0" rtlCol="0" anchor="ctr"/>
          <a:lstStyle/>
          <a:p>
            <a:pPr indent="0" marL="0">
              <a:lnSpc>
                <a:spcPct val="120000"/>
              </a:lnSpc>
              <a:buNone/>
            </a:pPr>
            <a:r>
              <a:rPr lang="en-US" sz="1200" dirty="0">
                <a:solidFill>
                  <a:srgbClr val="5D7480"/>
                </a:solidFill>
                <a:latin typeface="Calibri" pitchFamily="34" charset="0"/>
                <a:ea typeface="Calibri" pitchFamily="34" charset="-122"/>
                <a:cs typeface="Calibri" pitchFamily="34" charset="-120"/>
              </a:rPr>
              <a:t>Bounded on purpose — a folder of 500 documents must not open 500 connections and trip provider rate limits.</a:t>
            </a:r>
            <a:endParaRPr lang="en-US" sz="1200" dirty="0"/>
          </a:p>
        </p:txBody>
      </p:sp>
      <p:sp>
        <p:nvSpPr>
          <p:cNvPr id="10" name="Text 8"/>
          <p:cNvSpPr txBox="1"/>
          <p:nvPr/>
        </p:nvSpPr>
        <p:spPr>
          <a:xfrm>
            <a:off x="950976" y="3163824"/>
            <a:ext cx="4754880" cy="274320"/>
          </a:xfrm>
          <a:prstGeom prst="rect">
            <a:avLst/>
          </a:prstGeom>
          <a:noFill/>
          <a:ln/>
        </p:spPr>
        <p:txBody>
          <a:bodyPr wrap="square" lIns="0" tIns="0" rIns="0" bIns="0" rtlCol="0" anchor="ctr"/>
          <a:lstStyle/>
          <a:p>
            <a:pPr indent="0" marL="0">
              <a:buNone/>
            </a:pPr>
            <a:r>
              <a:rPr lang="en-US" sz="1250" b="1" dirty="0">
                <a:solidFill>
                  <a:srgbClr val="028090"/>
                </a:solidFill>
                <a:latin typeface="Courier New" pitchFamily="34" charset="0"/>
                <a:ea typeface="Courier New" pitchFamily="34" charset="-122"/>
                <a:cs typeface="Courier New" pitchFamily="34" charset="-120"/>
              </a:rPr>
              <a:t>doc 1   doc 2   doc 3   …   doc N</a:t>
            </a:r>
            <a:endParaRPr lang="en-US" sz="1250" dirty="0"/>
          </a:p>
        </p:txBody>
      </p:sp>
      <p:sp>
        <p:nvSpPr>
          <p:cNvPr id="11" name="Shape 9"/>
          <p:cNvSpPr/>
          <p:nvPr/>
        </p:nvSpPr>
        <p:spPr>
          <a:xfrm>
            <a:off x="658368" y="3913632"/>
            <a:ext cx="5358384" cy="2084832"/>
          </a:xfrm>
          <a:prstGeom prst="roundRect">
            <a:avLst>
              <a:gd name="adj" fmla="val 2632"/>
            </a:avLst>
          </a:prstGeom>
          <a:solidFill>
            <a:srgbClr val="F1F5F7"/>
          </a:solidFill>
          <a:ln w="12700">
            <a:solidFill>
              <a:srgbClr val="F1F5F7"/>
            </a:solidFill>
            <a:prstDash val="solid"/>
          </a:ln>
        </p:spPr>
      </p:sp>
      <p:sp>
        <p:nvSpPr>
          <p:cNvPr id="12" name="Text 10"/>
          <p:cNvSpPr txBox="1"/>
          <p:nvPr/>
        </p:nvSpPr>
        <p:spPr>
          <a:xfrm>
            <a:off x="950976" y="4114800"/>
            <a:ext cx="4754880" cy="292608"/>
          </a:xfrm>
          <a:prstGeom prst="rect">
            <a:avLst/>
          </a:prstGeom>
          <a:noFill/>
          <a:ln/>
        </p:spPr>
        <p:txBody>
          <a:bodyPr wrap="square" lIns="0" tIns="0" rIns="0" bIns="0" rtlCol="0" anchor="ctr"/>
          <a:lstStyle/>
          <a:p>
            <a:pPr indent="0" marL="0">
              <a:buNone/>
            </a:pPr>
            <a:r>
              <a:rPr lang="en-US" sz="1500" b="1" dirty="0">
                <a:solidFill>
                  <a:srgbClr val="00A896"/>
                </a:solidFill>
                <a:latin typeface="Calibri" pitchFamily="34" charset="0"/>
                <a:ea typeface="Calibri" pitchFamily="34" charset="-122"/>
                <a:cs typeface="Calibri" pitchFamily="34" charset="-120"/>
              </a:rPr>
              <a:t>Within one document</a:t>
            </a:r>
            <a:endParaRPr lang="en-US" sz="1500" dirty="0"/>
          </a:p>
        </p:txBody>
      </p:sp>
      <p:sp>
        <p:nvSpPr>
          <p:cNvPr id="13" name="Text 11"/>
          <p:cNvSpPr txBox="1"/>
          <p:nvPr/>
        </p:nvSpPr>
        <p:spPr>
          <a:xfrm>
            <a:off x="950976" y="4443984"/>
            <a:ext cx="4754880" cy="256032"/>
          </a:xfrm>
          <a:prstGeom prst="rect">
            <a:avLst/>
          </a:prstGeom>
          <a:noFill/>
          <a:ln/>
        </p:spPr>
        <p:txBody>
          <a:bodyPr wrap="square" lIns="0" tIns="0" rIns="0" bIns="0" rtlCol="0" anchor="ctr"/>
          <a:lstStyle/>
          <a:p>
            <a:pPr indent="0" marL="0">
              <a:buNone/>
            </a:pPr>
            <a:r>
              <a:rPr lang="en-US" sz="1200" dirty="0">
                <a:solidFill>
                  <a:srgbClr val="172A33"/>
                </a:solidFill>
                <a:latin typeface="Courier New" pitchFamily="34" charset="0"/>
                <a:ea typeface="Courier New" pitchFamily="34" charset="-122"/>
                <a:cs typeface="Courier New" pitchFamily="34" charset="-120"/>
              </a:rPr>
              <a:t>ThreadPoolExecutor(2)</a:t>
            </a:r>
            <a:endParaRPr lang="en-US" sz="1200" dirty="0"/>
          </a:p>
        </p:txBody>
      </p:sp>
      <p:sp>
        <p:nvSpPr>
          <p:cNvPr id="14" name="Text 12"/>
          <p:cNvSpPr txBox="1"/>
          <p:nvPr/>
        </p:nvSpPr>
        <p:spPr>
          <a:xfrm>
            <a:off x="950976" y="4773168"/>
            <a:ext cx="4773168" cy="566928"/>
          </a:xfrm>
          <a:prstGeom prst="rect">
            <a:avLst/>
          </a:prstGeom>
          <a:noFill/>
          <a:ln/>
        </p:spPr>
        <p:txBody>
          <a:bodyPr wrap="square" lIns="0" tIns="0" rIns="0" bIns="0" rtlCol="0" anchor="ctr"/>
          <a:lstStyle/>
          <a:p>
            <a:pPr indent="0" marL="0">
              <a:lnSpc>
                <a:spcPct val="120000"/>
              </a:lnSpc>
              <a:buNone/>
            </a:pPr>
            <a:r>
              <a:rPr lang="en-US" sz="1200" dirty="0">
                <a:solidFill>
                  <a:srgbClr val="5D7480"/>
                </a:solidFill>
                <a:latin typeface="Calibri" pitchFamily="34" charset="0"/>
                <a:ea typeface="Calibri" pitchFamily="34" charset="-122"/>
                <a:cs typeface="Calibri" pitchFamily="34" charset="-120"/>
              </a:rPr>
              <a:t>Threads, not processes: every task is a network-bound HTTP call that releases the GIL while it waits.</a:t>
            </a:r>
            <a:endParaRPr lang="en-US" sz="1200" dirty="0"/>
          </a:p>
        </p:txBody>
      </p:sp>
      <p:sp>
        <p:nvSpPr>
          <p:cNvPr id="15" name="Text 13"/>
          <p:cNvSpPr txBox="1"/>
          <p:nvPr/>
        </p:nvSpPr>
        <p:spPr>
          <a:xfrm>
            <a:off x="950976" y="5431536"/>
            <a:ext cx="4754880" cy="274320"/>
          </a:xfrm>
          <a:prstGeom prst="rect">
            <a:avLst/>
          </a:prstGeom>
          <a:noFill/>
          <a:ln/>
        </p:spPr>
        <p:txBody>
          <a:bodyPr wrap="square" lIns="0" tIns="0" rIns="0" bIns="0" rtlCol="0" anchor="ctr"/>
          <a:lstStyle/>
          <a:p>
            <a:pPr indent="0" marL="0">
              <a:buNone/>
            </a:pPr>
            <a:r>
              <a:rPr lang="en-US" sz="1250" b="1" dirty="0">
                <a:solidFill>
                  <a:srgbClr val="00A896"/>
                </a:solidFill>
                <a:latin typeface="Courier New" pitchFamily="34" charset="0"/>
                <a:ea typeface="Courier New" pitchFamily="34" charset="-122"/>
                <a:cs typeface="Courier New" pitchFamily="34" charset="-120"/>
              </a:rPr>
              <a:t>extraction → [ email || summary ]</a:t>
            </a:r>
            <a:endParaRPr lang="en-US" sz="1250" dirty="0"/>
          </a:p>
        </p:txBody>
      </p:sp>
      <p:sp>
        <p:nvSpPr>
          <p:cNvPr id="16" name="Shape 14"/>
          <p:cNvSpPr/>
          <p:nvPr/>
        </p:nvSpPr>
        <p:spPr>
          <a:xfrm>
            <a:off x="6565392" y="1645920"/>
            <a:ext cx="4974336" cy="4352544"/>
          </a:xfrm>
          <a:prstGeom prst="roundRect">
            <a:avLst>
              <a:gd name="adj" fmla="val 1261"/>
            </a:avLst>
          </a:prstGeom>
          <a:solidFill>
            <a:srgbClr val="10222E"/>
          </a:solidFill>
          <a:ln w="12700">
            <a:solidFill>
              <a:srgbClr val="10222E"/>
            </a:solidFill>
            <a:prstDash val="solid"/>
          </a:ln>
        </p:spPr>
      </p:sp>
      <p:sp>
        <p:nvSpPr>
          <p:cNvPr id="17" name="Text 15"/>
          <p:cNvSpPr txBox="1"/>
          <p:nvPr/>
        </p:nvSpPr>
        <p:spPr>
          <a:xfrm>
            <a:off x="6858000" y="1883664"/>
            <a:ext cx="4389120" cy="292608"/>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Measured on the sample batch</a:t>
            </a:r>
            <a:endParaRPr lang="en-US" sz="1450" dirty="0"/>
          </a:p>
        </p:txBody>
      </p:sp>
      <p:sp>
        <p:nvSpPr>
          <p:cNvPr id="18" name="Text 16"/>
          <p:cNvSpPr txBox="1"/>
          <p:nvPr/>
        </p:nvSpPr>
        <p:spPr>
          <a:xfrm>
            <a:off x="6858000" y="2395728"/>
            <a:ext cx="2103120" cy="457200"/>
          </a:xfrm>
          <a:prstGeom prst="rect">
            <a:avLst/>
          </a:prstGeom>
          <a:noFill/>
          <a:ln/>
        </p:spPr>
        <p:txBody>
          <a:bodyPr wrap="square" lIns="0" tIns="0" rIns="0" bIns="0" rtlCol="0" anchor="ctr"/>
          <a:lstStyle/>
          <a:p>
            <a:pPr indent="0" marL="0">
              <a:buNone/>
            </a:pPr>
            <a:r>
              <a:rPr lang="en-US" sz="2600" b="1" dirty="0">
                <a:solidFill>
                  <a:srgbClr val="02C39A"/>
                </a:solidFill>
                <a:latin typeface="Cambria" pitchFamily="34" charset="0"/>
                <a:ea typeface="Cambria" pitchFamily="34" charset="-122"/>
                <a:cs typeface="Cambria" pitchFamily="34" charset="-120"/>
              </a:rPr>
              <a:t>9</a:t>
            </a:r>
            <a:endParaRPr lang="en-US" sz="2600" dirty="0"/>
          </a:p>
        </p:txBody>
      </p:sp>
      <p:sp>
        <p:nvSpPr>
          <p:cNvPr id="19" name="Text 17"/>
          <p:cNvSpPr txBox="1"/>
          <p:nvPr/>
        </p:nvSpPr>
        <p:spPr>
          <a:xfrm>
            <a:off x="9015984" y="2523744"/>
            <a:ext cx="2286000" cy="365760"/>
          </a:xfrm>
          <a:prstGeom prst="rect">
            <a:avLst/>
          </a:prstGeom>
          <a:noFill/>
          <a:ln/>
        </p:spPr>
        <p:txBody>
          <a:bodyPr wrap="square" lIns="0" tIns="0" rIns="0" bIns="0" rtlCol="0" anchor="ctr"/>
          <a:lstStyle/>
          <a:p>
            <a:pPr indent="0" marL="0">
              <a:lnSpc>
                <a:spcPct val="114000"/>
              </a:lnSpc>
              <a:buNone/>
            </a:pPr>
            <a:r>
              <a:rPr lang="en-US" sz="1150" dirty="0">
                <a:solidFill>
                  <a:srgbClr val="9DB4BE"/>
                </a:solidFill>
                <a:latin typeface="Calibri" pitchFamily="34" charset="0"/>
                <a:ea typeface="Calibri" pitchFamily="34" charset="-122"/>
                <a:cs typeface="Calibri" pitchFamily="34" charset="-120"/>
              </a:rPr>
              <a:t>documents processed</a:t>
            </a:r>
            <a:endParaRPr lang="en-US" sz="1150" dirty="0"/>
          </a:p>
        </p:txBody>
      </p:sp>
      <p:sp>
        <p:nvSpPr>
          <p:cNvPr id="20" name="Text 18"/>
          <p:cNvSpPr txBox="1"/>
          <p:nvPr/>
        </p:nvSpPr>
        <p:spPr>
          <a:xfrm>
            <a:off x="6858000" y="3054096"/>
            <a:ext cx="2103120" cy="457200"/>
          </a:xfrm>
          <a:prstGeom prst="rect">
            <a:avLst/>
          </a:prstGeom>
          <a:noFill/>
          <a:ln/>
        </p:spPr>
        <p:txBody>
          <a:bodyPr wrap="square" lIns="0" tIns="0" rIns="0" bIns="0" rtlCol="0" anchor="ctr"/>
          <a:lstStyle/>
          <a:p>
            <a:pPr indent="0" marL="0">
              <a:buNone/>
            </a:pPr>
            <a:r>
              <a:rPr lang="en-US" sz="2600" b="1" dirty="0">
                <a:solidFill>
                  <a:srgbClr val="02C39A"/>
                </a:solidFill>
                <a:latin typeface="Cambria" pitchFamily="34" charset="0"/>
                <a:ea typeface="Cambria" pitchFamily="34" charset="-122"/>
                <a:cs typeface="Cambria" pitchFamily="34" charset="-120"/>
              </a:rPr>
              <a:t>24</a:t>
            </a:r>
            <a:endParaRPr lang="en-US" sz="2600" dirty="0"/>
          </a:p>
        </p:txBody>
      </p:sp>
      <p:sp>
        <p:nvSpPr>
          <p:cNvPr id="21" name="Text 19"/>
          <p:cNvSpPr txBox="1"/>
          <p:nvPr/>
        </p:nvSpPr>
        <p:spPr>
          <a:xfrm>
            <a:off x="9015984" y="3182112"/>
            <a:ext cx="2286000" cy="365760"/>
          </a:xfrm>
          <a:prstGeom prst="rect">
            <a:avLst/>
          </a:prstGeom>
          <a:noFill/>
          <a:ln/>
        </p:spPr>
        <p:txBody>
          <a:bodyPr wrap="square" lIns="0" tIns="0" rIns="0" bIns="0" rtlCol="0" anchor="ctr"/>
          <a:lstStyle/>
          <a:p>
            <a:pPr indent="0" marL="0">
              <a:lnSpc>
                <a:spcPct val="114000"/>
              </a:lnSpc>
              <a:buNone/>
            </a:pPr>
            <a:r>
              <a:rPr lang="en-US" sz="1150" dirty="0">
                <a:solidFill>
                  <a:srgbClr val="9DB4BE"/>
                </a:solidFill>
                <a:latin typeface="Calibri" pitchFamily="34" charset="0"/>
                <a:ea typeface="Calibri" pitchFamily="34" charset="-122"/>
                <a:cs typeface="Calibri" pitchFamily="34" charset="-120"/>
              </a:rPr>
              <a:t>LLM calls issued</a:t>
            </a:r>
            <a:endParaRPr lang="en-US" sz="1150" dirty="0"/>
          </a:p>
        </p:txBody>
      </p:sp>
      <p:sp>
        <p:nvSpPr>
          <p:cNvPr id="22" name="Text 20"/>
          <p:cNvSpPr txBox="1"/>
          <p:nvPr/>
        </p:nvSpPr>
        <p:spPr>
          <a:xfrm>
            <a:off x="6858000" y="3712464"/>
            <a:ext cx="2103120" cy="457200"/>
          </a:xfrm>
          <a:prstGeom prst="rect">
            <a:avLst/>
          </a:prstGeom>
          <a:noFill/>
          <a:ln/>
        </p:spPr>
        <p:txBody>
          <a:bodyPr wrap="square" lIns="0" tIns="0" rIns="0" bIns="0" rtlCol="0" anchor="ctr"/>
          <a:lstStyle/>
          <a:p>
            <a:pPr indent="0" marL="0">
              <a:buNone/>
            </a:pPr>
            <a:r>
              <a:rPr lang="en-US" sz="2600" b="1" dirty="0">
                <a:solidFill>
                  <a:srgbClr val="02C39A"/>
                </a:solidFill>
                <a:latin typeface="Cambria" pitchFamily="34" charset="0"/>
                <a:ea typeface="Cambria" pitchFamily="34" charset="-122"/>
                <a:cs typeface="Cambria" pitchFamily="34" charset="-120"/>
              </a:rPr>
              <a:t>11.26 s</a:t>
            </a:r>
            <a:endParaRPr lang="en-US" sz="2600" dirty="0"/>
          </a:p>
        </p:txBody>
      </p:sp>
      <p:sp>
        <p:nvSpPr>
          <p:cNvPr id="23" name="Text 21"/>
          <p:cNvSpPr txBox="1"/>
          <p:nvPr/>
        </p:nvSpPr>
        <p:spPr>
          <a:xfrm>
            <a:off x="9015984" y="3840480"/>
            <a:ext cx="2286000" cy="365760"/>
          </a:xfrm>
          <a:prstGeom prst="rect">
            <a:avLst/>
          </a:prstGeom>
          <a:noFill/>
          <a:ln/>
        </p:spPr>
        <p:txBody>
          <a:bodyPr wrap="square" lIns="0" tIns="0" rIns="0" bIns="0" rtlCol="0" anchor="ctr"/>
          <a:lstStyle/>
          <a:p>
            <a:pPr indent="0" marL="0">
              <a:lnSpc>
                <a:spcPct val="114000"/>
              </a:lnSpc>
              <a:buNone/>
            </a:pPr>
            <a:r>
              <a:rPr lang="en-US" sz="1150" dirty="0">
                <a:solidFill>
                  <a:srgbClr val="9DB4BE"/>
                </a:solidFill>
                <a:latin typeface="Calibri" pitchFamily="34" charset="0"/>
                <a:ea typeface="Calibri" pitchFamily="34" charset="-122"/>
                <a:cs typeface="Calibri" pitchFamily="34" charset="-120"/>
              </a:rPr>
              <a:t>total wall clock</a:t>
            </a:r>
            <a:endParaRPr lang="en-US" sz="1150" dirty="0"/>
          </a:p>
        </p:txBody>
      </p:sp>
      <p:sp>
        <p:nvSpPr>
          <p:cNvPr id="24" name="Text 22"/>
          <p:cNvSpPr txBox="1"/>
          <p:nvPr/>
        </p:nvSpPr>
        <p:spPr>
          <a:xfrm>
            <a:off x="6858000" y="4370832"/>
            <a:ext cx="2103120" cy="457200"/>
          </a:xfrm>
          <a:prstGeom prst="rect">
            <a:avLst/>
          </a:prstGeom>
          <a:noFill/>
          <a:ln/>
        </p:spPr>
        <p:txBody>
          <a:bodyPr wrap="square" lIns="0" tIns="0" rIns="0" bIns="0" rtlCol="0" anchor="ctr"/>
          <a:lstStyle/>
          <a:p>
            <a:pPr indent="0" marL="0">
              <a:buNone/>
            </a:pPr>
            <a:r>
              <a:rPr lang="en-US" sz="2600" b="1" dirty="0">
                <a:solidFill>
                  <a:srgbClr val="02C39A"/>
                </a:solidFill>
                <a:latin typeface="Cambria" pitchFamily="34" charset="0"/>
                <a:ea typeface="Cambria" pitchFamily="34" charset="-122"/>
                <a:cs typeface="Cambria" pitchFamily="34" charset="-120"/>
              </a:rPr>
              <a:t>29,050</a:t>
            </a:r>
            <a:endParaRPr lang="en-US" sz="2600" dirty="0"/>
          </a:p>
        </p:txBody>
      </p:sp>
      <p:sp>
        <p:nvSpPr>
          <p:cNvPr id="25" name="Text 23"/>
          <p:cNvSpPr txBox="1"/>
          <p:nvPr/>
        </p:nvSpPr>
        <p:spPr>
          <a:xfrm>
            <a:off x="9015984" y="4498848"/>
            <a:ext cx="2286000" cy="365760"/>
          </a:xfrm>
          <a:prstGeom prst="rect">
            <a:avLst/>
          </a:prstGeom>
          <a:noFill/>
          <a:ln/>
        </p:spPr>
        <p:txBody>
          <a:bodyPr wrap="square" lIns="0" tIns="0" rIns="0" bIns="0" rtlCol="0" anchor="ctr"/>
          <a:lstStyle/>
          <a:p>
            <a:pPr indent="0" marL="0">
              <a:lnSpc>
                <a:spcPct val="114000"/>
              </a:lnSpc>
              <a:buNone/>
            </a:pPr>
            <a:r>
              <a:rPr lang="en-US" sz="1150" dirty="0">
                <a:solidFill>
                  <a:srgbClr val="9DB4BE"/>
                </a:solidFill>
                <a:latin typeface="Calibri" pitchFamily="34" charset="0"/>
                <a:ea typeface="Calibri" pitchFamily="34" charset="-122"/>
                <a:cs typeface="Calibri" pitchFamily="34" charset="-120"/>
              </a:rPr>
              <a:t>tokens (25,471 in / 3,579 out)</a:t>
            </a:r>
            <a:endParaRPr lang="en-US" sz="1150" dirty="0"/>
          </a:p>
        </p:txBody>
      </p:sp>
      <p:sp>
        <p:nvSpPr>
          <p:cNvPr id="26" name="Text 24"/>
          <p:cNvSpPr txBox="1"/>
          <p:nvPr/>
        </p:nvSpPr>
        <p:spPr>
          <a:xfrm>
            <a:off x="6858000" y="5138928"/>
            <a:ext cx="4407408" cy="676656"/>
          </a:xfrm>
          <a:prstGeom prst="rect">
            <a:avLst/>
          </a:prstGeom>
          <a:noFill/>
          <a:ln/>
        </p:spPr>
        <p:txBody>
          <a:bodyPr wrap="square" lIns="0" tIns="0" rIns="0" bIns="0" rtlCol="0" anchor="ctr"/>
          <a:lstStyle/>
          <a:p>
            <a:pPr indent="0" marL="0">
              <a:lnSpc>
                <a:spcPct val="120000"/>
              </a:lnSpc>
              <a:buNone/>
            </a:pPr>
            <a:r>
              <a:rPr lang="en-US" sz="1150" i="1" dirty="0">
                <a:solidFill>
                  <a:srgbClr val="C9DCE4"/>
                </a:solidFill>
                <a:latin typeface="Calibri" pitchFamily="34" charset="0"/>
                <a:ea typeface="Calibri" pitchFamily="34" charset="-122"/>
                <a:cs typeface="Calibri" pitchFamily="34" charset="-120"/>
              </a:rPr>
              <a:t>Sequential and parallel modes produce byte-identical outputs — verified by diffing a full run of each. Task mode is a performance choice, never a correctness one.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02336"/>
            <a:ext cx="10874959" cy="237744"/>
          </a:xfrm>
          <a:prstGeom prst="rect">
            <a:avLst/>
          </a:prstGeom>
          <a:noFill/>
          <a:ln/>
        </p:spPr>
        <p:txBody>
          <a:bodyPr wrap="square" lIns="0" tIns="0" rIns="0" bIns="0" rtlCol="0" anchor="ctr"/>
          <a:lstStyle/>
          <a:p>
            <a:pPr indent="0" marL="0">
              <a:buNone/>
            </a:pPr>
            <a:r>
              <a:rPr lang="en-US" sz="1100" b="1" spc="160" kern="0" dirty="0">
                <a:solidFill>
                  <a:srgbClr val="028090"/>
                </a:solidFill>
                <a:latin typeface="Calibri" pitchFamily="34" charset="0"/>
                <a:ea typeface="Calibri" pitchFamily="34" charset="-122"/>
                <a:cs typeface="Calibri" pitchFamily="34" charset="-120"/>
              </a:rPr>
              <a:t>ROBUSTNESS</a:t>
            </a:r>
            <a:endParaRPr lang="en-US" sz="1100" dirty="0"/>
          </a:p>
        </p:txBody>
      </p:sp>
      <p:sp>
        <p:nvSpPr>
          <p:cNvPr id="3" name="Text 1"/>
          <p:cNvSpPr txBox="1"/>
          <p:nvPr/>
        </p:nvSpPr>
        <p:spPr>
          <a:xfrm>
            <a:off x="658368" y="658368"/>
            <a:ext cx="10874959" cy="658368"/>
          </a:xfrm>
          <a:prstGeom prst="rect">
            <a:avLst/>
          </a:prstGeom>
          <a:noFill/>
          <a:ln/>
        </p:spPr>
        <p:txBody>
          <a:bodyPr wrap="square" lIns="0" tIns="0" rIns="0" bIns="0" rtlCol="0" anchor="t"/>
          <a:lstStyle/>
          <a:p>
            <a:pPr indent="0" marL="0">
              <a:buNone/>
            </a:pPr>
            <a:r>
              <a:rPr lang="en-US" sz="3200" b="1" dirty="0">
                <a:solidFill>
                  <a:srgbClr val="172A33"/>
                </a:solidFill>
                <a:latin typeface="Cambria" pitchFamily="34" charset="0"/>
                <a:ea typeface="Cambria" pitchFamily="34" charset="-122"/>
                <a:cs typeface="Cambria" pitchFamily="34" charset="-120"/>
              </a:rPr>
              <a:t>Every failure has a defined outcome</a:t>
            </a:r>
            <a:endParaRPr lang="en-US" sz="3200" dirty="0"/>
          </a:p>
        </p:txBody>
      </p:sp>
      <p:sp>
        <p:nvSpPr>
          <p:cNvPr id="4" name="Text 2"/>
          <p:cNvSpPr txBox="1"/>
          <p:nvPr/>
        </p:nvSpPr>
        <p:spPr>
          <a:xfrm>
            <a:off x="10984687" y="6382512"/>
            <a:ext cx="548640" cy="256032"/>
          </a:xfrm>
          <a:prstGeom prst="rect">
            <a:avLst/>
          </a:prstGeom>
          <a:noFill/>
          <a:ln/>
        </p:spPr>
        <p:txBody>
          <a:bodyPr wrap="square" lIns="0" tIns="0" rIns="0" bIns="0" rtlCol="0" anchor="ctr"/>
          <a:lstStyle/>
          <a:p>
            <a:pPr algn="r" indent="0" marL="0">
              <a:buNone/>
            </a:pPr>
            <a:r>
              <a:rPr lang="en-US" sz="1000" dirty="0">
                <a:solidFill>
                  <a:srgbClr val="5D7480"/>
                </a:solidFill>
                <a:latin typeface="Calibri" pitchFamily="34" charset="0"/>
                <a:ea typeface="Calibri" pitchFamily="34" charset="-122"/>
                <a:cs typeface="Calibri" pitchFamily="34" charset="-120"/>
              </a:rPr>
              <a:t>10</a:t>
            </a:r>
            <a:endParaRPr lang="en-US" sz="1000" dirty="0"/>
          </a:p>
        </p:txBody>
      </p:sp>
      <p:sp>
        <p:nvSpPr>
          <p:cNvPr id="5" name="Text 3"/>
          <p:cNvSpPr txBox="1"/>
          <p:nvPr/>
        </p:nvSpPr>
        <p:spPr>
          <a:xfrm>
            <a:off x="658368" y="6382512"/>
            <a:ext cx="6858000" cy="256032"/>
          </a:xfrm>
          <a:prstGeom prst="rect">
            <a:avLst/>
          </a:prstGeom>
          <a:noFill/>
          <a:ln/>
        </p:spPr>
        <p:txBody>
          <a:bodyPr wrap="square" lIns="0" tIns="0" rIns="0" bIns="0" rtlCol="0" anchor="ctr"/>
          <a:lstStyle/>
          <a:p>
            <a:pPr indent="0" marL="0">
              <a:buNone/>
            </a:pPr>
            <a:r>
              <a:rPr lang="en-US" sz="1000" dirty="0">
                <a:solidFill>
                  <a:srgbClr val="5D7480"/>
                </a:solidFill>
                <a:latin typeface="Calibri" pitchFamily="34" charset="0"/>
                <a:ea typeface="Calibri" pitchFamily="34" charset="-122"/>
                <a:cs typeface="Calibri" pitchFamily="34" charset="-120"/>
              </a:rPr>
              <a:t>AI Customer Complaint &amp; Case Processing System</a:t>
            </a:r>
            <a:endParaRPr lang="en-US" sz="1000" dirty="0"/>
          </a:p>
        </p:txBody>
      </p:sp>
      <p:sp>
        <p:nvSpPr>
          <p:cNvPr id="6" name="Text 4"/>
          <p:cNvSpPr txBox="1"/>
          <p:nvPr/>
        </p:nvSpPr>
        <p:spPr>
          <a:xfrm>
            <a:off x="932688" y="1664208"/>
            <a:ext cx="4572000" cy="237744"/>
          </a:xfrm>
          <a:prstGeom prst="rect">
            <a:avLst/>
          </a:prstGeom>
          <a:noFill/>
          <a:ln/>
        </p:spPr>
        <p:txBody>
          <a:bodyPr wrap="square" lIns="0" tIns="0" rIns="0" bIns="0" rtlCol="0" anchor="ctr"/>
          <a:lstStyle/>
          <a:p>
            <a:pPr indent="0" marL="0">
              <a:buNone/>
            </a:pPr>
            <a:r>
              <a:rPr lang="en-US" sz="1000" b="1" spc="130" kern="0" dirty="0">
                <a:solidFill>
                  <a:srgbClr val="5D7480"/>
                </a:solidFill>
                <a:latin typeface="Calibri" pitchFamily="34" charset="0"/>
                <a:ea typeface="Calibri" pitchFamily="34" charset="-122"/>
                <a:cs typeface="Calibri" pitchFamily="34" charset="-120"/>
              </a:rPr>
              <a:t>FAILURE</a:t>
            </a:r>
            <a:endParaRPr lang="en-US" sz="1000" dirty="0"/>
          </a:p>
        </p:txBody>
      </p:sp>
      <p:sp>
        <p:nvSpPr>
          <p:cNvPr id="7" name="Text 5"/>
          <p:cNvSpPr txBox="1"/>
          <p:nvPr/>
        </p:nvSpPr>
        <p:spPr>
          <a:xfrm>
            <a:off x="5760720" y="1664208"/>
            <a:ext cx="5486400" cy="237744"/>
          </a:xfrm>
          <a:prstGeom prst="rect">
            <a:avLst/>
          </a:prstGeom>
          <a:noFill/>
          <a:ln/>
        </p:spPr>
        <p:txBody>
          <a:bodyPr wrap="square" lIns="0" tIns="0" rIns="0" bIns="0" rtlCol="0" anchor="ctr"/>
          <a:lstStyle/>
          <a:p>
            <a:pPr indent="0" marL="0">
              <a:buNone/>
            </a:pPr>
            <a:r>
              <a:rPr lang="en-US" sz="1000" b="1" spc="130" kern="0" dirty="0">
                <a:solidFill>
                  <a:srgbClr val="5D7480"/>
                </a:solidFill>
                <a:latin typeface="Calibri" pitchFamily="34" charset="0"/>
                <a:ea typeface="Calibri" pitchFamily="34" charset="-122"/>
                <a:cs typeface="Calibri" pitchFamily="34" charset="-120"/>
              </a:rPr>
              <a:t>OUTCOME</a:t>
            </a:r>
            <a:endParaRPr lang="en-US" sz="1000" dirty="0"/>
          </a:p>
        </p:txBody>
      </p:sp>
      <p:sp>
        <p:nvSpPr>
          <p:cNvPr id="8" name="Shape 6"/>
          <p:cNvSpPr/>
          <p:nvPr/>
        </p:nvSpPr>
        <p:spPr>
          <a:xfrm>
            <a:off x="658368" y="1920240"/>
            <a:ext cx="10874959" cy="603504"/>
          </a:xfrm>
          <a:prstGeom prst="roundRect">
            <a:avLst>
              <a:gd name="adj" fmla="val 9091"/>
            </a:avLst>
          </a:prstGeom>
          <a:solidFill>
            <a:srgbClr val="F1F5F7"/>
          </a:solidFill>
          <a:ln w="12700">
            <a:solidFill>
              <a:srgbClr val="F1F5F7"/>
            </a:solidFill>
            <a:prstDash val="solid"/>
          </a:ln>
        </p:spPr>
      </p:sp>
      <p:sp>
        <p:nvSpPr>
          <p:cNvPr id="9" name="Shape 7"/>
          <p:cNvSpPr/>
          <p:nvPr/>
        </p:nvSpPr>
        <p:spPr>
          <a:xfrm>
            <a:off x="932688" y="2084832"/>
            <a:ext cx="146304" cy="146304"/>
          </a:xfrm>
          <a:prstGeom prst="ellipse">
            <a:avLst/>
          </a:prstGeom>
          <a:solidFill>
            <a:srgbClr val="02C39A"/>
          </a:solidFill>
          <a:ln w="12700">
            <a:solidFill>
              <a:srgbClr val="02C39A"/>
            </a:solidFill>
            <a:prstDash val="solid"/>
          </a:ln>
        </p:spPr>
      </p:sp>
      <p:sp>
        <p:nvSpPr>
          <p:cNvPr id="10" name="Text 8"/>
          <p:cNvSpPr txBox="1"/>
          <p:nvPr/>
        </p:nvSpPr>
        <p:spPr>
          <a:xfrm>
            <a:off x="1207008" y="2011680"/>
            <a:ext cx="4480560" cy="292608"/>
          </a:xfrm>
          <a:prstGeom prst="rect">
            <a:avLst/>
          </a:prstGeom>
          <a:noFill/>
          <a:ln/>
        </p:spPr>
        <p:txBody>
          <a:bodyPr wrap="square" lIns="0" tIns="0" rIns="0" bIns="0" rtlCol="0" anchor="ctr"/>
          <a:lstStyle/>
          <a:p>
            <a:pPr indent="0" marL="0">
              <a:buNone/>
            </a:pPr>
            <a:r>
              <a:rPr lang="en-US" sz="1250" b="1" dirty="0">
                <a:solidFill>
                  <a:srgbClr val="172A33"/>
                </a:solidFill>
                <a:latin typeface="Calibri" pitchFamily="34" charset="0"/>
                <a:ea typeface="Calibri" pitchFamily="34" charset="-122"/>
                <a:cs typeface="Calibri" pitchFamily="34" charset="-120"/>
              </a:rPr>
              <a:t>Unsupported file extension</a:t>
            </a:r>
            <a:endParaRPr lang="en-US" sz="1250" dirty="0"/>
          </a:p>
        </p:txBody>
      </p:sp>
      <p:sp>
        <p:nvSpPr>
          <p:cNvPr id="11" name="Text 9"/>
          <p:cNvSpPr txBox="1"/>
          <p:nvPr/>
        </p:nvSpPr>
        <p:spPr>
          <a:xfrm>
            <a:off x="5760720" y="2011680"/>
            <a:ext cx="5486400" cy="292608"/>
          </a:xfrm>
          <a:prstGeom prst="rect">
            <a:avLst/>
          </a:prstGeom>
          <a:noFill/>
          <a:ln/>
        </p:spPr>
        <p:txBody>
          <a:bodyPr wrap="square" lIns="0" tIns="0" rIns="0" bIns="0" rtlCol="0" anchor="ctr"/>
          <a:lstStyle/>
          <a:p>
            <a:pPr indent="0" marL="0">
              <a:buNone/>
            </a:pPr>
            <a:r>
              <a:rPr lang="en-US" sz="1250" dirty="0">
                <a:solidFill>
                  <a:srgbClr val="5D7480"/>
                </a:solidFill>
                <a:latin typeface="Calibri" pitchFamily="34" charset="0"/>
                <a:ea typeface="Calibri" pitchFamily="34" charset="-122"/>
                <a:cs typeface="Calibri" pitchFamily="34" charset="-120"/>
              </a:rPr>
              <a:t>Reported as a skipped file</a:t>
            </a:r>
            <a:endParaRPr lang="en-US" sz="1250" dirty="0"/>
          </a:p>
        </p:txBody>
      </p:sp>
      <p:sp>
        <p:nvSpPr>
          <p:cNvPr id="12" name="Shape 10"/>
          <p:cNvSpPr/>
          <p:nvPr/>
        </p:nvSpPr>
        <p:spPr>
          <a:xfrm>
            <a:off x="932688" y="2743200"/>
            <a:ext cx="146304" cy="146304"/>
          </a:xfrm>
          <a:prstGeom prst="ellipse">
            <a:avLst/>
          </a:prstGeom>
          <a:solidFill>
            <a:srgbClr val="E0913A"/>
          </a:solidFill>
          <a:ln w="12700">
            <a:solidFill>
              <a:srgbClr val="E0913A"/>
            </a:solidFill>
            <a:prstDash val="solid"/>
          </a:ln>
        </p:spPr>
      </p:sp>
      <p:sp>
        <p:nvSpPr>
          <p:cNvPr id="13" name="Text 11"/>
          <p:cNvSpPr txBox="1"/>
          <p:nvPr/>
        </p:nvSpPr>
        <p:spPr>
          <a:xfrm>
            <a:off x="1207008" y="2670048"/>
            <a:ext cx="4480560" cy="292608"/>
          </a:xfrm>
          <a:prstGeom prst="rect">
            <a:avLst/>
          </a:prstGeom>
          <a:noFill/>
          <a:ln/>
        </p:spPr>
        <p:txBody>
          <a:bodyPr wrap="square" lIns="0" tIns="0" rIns="0" bIns="0" rtlCol="0" anchor="ctr"/>
          <a:lstStyle/>
          <a:p>
            <a:pPr indent="0" marL="0">
              <a:buNone/>
            </a:pPr>
            <a:r>
              <a:rPr lang="en-US" sz="1250" b="1" dirty="0">
                <a:solidFill>
                  <a:srgbClr val="172A33"/>
                </a:solidFill>
                <a:latin typeface="Calibri" pitchFamily="34" charset="0"/>
                <a:ea typeface="Calibri" pitchFamily="34" charset="-122"/>
                <a:cs typeface="Calibri" pitchFamily="34" charset="-120"/>
              </a:rPr>
              <a:t>Unreadable or empty document</a:t>
            </a:r>
            <a:endParaRPr lang="en-US" sz="1250" dirty="0"/>
          </a:p>
        </p:txBody>
      </p:sp>
      <p:sp>
        <p:nvSpPr>
          <p:cNvPr id="14" name="Text 12"/>
          <p:cNvSpPr txBox="1"/>
          <p:nvPr/>
        </p:nvSpPr>
        <p:spPr>
          <a:xfrm>
            <a:off x="5760720" y="2670048"/>
            <a:ext cx="5486400" cy="292608"/>
          </a:xfrm>
          <a:prstGeom prst="rect">
            <a:avLst/>
          </a:prstGeom>
          <a:noFill/>
          <a:ln/>
        </p:spPr>
        <p:txBody>
          <a:bodyPr wrap="square" lIns="0" tIns="0" rIns="0" bIns="0" rtlCol="0" anchor="ctr"/>
          <a:lstStyle/>
          <a:p>
            <a:pPr indent="0" marL="0">
              <a:buNone/>
            </a:pPr>
            <a:r>
              <a:rPr lang="en-US" sz="1250" dirty="0">
                <a:solidFill>
                  <a:srgbClr val="5D7480"/>
                </a:solidFill>
                <a:latin typeface="Calibri" pitchFamily="34" charset="0"/>
                <a:ea typeface="Calibri" pitchFamily="34" charset="-122"/>
                <a:cs typeface="Calibri" pitchFamily="34" charset="-120"/>
              </a:rPr>
              <a:t>FAILED row in the report, reason recorded</a:t>
            </a:r>
            <a:endParaRPr lang="en-US" sz="1250" dirty="0"/>
          </a:p>
        </p:txBody>
      </p:sp>
      <p:sp>
        <p:nvSpPr>
          <p:cNvPr id="15" name="Shape 13"/>
          <p:cNvSpPr/>
          <p:nvPr/>
        </p:nvSpPr>
        <p:spPr>
          <a:xfrm>
            <a:off x="658368" y="3236976"/>
            <a:ext cx="10874959" cy="603504"/>
          </a:xfrm>
          <a:prstGeom prst="roundRect">
            <a:avLst>
              <a:gd name="adj" fmla="val 9091"/>
            </a:avLst>
          </a:prstGeom>
          <a:solidFill>
            <a:srgbClr val="F1F5F7"/>
          </a:solidFill>
          <a:ln w="12700">
            <a:solidFill>
              <a:srgbClr val="F1F5F7"/>
            </a:solidFill>
            <a:prstDash val="solid"/>
          </a:ln>
        </p:spPr>
      </p:sp>
      <p:sp>
        <p:nvSpPr>
          <p:cNvPr id="16" name="Shape 14"/>
          <p:cNvSpPr/>
          <p:nvPr/>
        </p:nvSpPr>
        <p:spPr>
          <a:xfrm>
            <a:off x="932688" y="3401568"/>
            <a:ext cx="146304" cy="146304"/>
          </a:xfrm>
          <a:prstGeom prst="ellipse">
            <a:avLst/>
          </a:prstGeom>
          <a:solidFill>
            <a:srgbClr val="D1495B"/>
          </a:solidFill>
          <a:ln w="12700">
            <a:solidFill>
              <a:srgbClr val="D1495B"/>
            </a:solidFill>
            <a:prstDash val="solid"/>
          </a:ln>
        </p:spPr>
      </p:sp>
      <p:sp>
        <p:nvSpPr>
          <p:cNvPr id="17" name="Text 15"/>
          <p:cNvSpPr txBox="1"/>
          <p:nvPr/>
        </p:nvSpPr>
        <p:spPr>
          <a:xfrm>
            <a:off x="1207008" y="3328416"/>
            <a:ext cx="4480560" cy="292608"/>
          </a:xfrm>
          <a:prstGeom prst="rect">
            <a:avLst/>
          </a:prstGeom>
          <a:noFill/>
          <a:ln/>
        </p:spPr>
        <p:txBody>
          <a:bodyPr wrap="square" lIns="0" tIns="0" rIns="0" bIns="0" rtlCol="0" anchor="ctr"/>
          <a:lstStyle/>
          <a:p>
            <a:pPr indent="0" marL="0">
              <a:buNone/>
            </a:pPr>
            <a:r>
              <a:rPr lang="en-US" sz="1250" b="1" dirty="0">
                <a:solidFill>
                  <a:srgbClr val="172A33"/>
                </a:solidFill>
                <a:latin typeface="Calibri" pitchFamily="34" charset="0"/>
                <a:ea typeface="Calibri" pitchFamily="34" charset="-122"/>
                <a:cs typeface="Calibri" pitchFamily="34" charset="-120"/>
              </a:rPr>
              <a:t>Extraction call fails</a:t>
            </a:r>
            <a:endParaRPr lang="en-US" sz="1250" dirty="0"/>
          </a:p>
        </p:txBody>
      </p:sp>
      <p:sp>
        <p:nvSpPr>
          <p:cNvPr id="18" name="Text 16"/>
          <p:cNvSpPr txBox="1"/>
          <p:nvPr/>
        </p:nvSpPr>
        <p:spPr>
          <a:xfrm>
            <a:off x="5760720" y="3328416"/>
            <a:ext cx="5486400" cy="292608"/>
          </a:xfrm>
          <a:prstGeom prst="rect">
            <a:avLst/>
          </a:prstGeom>
          <a:noFill/>
          <a:ln/>
        </p:spPr>
        <p:txBody>
          <a:bodyPr wrap="square" lIns="0" tIns="0" rIns="0" bIns="0" rtlCol="0" anchor="ctr"/>
          <a:lstStyle/>
          <a:p>
            <a:pPr indent="0" marL="0">
              <a:buNone/>
            </a:pPr>
            <a:r>
              <a:rPr lang="en-US" sz="1250" dirty="0">
                <a:solidFill>
                  <a:srgbClr val="5D7480"/>
                </a:solidFill>
                <a:latin typeface="Calibri" pitchFamily="34" charset="0"/>
                <a:ea typeface="Calibri" pitchFamily="34" charset="-122"/>
                <a:cs typeface="Calibri" pitchFamily="34" charset="-120"/>
              </a:rPr>
              <a:t>FAILED — downstream tasks skipped, they need its output</a:t>
            </a:r>
            <a:endParaRPr lang="en-US" sz="1250" dirty="0"/>
          </a:p>
        </p:txBody>
      </p:sp>
      <p:sp>
        <p:nvSpPr>
          <p:cNvPr id="19" name="Shape 17"/>
          <p:cNvSpPr/>
          <p:nvPr/>
        </p:nvSpPr>
        <p:spPr>
          <a:xfrm>
            <a:off x="932688" y="4059936"/>
            <a:ext cx="146304" cy="146304"/>
          </a:xfrm>
          <a:prstGeom prst="ellipse">
            <a:avLst/>
          </a:prstGeom>
          <a:solidFill>
            <a:srgbClr val="E0913A"/>
          </a:solidFill>
          <a:ln w="12700">
            <a:solidFill>
              <a:srgbClr val="E0913A"/>
            </a:solidFill>
            <a:prstDash val="solid"/>
          </a:ln>
        </p:spPr>
      </p:sp>
      <p:sp>
        <p:nvSpPr>
          <p:cNvPr id="20" name="Text 18"/>
          <p:cNvSpPr txBox="1"/>
          <p:nvPr/>
        </p:nvSpPr>
        <p:spPr>
          <a:xfrm>
            <a:off x="1207008" y="3986784"/>
            <a:ext cx="4480560" cy="292608"/>
          </a:xfrm>
          <a:prstGeom prst="rect">
            <a:avLst/>
          </a:prstGeom>
          <a:noFill/>
          <a:ln/>
        </p:spPr>
        <p:txBody>
          <a:bodyPr wrap="square" lIns="0" tIns="0" rIns="0" bIns="0" rtlCol="0" anchor="ctr"/>
          <a:lstStyle/>
          <a:p>
            <a:pPr indent="0" marL="0">
              <a:buNone/>
            </a:pPr>
            <a:r>
              <a:rPr lang="en-US" sz="1250" b="1" dirty="0">
                <a:solidFill>
                  <a:srgbClr val="172A33"/>
                </a:solidFill>
                <a:latin typeface="Calibri" pitchFamily="34" charset="0"/>
                <a:ea typeface="Calibri" pitchFamily="34" charset="-122"/>
                <a:cs typeface="Calibri" pitchFamily="34" charset="-120"/>
              </a:rPr>
              <a:t>Email or summary fails</a:t>
            </a:r>
            <a:endParaRPr lang="en-US" sz="1250" dirty="0"/>
          </a:p>
        </p:txBody>
      </p:sp>
      <p:sp>
        <p:nvSpPr>
          <p:cNvPr id="21" name="Text 19"/>
          <p:cNvSpPr txBox="1"/>
          <p:nvPr/>
        </p:nvSpPr>
        <p:spPr>
          <a:xfrm>
            <a:off x="5760720" y="3986784"/>
            <a:ext cx="5486400" cy="292608"/>
          </a:xfrm>
          <a:prstGeom prst="rect">
            <a:avLst/>
          </a:prstGeom>
          <a:noFill/>
          <a:ln/>
        </p:spPr>
        <p:txBody>
          <a:bodyPr wrap="square" lIns="0" tIns="0" rIns="0" bIns="0" rtlCol="0" anchor="ctr"/>
          <a:lstStyle/>
          <a:p>
            <a:pPr indent="0" marL="0">
              <a:buNone/>
            </a:pPr>
            <a:r>
              <a:rPr lang="en-US" sz="1250" dirty="0">
                <a:solidFill>
                  <a:srgbClr val="5D7480"/>
                </a:solidFill>
                <a:latin typeface="Calibri" pitchFamily="34" charset="0"/>
                <a:ea typeface="Calibri" pitchFamily="34" charset="-122"/>
                <a:cs typeface="Calibri" pitchFamily="34" charset="-120"/>
              </a:rPr>
              <a:t>PARTIAL — the other outputs are still written</a:t>
            </a:r>
            <a:endParaRPr lang="en-US" sz="1250" dirty="0"/>
          </a:p>
        </p:txBody>
      </p:sp>
      <p:sp>
        <p:nvSpPr>
          <p:cNvPr id="22" name="Shape 20"/>
          <p:cNvSpPr/>
          <p:nvPr/>
        </p:nvSpPr>
        <p:spPr>
          <a:xfrm>
            <a:off x="658368" y="4553712"/>
            <a:ext cx="10874959" cy="603504"/>
          </a:xfrm>
          <a:prstGeom prst="roundRect">
            <a:avLst>
              <a:gd name="adj" fmla="val 9091"/>
            </a:avLst>
          </a:prstGeom>
          <a:solidFill>
            <a:srgbClr val="F1F5F7"/>
          </a:solidFill>
          <a:ln w="12700">
            <a:solidFill>
              <a:srgbClr val="F1F5F7"/>
            </a:solidFill>
            <a:prstDash val="solid"/>
          </a:ln>
        </p:spPr>
      </p:sp>
      <p:sp>
        <p:nvSpPr>
          <p:cNvPr id="23" name="Shape 21"/>
          <p:cNvSpPr/>
          <p:nvPr/>
        </p:nvSpPr>
        <p:spPr>
          <a:xfrm>
            <a:off x="932688" y="4718304"/>
            <a:ext cx="146304" cy="146304"/>
          </a:xfrm>
          <a:prstGeom prst="ellipse">
            <a:avLst/>
          </a:prstGeom>
          <a:solidFill>
            <a:srgbClr val="02C39A"/>
          </a:solidFill>
          <a:ln w="12700">
            <a:solidFill>
              <a:srgbClr val="02C39A"/>
            </a:solidFill>
            <a:prstDash val="solid"/>
          </a:ln>
        </p:spPr>
      </p:sp>
      <p:sp>
        <p:nvSpPr>
          <p:cNvPr id="24" name="Text 22"/>
          <p:cNvSpPr txBox="1"/>
          <p:nvPr/>
        </p:nvSpPr>
        <p:spPr>
          <a:xfrm>
            <a:off x="1207008" y="4645152"/>
            <a:ext cx="4480560" cy="292608"/>
          </a:xfrm>
          <a:prstGeom prst="rect">
            <a:avLst/>
          </a:prstGeom>
          <a:noFill/>
          <a:ln/>
        </p:spPr>
        <p:txBody>
          <a:bodyPr wrap="square" lIns="0" tIns="0" rIns="0" bIns="0" rtlCol="0" anchor="ctr"/>
          <a:lstStyle/>
          <a:p>
            <a:pPr indent="0" marL="0">
              <a:buNone/>
            </a:pPr>
            <a:r>
              <a:rPr lang="en-US" sz="1250" b="1" dirty="0">
                <a:solidFill>
                  <a:srgbClr val="172A33"/>
                </a:solidFill>
                <a:latin typeface="Calibri" pitchFamily="34" charset="0"/>
                <a:ea typeface="Calibri" pitchFamily="34" charset="-122"/>
                <a:cs typeface="Calibri" pitchFamily="34" charset="-120"/>
              </a:rPr>
              <a:t>Provider timeout or rate limit</a:t>
            </a:r>
            <a:endParaRPr lang="en-US" sz="1250" dirty="0"/>
          </a:p>
        </p:txBody>
      </p:sp>
      <p:sp>
        <p:nvSpPr>
          <p:cNvPr id="25" name="Text 23"/>
          <p:cNvSpPr txBox="1"/>
          <p:nvPr/>
        </p:nvSpPr>
        <p:spPr>
          <a:xfrm>
            <a:off x="5760720" y="4645152"/>
            <a:ext cx="5486400" cy="292608"/>
          </a:xfrm>
          <a:prstGeom prst="rect">
            <a:avLst/>
          </a:prstGeom>
          <a:noFill/>
          <a:ln/>
        </p:spPr>
        <p:txBody>
          <a:bodyPr wrap="square" lIns="0" tIns="0" rIns="0" bIns="0" rtlCol="0" anchor="ctr"/>
          <a:lstStyle/>
          <a:p>
            <a:pPr indent="0" marL="0">
              <a:buNone/>
            </a:pPr>
            <a:r>
              <a:rPr lang="en-US" sz="1250" dirty="0">
                <a:solidFill>
                  <a:srgbClr val="5D7480"/>
                </a:solidFill>
                <a:latin typeface="Calibri" pitchFamily="34" charset="0"/>
                <a:ea typeface="Calibri" pitchFamily="34" charset="-122"/>
                <a:cs typeface="Calibri" pitchFamily="34" charset="-120"/>
              </a:rPr>
              <a:t>Retried with exponential backoff (tenacity)</a:t>
            </a:r>
            <a:endParaRPr lang="en-US" sz="1250" dirty="0"/>
          </a:p>
        </p:txBody>
      </p:sp>
      <p:sp>
        <p:nvSpPr>
          <p:cNvPr id="26" name="Shape 24"/>
          <p:cNvSpPr/>
          <p:nvPr/>
        </p:nvSpPr>
        <p:spPr>
          <a:xfrm>
            <a:off x="932688" y="5376672"/>
            <a:ext cx="146304" cy="146304"/>
          </a:xfrm>
          <a:prstGeom prst="ellipse">
            <a:avLst/>
          </a:prstGeom>
          <a:solidFill>
            <a:srgbClr val="D1495B"/>
          </a:solidFill>
          <a:ln w="12700">
            <a:solidFill>
              <a:srgbClr val="D1495B"/>
            </a:solidFill>
            <a:prstDash val="solid"/>
          </a:ln>
        </p:spPr>
      </p:sp>
      <p:sp>
        <p:nvSpPr>
          <p:cNvPr id="27" name="Text 25"/>
          <p:cNvSpPr txBox="1"/>
          <p:nvPr/>
        </p:nvSpPr>
        <p:spPr>
          <a:xfrm>
            <a:off x="1207008" y="5303520"/>
            <a:ext cx="4480560" cy="292608"/>
          </a:xfrm>
          <a:prstGeom prst="rect">
            <a:avLst/>
          </a:prstGeom>
          <a:noFill/>
          <a:ln/>
        </p:spPr>
        <p:txBody>
          <a:bodyPr wrap="square" lIns="0" tIns="0" rIns="0" bIns="0" rtlCol="0" anchor="ctr"/>
          <a:lstStyle/>
          <a:p>
            <a:pPr indent="0" marL="0">
              <a:buNone/>
            </a:pPr>
            <a:r>
              <a:rPr lang="en-US" sz="1250" b="1" dirty="0">
                <a:solidFill>
                  <a:srgbClr val="172A33"/>
                </a:solidFill>
                <a:latin typeface="Calibri" pitchFamily="34" charset="0"/>
                <a:ea typeface="Calibri" pitchFamily="34" charset="-122"/>
                <a:cs typeface="Calibri" pitchFamily="34" charset="-120"/>
              </a:rPr>
              <a:t>Missing API key</a:t>
            </a:r>
            <a:endParaRPr lang="en-US" sz="1250" dirty="0"/>
          </a:p>
        </p:txBody>
      </p:sp>
      <p:sp>
        <p:nvSpPr>
          <p:cNvPr id="28" name="Text 26"/>
          <p:cNvSpPr txBox="1"/>
          <p:nvPr/>
        </p:nvSpPr>
        <p:spPr>
          <a:xfrm>
            <a:off x="5760720" y="5303520"/>
            <a:ext cx="5486400" cy="292608"/>
          </a:xfrm>
          <a:prstGeom prst="rect">
            <a:avLst/>
          </a:prstGeom>
          <a:noFill/>
          <a:ln/>
        </p:spPr>
        <p:txBody>
          <a:bodyPr wrap="square" lIns="0" tIns="0" rIns="0" bIns="0" rtlCol="0" anchor="ctr"/>
          <a:lstStyle/>
          <a:p>
            <a:pPr indent="0" marL="0">
              <a:buNone/>
            </a:pPr>
            <a:r>
              <a:rPr lang="en-US" sz="1250" dirty="0">
                <a:solidFill>
                  <a:srgbClr val="5D7480"/>
                </a:solidFill>
                <a:latin typeface="Calibri" pitchFamily="34" charset="0"/>
                <a:ea typeface="Calibri" pitchFamily="34" charset="-122"/>
                <a:cs typeface="Calibri" pitchFamily="34" charset="-120"/>
              </a:rPr>
              <a:t>Fatal before the batch starts, with actionable guidance</a:t>
            </a:r>
            <a:endParaRPr lang="en-US" sz="1250" dirty="0"/>
          </a:p>
        </p:txBody>
      </p:sp>
      <p:sp>
        <p:nvSpPr>
          <p:cNvPr id="29" name="Shape 27"/>
          <p:cNvSpPr/>
          <p:nvPr/>
        </p:nvSpPr>
        <p:spPr>
          <a:xfrm>
            <a:off x="658368" y="5541264"/>
            <a:ext cx="10874959" cy="658368"/>
          </a:xfrm>
          <a:prstGeom prst="roundRect">
            <a:avLst>
              <a:gd name="adj" fmla="val 8333"/>
            </a:avLst>
          </a:prstGeom>
          <a:solidFill>
            <a:srgbClr val="10222E"/>
          </a:solidFill>
          <a:ln w="12700">
            <a:solidFill>
              <a:srgbClr val="10222E"/>
            </a:solidFill>
            <a:prstDash val="solid"/>
          </a:ln>
        </p:spPr>
      </p:sp>
      <p:sp>
        <p:nvSpPr>
          <p:cNvPr id="30" name="Text 28"/>
          <p:cNvSpPr txBox="1"/>
          <p:nvPr/>
        </p:nvSpPr>
        <p:spPr>
          <a:xfrm>
            <a:off x="969264" y="5724144"/>
            <a:ext cx="118872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Exit codes</a:t>
            </a:r>
            <a:endParaRPr lang="en-US" sz="1300" dirty="0"/>
          </a:p>
        </p:txBody>
      </p:sp>
      <p:sp>
        <p:nvSpPr>
          <p:cNvPr id="31" name="Text 29"/>
          <p:cNvSpPr txBox="1"/>
          <p:nvPr/>
        </p:nvSpPr>
        <p:spPr>
          <a:xfrm>
            <a:off x="2212848" y="5724144"/>
            <a:ext cx="8961120" cy="274320"/>
          </a:xfrm>
          <a:prstGeom prst="rect">
            <a:avLst/>
          </a:prstGeom>
          <a:noFill/>
          <a:ln/>
        </p:spPr>
        <p:txBody>
          <a:bodyPr wrap="square" lIns="0" tIns="0" rIns="0" bIns="0" rtlCol="0" anchor="ctr"/>
          <a:lstStyle/>
          <a:p>
            <a:pPr indent="0" marL="0">
              <a:buNone/>
            </a:pPr>
            <a:r>
              <a:rPr lang="en-US" sz="1200" dirty="0">
                <a:solidFill>
                  <a:srgbClr val="02C39A"/>
                </a:solidFill>
                <a:latin typeface="Courier New" pitchFamily="34" charset="0"/>
                <a:ea typeface="Courier New" pitchFamily="34" charset="-122"/>
                <a:cs typeface="Courier New" pitchFamily="34" charset="-120"/>
              </a:rPr>
              <a:t>0  all succeeded        1  some partial or failed        2  configuration error        3  fatal</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0222E"/>
        </a:solidFill>
      </p:bgPr>
    </p:bg>
    <p:spTree>
      <p:nvGrpSpPr>
        <p:cNvPr id="1" name=""/>
        <p:cNvGrpSpPr/>
        <p:nvPr/>
      </p:nvGrpSpPr>
      <p:grpSpPr>
        <a:xfrm>
          <a:off x="0" y="0"/>
          <a:ext cx="0" cy="0"/>
          <a:chOff x="0" y="0"/>
          <a:chExt cx="0" cy="0"/>
        </a:xfrm>
      </p:grpSpPr>
      <p:sp>
        <p:nvSpPr>
          <p:cNvPr id="2" name="Text 0"/>
          <p:cNvSpPr txBox="1"/>
          <p:nvPr/>
        </p:nvSpPr>
        <p:spPr>
          <a:xfrm>
            <a:off x="658368" y="402336"/>
            <a:ext cx="10874959" cy="237744"/>
          </a:xfrm>
          <a:prstGeom prst="rect">
            <a:avLst/>
          </a:prstGeom>
          <a:noFill/>
          <a:ln/>
        </p:spPr>
        <p:txBody>
          <a:bodyPr wrap="square" lIns="0" tIns="0" rIns="0" bIns="0" rtlCol="0" anchor="ctr"/>
          <a:lstStyle/>
          <a:p>
            <a:pPr indent="0" marL="0">
              <a:buNone/>
            </a:pPr>
            <a:r>
              <a:rPr lang="en-US" sz="1100" b="1" spc="160" kern="0" dirty="0">
                <a:solidFill>
                  <a:srgbClr val="02C39A"/>
                </a:solidFill>
                <a:latin typeface="Calibri" pitchFamily="34" charset="0"/>
                <a:ea typeface="Calibri" pitchFamily="34" charset="-122"/>
                <a:cs typeface="Calibri" pitchFamily="34" charset="-120"/>
              </a:rPr>
              <a:t>RESULTS</a:t>
            </a:r>
            <a:endParaRPr lang="en-US" sz="1100" dirty="0"/>
          </a:p>
        </p:txBody>
      </p:sp>
      <p:sp>
        <p:nvSpPr>
          <p:cNvPr id="3" name="Text 1"/>
          <p:cNvSpPr txBox="1"/>
          <p:nvPr/>
        </p:nvSpPr>
        <p:spPr>
          <a:xfrm>
            <a:off x="658368" y="658368"/>
            <a:ext cx="10874959" cy="658368"/>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Verified end to end on gpt-4o-mini</a:t>
            </a:r>
            <a:endParaRPr lang="en-US" sz="3200" dirty="0"/>
          </a:p>
        </p:txBody>
      </p:sp>
      <p:sp>
        <p:nvSpPr>
          <p:cNvPr id="4" name="Text 2"/>
          <p:cNvSpPr txBox="1"/>
          <p:nvPr/>
        </p:nvSpPr>
        <p:spPr>
          <a:xfrm>
            <a:off x="10984687" y="6382512"/>
            <a:ext cx="548640" cy="256032"/>
          </a:xfrm>
          <a:prstGeom prst="rect">
            <a:avLst/>
          </a:prstGeom>
          <a:noFill/>
          <a:ln/>
        </p:spPr>
        <p:txBody>
          <a:bodyPr wrap="square" lIns="0" tIns="0" rIns="0" bIns="0" rtlCol="0" anchor="ctr"/>
          <a:lstStyle/>
          <a:p>
            <a:pPr algn="r" indent="0" marL="0">
              <a:buNone/>
            </a:pPr>
            <a:r>
              <a:rPr lang="en-US" sz="1000" dirty="0">
                <a:solidFill>
                  <a:srgbClr val="9DB4BE"/>
                </a:solidFill>
                <a:latin typeface="Calibri" pitchFamily="34" charset="0"/>
                <a:ea typeface="Calibri" pitchFamily="34" charset="-122"/>
                <a:cs typeface="Calibri" pitchFamily="34" charset="-120"/>
              </a:rPr>
              <a:t>11</a:t>
            </a:r>
            <a:endParaRPr lang="en-US" sz="1000" dirty="0"/>
          </a:p>
        </p:txBody>
      </p:sp>
      <p:sp>
        <p:nvSpPr>
          <p:cNvPr id="5" name="Text 3"/>
          <p:cNvSpPr txBox="1"/>
          <p:nvPr/>
        </p:nvSpPr>
        <p:spPr>
          <a:xfrm>
            <a:off x="658368" y="6382512"/>
            <a:ext cx="6858000" cy="256032"/>
          </a:xfrm>
          <a:prstGeom prst="rect">
            <a:avLst/>
          </a:prstGeom>
          <a:noFill/>
          <a:ln/>
        </p:spPr>
        <p:txBody>
          <a:bodyPr wrap="square" lIns="0" tIns="0" rIns="0" bIns="0" rtlCol="0" anchor="ctr"/>
          <a:lstStyle/>
          <a:p>
            <a:pPr indent="0" marL="0">
              <a:buNone/>
            </a:pPr>
            <a:r>
              <a:rPr lang="en-US" sz="1000" dirty="0">
                <a:solidFill>
                  <a:srgbClr val="9DB4BE"/>
                </a:solidFill>
                <a:latin typeface="Calibri" pitchFamily="34" charset="0"/>
                <a:ea typeface="Calibri" pitchFamily="34" charset="-122"/>
                <a:cs typeface="Calibri" pitchFamily="34" charset="-120"/>
              </a:rPr>
              <a:t>AI Customer Complaint &amp; Case Processing System</a:t>
            </a:r>
            <a:endParaRPr lang="en-US" sz="1000" dirty="0"/>
          </a:p>
        </p:txBody>
      </p:sp>
      <p:sp>
        <p:nvSpPr>
          <p:cNvPr id="6" name="Shape 4"/>
          <p:cNvSpPr/>
          <p:nvPr/>
        </p:nvSpPr>
        <p:spPr>
          <a:xfrm>
            <a:off x="658368" y="1664208"/>
            <a:ext cx="2587752" cy="1572768"/>
          </a:xfrm>
          <a:prstGeom prst="roundRect">
            <a:avLst>
              <a:gd name="adj" fmla="val 3488"/>
            </a:avLst>
          </a:prstGeom>
          <a:solidFill>
            <a:srgbClr val="1B3B4A"/>
          </a:solidFill>
          <a:ln w="12700">
            <a:solidFill>
              <a:srgbClr val="1B3B4A"/>
            </a:solidFill>
            <a:prstDash val="solid"/>
          </a:ln>
        </p:spPr>
      </p:sp>
      <p:sp>
        <p:nvSpPr>
          <p:cNvPr id="7" name="Text 5"/>
          <p:cNvSpPr txBox="1"/>
          <p:nvPr/>
        </p:nvSpPr>
        <p:spPr>
          <a:xfrm>
            <a:off x="841248" y="1883664"/>
            <a:ext cx="2221992" cy="603504"/>
          </a:xfrm>
          <a:prstGeom prst="rect">
            <a:avLst/>
          </a:prstGeom>
          <a:noFill/>
          <a:ln/>
        </p:spPr>
        <p:txBody>
          <a:bodyPr wrap="square" lIns="0" tIns="0" rIns="0" bIns="0" rtlCol="0" anchor="ctr"/>
          <a:lstStyle/>
          <a:p>
            <a:pPr algn="ctr" indent="0" marL="0">
              <a:buNone/>
            </a:pPr>
            <a:r>
              <a:rPr lang="en-US" sz="3200" b="1" dirty="0">
                <a:solidFill>
                  <a:srgbClr val="02C39A"/>
                </a:solidFill>
                <a:latin typeface="Cambria" pitchFamily="34" charset="0"/>
                <a:ea typeface="Cambria" pitchFamily="34" charset="-122"/>
                <a:cs typeface="Cambria" pitchFamily="34" charset="-120"/>
              </a:rPr>
              <a:t>8 / 8</a:t>
            </a:r>
            <a:endParaRPr lang="en-US" sz="3200" dirty="0"/>
          </a:p>
        </p:txBody>
      </p:sp>
      <p:sp>
        <p:nvSpPr>
          <p:cNvPr id="8" name="Text 6"/>
          <p:cNvSpPr txBox="1"/>
          <p:nvPr/>
        </p:nvSpPr>
        <p:spPr>
          <a:xfrm>
            <a:off x="841248" y="2523744"/>
            <a:ext cx="2221992" cy="512064"/>
          </a:xfrm>
          <a:prstGeom prst="rect">
            <a:avLst/>
          </a:prstGeom>
          <a:noFill/>
          <a:ln/>
        </p:spPr>
        <p:txBody>
          <a:bodyPr wrap="square" lIns="0" tIns="0" rIns="0" bIns="0" rtlCol="0" anchor="ctr"/>
          <a:lstStyle/>
          <a:p>
            <a:pPr algn="ctr" indent="0" marL="0">
              <a:lnSpc>
                <a:spcPct val="116000"/>
              </a:lnSpc>
              <a:buNone/>
            </a:pPr>
            <a:r>
              <a:rPr lang="en-US" sz="1150" dirty="0">
                <a:solidFill>
                  <a:srgbClr val="9DB4BE"/>
                </a:solidFill>
                <a:latin typeface="Calibri" pitchFamily="34" charset="0"/>
                <a:ea typeface="Calibri" pitchFamily="34" charset="-122"/>
                <a:cs typeface="Calibri" pitchFamily="34" charset="-120"/>
              </a:rPr>
              <a:t>documents fully processed</a:t>
            </a:r>
            <a:endParaRPr lang="en-US" sz="1150" dirty="0"/>
          </a:p>
        </p:txBody>
      </p:sp>
      <p:sp>
        <p:nvSpPr>
          <p:cNvPr id="9" name="Shape 7"/>
          <p:cNvSpPr/>
          <p:nvPr/>
        </p:nvSpPr>
        <p:spPr>
          <a:xfrm>
            <a:off x="3465576" y="1664208"/>
            <a:ext cx="2587752" cy="1572768"/>
          </a:xfrm>
          <a:prstGeom prst="roundRect">
            <a:avLst>
              <a:gd name="adj" fmla="val 3488"/>
            </a:avLst>
          </a:prstGeom>
          <a:solidFill>
            <a:srgbClr val="1B3B4A"/>
          </a:solidFill>
          <a:ln w="12700">
            <a:solidFill>
              <a:srgbClr val="1B3B4A"/>
            </a:solidFill>
            <a:prstDash val="solid"/>
          </a:ln>
        </p:spPr>
      </p:sp>
      <p:sp>
        <p:nvSpPr>
          <p:cNvPr id="10" name="Text 8"/>
          <p:cNvSpPr txBox="1"/>
          <p:nvPr/>
        </p:nvSpPr>
        <p:spPr>
          <a:xfrm>
            <a:off x="3648456" y="1883664"/>
            <a:ext cx="2221992" cy="603504"/>
          </a:xfrm>
          <a:prstGeom prst="rect">
            <a:avLst/>
          </a:prstGeom>
          <a:noFill/>
          <a:ln/>
        </p:spPr>
        <p:txBody>
          <a:bodyPr wrap="square" lIns="0" tIns="0" rIns="0" bIns="0" rtlCol="0" anchor="ctr"/>
          <a:lstStyle/>
          <a:p>
            <a:pPr algn="ctr" indent="0" marL="0">
              <a:buNone/>
            </a:pPr>
            <a:r>
              <a:rPr lang="en-US" sz="3200" b="1" dirty="0">
                <a:solidFill>
                  <a:srgbClr val="E0913A"/>
                </a:solidFill>
                <a:latin typeface="Cambria" pitchFamily="34" charset="0"/>
                <a:ea typeface="Cambria" pitchFamily="34" charset="-122"/>
                <a:cs typeface="Cambria" pitchFamily="34" charset="-120"/>
              </a:rPr>
              <a:t>1</a:t>
            </a:r>
            <a:endParaRPr lang="en-US" sz="3200" dirty="0"/>
          </a:p>
        </p:txBody>
      </p:sp>
      <p:sp>
        <p:nvSpPr>
          <p:cNvPr id="11" name="Text 9"/>
          <p:cNvSpPr txBox="1"/>
          <p:nvPr/>
        </p:nvSpPr>
        <p:spPr>
          <a:xfrm>
            <a:off x="3648456" y="2523744"/>
            <a:ext cx="2221992" cy="512064"/>
          </a:xfrm>
          <a:prstGeom prst="rect">
            <a:avLst/>
          </a:prstGeom>
          <a:noFill/>
          <a:ln/>
        </p:spPr>
        <p:txBody>
          <a:bodyPr wrap="square" lIns="0" tIns="0" rIns="0" bIns="0" rtlCol="0" anchor="ctr"/>
          <a:lstStyle/>
          <a:p>
            <a:pPr algn="ctr" indent="0" marL="0">
              <a:lnSpc>
                <a:spcPct val="116000"/>
              </a:lnSpc>
              <a:buNone/>
            </a:pPr>
            <a:r>
              <a:rPr lang="en-US" sz="1150" dirty="0">
                <a:solidFill>
                  <a:srgbClr val="9DB4BE"/>
                </a:solidFill>
                <a:latin typeface="Calibri" pitchFamily="34" charset="0"/>
                <a:ea typeface="Calibri" pitchFamily="34" charset="-122"/>
                <a:cs typeface="Calibri" pitchFamily="34" charset="-120"/>
              </a:rPr>
              <a:t>failed by design (empty file)</a:t>
            </a:r>
            <a:endParaRPr lang="en-US" sz="1150" dirty="0"/>
          </a:p>
        </p:txBody>
      </p:sp>
      <p:sp>
        <p:nvSpPr>
          <p:cNvPr id="12" name="Shape 10"/>
          <p:cNvSpPr/>
          <p:nvPr/>
        </p:nvSpPr>
        <p:spPr>
          <a:xfrm>
            <a:off x="6272784" y="1664208"/>
            <a:ext cx="2587752" cy="1572768"/>
          </a:xfrm>
          <a:prstGeom prst="roundRect">
            <a:avLst>
              <a:gd name="adj" fmla="val 3488"/>
            </a:avLst>
          </a:prstGeom>
          <a:solidFill>
            <a:srgbClr val="1B3B4A"/>
          </a:solidFill>
          <a:ln w="12700">
            <a:solidFill>
              <a:srgbClr val="1B3B4A"/>
            </a:solidFill>
            <a:prstDash val="solid"/>
          </a:ln>
        </p:spPr>
      </p:sp>
      <p:sp>
        <p:nvSpPr>
          <p:cNvPr id="13" name="Text 11"/>
          <p:cNvSpPr txBox="1"/>
          <p:nvPr/>
        </p:nvSpPr>
        <p:spPr>
          <a:xfrm>
            <a:off x="6455664" y="1883664"/>
            <a:ext cx="2221992" cy="603504"/>
          </a:xfrm>
          <a:prstGeom prst="rect">
            <a:avLst/>
          </a:prstGeom>
          <a:noFill/>
          <a:ln/>
        </p:spPr>
        <p:txBody>
          <a:bodyPr wrap="square" lIns="0" tIns="0" rIns="0" bIns="0" rtlCol="0" anchor="ctr"/>
          <a:lstStyle/>
          <a:p>
            <a:pPr algn="ctr" indent="0" marL="0">
              <a:buNone/>
            </a:pPr>
            <a:r>
              <a:rPr lang="en-US" sz="3200" b="1" dirty="0">
                <a:solidFill>
                  <a:srgbClr val="00A896"/>
                </a:solidFill>
                <a:latin typeface="Cambria" pitchFamily="34" charset="0"/>
                <a:ea typeface="Cambria" pitchFamily="34" charset="-122"/>
                <a:cs typeface="Cambria" pitchFamily="34" charset="-120"/>
              </a:rPr>
              <a:t>11.26 s</a:t>
            </a:r>
            <a:endParaRPr lang="en-US" sz="3200" dirty="0"/>
          </a:p>
        </p:txBody>
      </p:sp>
      <p:sp>
        <p:nvSpPr>
          <p:cNvPr id="14" name="Text 12"/>
          <p:cNvSpPr txBox="1"/>
          <p:nvPr/>
        </p:nvSpPr>
        <p:spPr>
          <a:xfrm>
            <a:off x="6455664" y="2523744"/>
            <a:ext cx="2221992" cy="512064"/>
          </a:xfrm>
          <a:prstGeom prst="rect">
            <a:avLst/>
          </a:prstGeom>
          <a:noFill/>
          <a:ln/>
        </p:spPr>
        <p:txBody>
          <a:bodyPr wrap="square" lIns="0" tIns="0" rIns="0" bIns="0" rtlCol="0" anchor="ctr"/>
          <a:lstStyle/>
          <a:p>
            <a:pPr algn="ctr" indent="0" marL="0">
              <a:lnSpc>
                <a:spcPct val="116000"/>
              </a:lnSpc>
              <a:buNone/>
            </a:pPr>
            <a:r>
              <a:rPr lang="en-US" sz="1150" dirty="0">
                <a:solidFill>
                  <a:srgbClr val="9DB4BE"/>
                </a:solidFill>
                <a:latin typeface="Calibri" pitchFamily="34" charset="0"/>
                <a:ea typeface="Calibri" pitchFamily="34" charset="-122"/>
                <a:cs typeface="Calibri" pitchFamily="34" charset="-120"/>
              </a:rPr>
              <a:t>wall clock, 24 LLM calls</a:t>
            </a:r>
            <a:endParaRPr lang="en-US" sz="1150" dirty="0"/>
          </a:p>
        </p:txBody>
      </p:sp>
      <p:sp>
        <p:nvSpPr>
          <p:cNvPr id="15" name="Shape 13"/>
          <p:cNvSpPr/>
          <p:nvPr/>
        </p:nvSpPr>
        <p:spPr>
          <a:xfrm>
            <a:off x="9079992" y="1664208"/>
            <a:ext cx="2587752" cy="1572768"/>
          </a:xfrm>
          <a:prstGeom prst="roundRect">
            <a:avLst>
              <a:gd name="adj" fmla="val 3488"/>
            </a:avLst>
          </a:prstGeom>
          <a:solidFill>
            <a:srgbClr val="1B3B4A"/>
          </a:solidFill>
          <a:ln w="12700">
            <a:solidFill>
              <a:srgbClr val="1B3B4A"/>
            </a:solidFill>
            <a:prstDash val="solid"/>
          </a:ln>
        </p:spPr>
      </p:sp>
      <p:sp>
        <p:nvSpPr>
          <p:cNvPr id="16" name="Text 14"/>
          <p:cNvSpPr txBox="1"/>
          <p:nvPr/>
        </p:nvSpPr>
        <p:spPr>
          <a:xfrm>
            <a:off x="9262872" y="1883664"/>
            <a:ext cx="2221992" cy="603504"/>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79</a:t>
            </a:r>
            <a:endParaRPr lang="en-US" sz="3200" dirty="0"/>
          </a:p>
        </p:txBody>
      </p:sp>
      <p:sp>
        <p:nvSpPr>
          <p:cNvPr id="17" name="Text 15"/>
          <p:cNvSpPr txBox="1"/>
          <p:nvPr/>
        </p:nvSpPr>
        <p:spPr>
          <a:xfrm>
            <a:off x="9262872" y="2523744"/>
            <a:ext cx="2221992" cy="512064"/>
          </a:xfrm>
          <a:prstGeom prst="rect">
            <a:avLst/>
          </a:prstGeom>
          <a:noFill/>
          <a:ln/>
        </p:spPr>
        <p:txBody>
          <a:bodyPr wrap="square" lIns="0" tIns="0" rIns="0" bIns="0" rtlCol="0" anchor="ctr"/>
          <a:lstStyle/>
          <a:p>
            <a:pPr algn="ctr" indent="0" marL="0">
              <a:lnSpc>
                <a:spcPct val="116000"/>
              </a:lnSpc>
              <a:buNone/>
            </a:pPr>
            <a:r>
              <a:rPr lang="en-US" sz="1150" dirty="0">
                <a:solidFill>
                  <a:srgbClr val="9DB4BE"/>
                </a:solidFill>
                <a:latin typeface="Calibri" pitchFamily="34" charset="0"/>
                <a:ea typeface="Calibri" pitchFamily="34" charset="-122"/>
                <a:cs typeface="Calibri" pitchFamily="34" charset="-120"/>
              </a:rPr>
              <a:t>tests passing, no network needed</a:t>
            </a:r>
            <a:endParaRPr lang="en-US" sz="1150" dirty="0"/>
          </a:p>
        </p:txBody>
      </p:sp>
      <p:sp>
        <p:nvSpPr>
          <p:cNvPr id="18" name="Text 16"/>
          <p:cNvSpPr txBox="1"/>
          <p:nvPr/>
        </p:nvSpPr>
        <p:spPr>
          <a:xfrm>
            <a:off x="658368" y="3511296"/>
            <a:ext cx="1088136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Classification agreed exactly between the live model and the offline provider</a:t>
            </a:r>
            <a:endParaRPr lang="en-US" sz="1350" dirty="0"/>
          </a:p>
        </p:txBody>
      </p:sp>
      <p:sp>
        <p:nvSpPr>
          <p:cNvPr id="19" name="Shape 17"/>
          <p:cNvSpPr/>
          <p:nvPr/>
        </p:nvSpPr>
        <p:spPr>
          <a:xfrm>
            <a:off x="658368" y="3895344"/>
            <a:ext cx="5212080" cy="457200"/>
          </a:xfrm>
          <a:prstGeom prst="roundRect">
            <a:avLst>
              <a:gd name="adj" fmla="val 12000"/>
            </a:avLst>
          </a:prstGeom>
          <a:solidFill>
            <a:srgbClr val="1B3B4A"/>
          </a:solidFill>
          <a:ln w="12700">
            <a:solidFill>
              <a:srgbClr val="1B3B4A"/>
            </a:solidFill>
            <a:prstDash val="solid"/>
          </a:ln>
        </p:spPr>
      </p:sp>
      <p:sp>
        <p:nvSpPr>
          <p:cNvPr id="20" name="Text 18"/>
          <p:cNvSpPr txBox="1"/>
          <p:nvPr/>
        </p:nvSpPr>
        <p:spPr>
          <a:xfrm>
            <a:off x="859536" y="3995928"/>
            <a:ext cx="1691640" cy="274320"/>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complaint_001</a:t>
            </a:r>
            <a:endParaRPr lang="en-US" sz="1150" dirty="0"/>
          </a:p>
        </p:txBody>
      </p:sp>
      <p:sp>
        <p:nvSpPr>
          <p:cNvPr id="21" name="Text 19"/>
          <p:cNvSpPr txBox="1"/>
          <p:nvPr/>
        </p:nvSpPr>
        <p:spPr>
          <a:xfrm>
            <a:off x="2578608" y="3995928"/>
            <a:ext cx="548640" cy="274320"/>
          </a:xfrm>
          <a:prstGeom prst="rect">
            <a:avLst/>
          </a:prstGeom>
          <a:noFill/>
          <a:ln/>
        </p:spPr>
        <p:txBody>
          <a:bodyPr wrap="square" lIns="0" tIns="0" rIns="0" bIns="0" rtlCol="0" anchor="ctr"/>
          <a:lstStyle/>
          <a:p>
            <a:pPr indent="0" marL="0">
              <a:buNone/>
            </a:pPr>
            <a:r>
              <a:rPr lang="en-US" sz="1100" dirty="0">
                <a:solidFill>
                  <a:srgbClr val="9DB4BE"/>
                </a:solidFill>
                <a:latin typeface="Courier New" pitchFamily="34" charset="0"/>
                <a:ea typeface="Courier New" pitchFamily="34" charset="-122"/>
                <a:cs typeface="Courier New" pitchFamily="34" charset="-120"/>
              </a:rPr>
              <a:t>txt</a:t>
            </a:r>
            <a:endParaRPr lang="en-US" sz="1100" dirty="0"/>
          </a:p>
        </p:txBody>
      </p:sp>
      <p:sp>
        <p:nvSpPr>
          <p:cNvPr id="22" name="Text 20"/>
          <p:cNvSpPr txBox="1"/>
          <p:nvPr/>
        </p:nvSpPr>
        <p:spPr>
          <a:xfrm>
            <a:off x="3182112" y="3995928"/>
            <a:ext cx="1828800" cy="274320"/>
          </a:xfrm>
          <a:prstGeom prst="rect">
            <a:avLst/>
          </a:prstGeom>
          <a:noFill/>
          <a:ln/>
        </p:spPr>
        <p:txBody>
          <a:bodyPr wrap="square" lIns="0" tIns="0" rIns="0" bIns="0" rtlCol="0" anchor="ctr"/>
          <a:lstStyle/>
          <a:p>
            <a:pPr indent="0" marL="0">
              <a:buNone/>
            </a:pPr>
            <a:r>
              <a:rPr lang="en-US" sz="1150" dirty="0">
                <a:solidFill>
                  <a:srgbClr val="02C39A"/>
                </a:solidFill>
                <a:latin typeface="Calibri" pitchFamily="34" charset="0"/>
                <a:ea typeface="Calibri" pitchFamily="34" charset="-122"/>
                <a:cs typeface="Calibri" pitchFamily="34" charset="-120"/>
              </a:rPr>
              <a:t>Billing</a:t>
            </a:r>
            <a:endParaRPr lang="en-US" sz="1150" dirty="0"/>
          </a:p>
        </p:txBody>
      </p:sp>
      <p:sp>
        <p:nvSpPr>
          <p:cNvPr id="23" name="Text 21"/>
          <p:cNvSpPr txBox="1"/>
          <p:nvPr/>
        </p:nvSpPr>
        <p:spPr>
          <a:xfrm>
            <a:off x="5047488" y="3995928"/>
            <a:ext cx="685800" cy="274320"/>
          </a:xfrm>
          <a:prstGeom prst="rect">
            <a:avLst/>
          </a:prstGeom>
          <a:noFill/>
          <a:ln/>
        </p:spPr>
        <p:txBody>
          <a:bodyPr wrap="square" lIns="0" tIns="0" rIns="0" bIns="0" rtlCol="0" anchor="ctr"/>
          <a:lstStyle/>
          <a:p>
            <a:pPr algn="r" indent="0" marL="0">
              <a:buNone/>
            </a:pPr>
            <a:r>
              <a:rPr lang="en-US" sz="1100" dirty="0">
                <a:solidFill>
                  <a:srgbClr val="9DB4BE"/>
                </a:solidFill>
                <a:latin typeface="Calibri" pitchFamily="34" charset="0"/>
                <a:ea typeface="Calibri" pitchFamily="34" charset="-122"/>
                <a:cs typeface="Calibri" pitchFamily="34" charset="-120"/>
              </a:rPr>
              <a:t>Medium</a:t>
            </a:r>
            <a:endParaRPr lang="en-US" sz="1100" dirty="0"/>
          </a:p>
        </p:txBody>
      </p:sp>
      <p:sp>
        <p:nvSpPr>
          <p:cNvPr id="24" name="Shape 22"/>
          <p:cNvSpPr/>
          <p:nvPr/>
        </p:nvSpPr>
        <p:spPr>
          <a:xfrm>
            <a:off x="658368" y="4425696"/>
            <a:ext cx="5212080" cy="457200"/>
          </a:xfrm>
          <a:prstGeom prst="roundRect">
            <a:avLst>
              <a:gd name="adj" fmla="val 12000"/>
            </a:avLst>
          </a:prstGeom>
          <a:solidFill>
            <a:srgbClr val="1B3B4A"/>
          </a:solidFill>
          <a:ln w="12700">
            <a:solidFill>
              <a:srgbClr val="1B3B4A"/>
            </a:solidFill>
            <a:prstDash val="solid"/>
          </a:ln>
        </p:spPr>
      </p:sp>
      <p:sp>
        <p:nvSpPr>
          <p:cNvPr id="25" name="Text 23"/>
          <p:cNvSpPr txBox="1"/>
          <p:nvPr/>
        </p:nvSpPr>
        <p:spPr>
          <a:xfrm>
            <a:off x="859536" y="4526280"/>
            <a:ext cx="1691640" cy="274320"/>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complaint_002</a:t>
            </a:r>
            <a:endParaRPr lang="en-US" sz="1150" dirty="0"/>
          </a:p>
        </p:txBody>
      </p:sp>
      <p:sp>
        <p:nvSpPr>
          <p:cNvPr id="26" name="Text 24"/>
          <p:cNvSpPr txBox="1"/>
          <p:nvPr/>
        </p:nvSpPr>
        <p:spPr>
          <a:xfrm>
            <a:off x="2578608" y="4526280"/>
            <a:ext cx="548640" cy="274320"/>
          </a:xfrm>
          <a:prstGeom prst="rect">
            <a:avLst/>
          </a:prstGeom>
          <a:noFill/>
          <a:ln/>
        </p:spPr>
        <p:txBody>
          <a:bodyPr wrap="square" lIns="0" tIns="0" rIns="0" bIns="0" rtlCol="0" anchor="ctr"/>
          <a:lstStyle/>
          <a:p>
            <a:pPr indent="0" marL="0">
              <a:buNone/>
            </a:pPr>
            <a:r>
              <a:rPr lang="en-US" sz="1100" dirty="0">
                <a:solidFill>
                  <a:srgbClr val="9DB4BE"/>
                </a:solidFill>
                <a:latin typeface="Courier New" pitchFamily="34" charset="0"/>
                <a:ea typeface="Courier New" pitchFamily="34" charset="-122"/>
                <a:cs typeface="Courier New" pitchFamily="34" charset="-120"/>
              </a:rPr>
              <a:t>pdf</a:t>
            </a:r>
            <a:endParaRPr lang="en-US" sz="1100" dirty="0"/>
          </a:p>
        </p:txBody>
      </p:sp>
      <p:sp>
        <p:nvSpPr>
          <p:cNvPr id="27" name="Text 25"/>
          <p:cNvSpPr txBox="1"/>
          <p:nvPr/>
        </p:nvSpPr>
        <p:spPr>
          <a:xfrm>
            <a:off x="3182112" y="4526280"/>
            <a:ext cx="1828800" cy="274320"/>
          </a:xfrm>
          <a:prstGeom prst="rect">
            <a:avLst/>
          </a:prstGeom>
          <a:noFill/>
          <a:ln/>
        </p:spPr>
        <p:txBody>
          <a:bodyPr wrap="square" lIns="0" tIns="0" rIns="0" bIns="0" rtlCol="0" anchor="ctr"/>
          <a:lstStyle/>
          <a:p>
            <a:pPr indent="0" marL="0">
              <a:buNone/>
            </a:pPr>
            <a:r>
              <a:rPr lang="en-US" sz="1150" dirty="0">
                <a:solidFill>
                  <a:srgbClr val="02C39A"/>
                </a:solidFill>
                <a:latin typeface="Calibri" pitchFamily="34" charset="0"/>
                <a:ea typeface="Calibri" pitchFamily="34" charset="-122"/>
                <a:cs typeface="Calibri" pitchFamily="34" charset="-120"/>
              </a:rPr>
              <a:t>Delivery</a:t>
            </a:r>
            <a:endParaRPr lang="en-US" sz="1150" dirty="0"/>
          </a:p>
        </p:txBody>
      </p:sp>
      <p:sp>
        <p:nvSpPr>
          <p:cNvPr id="28" name="Text 26"/>
          <p:cNvSpPr txBox="1"/>
          <p:nvPr/>
        </p:nvSpPr>
        <p:spPr>
          <a:xfrm>
            <a:off x="5047488" y="4526280"/>
            <a:ext cx="685800" cy="274320"/>
          </a:xfrm>
          <a:prstGeom prst="rect">
            <a:avLst/>
          </a:prstGeom>
          <a:noFill/>
          <a:ln/>
        </p:spPr>
        <p:txBody>
          <a:bodyPr wrap="square" lIns="0" tIns="0" rIns="0" bIns="0" rtlCol="0" anchor="ctr"/>
          <a:lstStyle/>
          <a:p>
            <a:pPr algn="r" indent="0" marL="0">
              <a:buNone/>
            </a:pPr>
            <a:r>
              <a:rPr lang="en-US" sz="1100" dirty="0">
                <a:solidFill>
                  <a:srgbClr val="9DB4BE"/>
                </a:solidFill>
                <a:latin typeface="Calibri" pitchFamily="34" charset="0"/>
                <a:ea typeface="Calibri" pitchFamily="34" charset="-122"/>
                <a:cs typeface="Calibri" pitchFamily="34" charset="-120"/>
              </a:rPr>
              <a:t>High</a:t>
            </a:r>
            <a:endParaRPr lang="en-US" sz="1100" dirty="0"/>
          </a:p>
        </p:txBody>
      </p:sp>
      <p:sp>
        <p:nvSpPr>
          <p:cNvPr id="29" name="Shape 27"/>
          <p:cNvSpPr/>
          <p:nvPr/>
        </p:nvSpPr>
        <p:spPr>
          <a:xfrm>
            <a:off x="658368" y="4956048"/>
            <a:ext cx="5212080" cy="457200"/>
          </a:xfrm>
          <a:prstGeom prst="roundRect">
            <a:avLst>
              <a:gd name="adj" fmla="val 12000"/>
            </a:avLst>
          </a:prstGeom>
          <a:solidFill>
            <a:srgbClr val="1B3B4A"/>
          </a:solidFill>
          <a:ln w="12700">
            <a:solidFill>
              <a:srgbClr val="1B3B4A"/>
            </a:solidFill>
            <a:prstDash val="solid"/>
          </a:ln>
        </p:spPr>
      </p:sp>
      <p:sp>
        <p:nvSpPr>
          <p:cNvPr id="30" name="Text 28"/>
          <p:cNvSpPr txBox="1"/>
          <p:nvPr/>
        </p:nvSpPr>
        <p:spPr>
          <a:xfrm>
            <a:off x="859536" y="5056632"/>
            <a:ext cx="1691640" cy="274320"/>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complaint_003</a:t>
            </a:r>
            <a:endParaRPr lang="en-US" sz="1150" dirty="0"/>
          </a:p>
        </p:txBody>
      </p:sp>
      <p:sp>
        <p:nvSpPr>
          <p:cNvPr id="31" name="Text 29"/>
          <p:cNvSpPr txBox="1"/>
          <p:nvPr/>
        </p:nvSpPr>
        <p:spPr>
          <a:xfrm>
            <a:off x="2578608" y="5056632"/>
            <a:ext cx="548640" cy="274320"/>
          </a:xfrm>
          <a:prstGeom prst="rect">
            <a:avLst/>
          </a:prstGeom>
          <a:noFill/>
          <a:ln/>
        </p:spPr>
        <p:txBody>
          <a:bodyPr wrap="square" lIns="0" tIns="0" rIns="0" bIns="0" rtlCol="0" anchor="ctr"/>
          <a:lstStyle/>
          <a:p>
            <a:pPr indent="0" marL="0">
              <a:buNone/>
            </a:pPr>
            <a:r>
              <a:rPr lang="en-US" sz="1100" dirty="0">
                <a:solidFill>
                  <a:srgbClr val="9DB4BE"/>
                </a:solidFill>
                <a:latin typeface="Courier New" pitchFamily="34" charset="0"/>
                <a:ea typeface="Courier New" pitchFamily="34" charset="-122"/>
                <a:cs typeface="Courier New" pitchFamily="34" charset="-120"/>
              </a:rPr>
              <a:t>docx</a:t>
            </a:r>
            <a:endParaRPr lang="en-US" sz="1100" dirty="0"/>
          </a:p>
        </p:txBody>
      </p:sp>
      <p:sp>
        <p:nvSpPr>
          <p:cNvPr id="32" name="Text 30"/>
          <p:cNvSpPr txBox="1"/>
          <p:nvPr/>
        </p:nvSpPr>
        <p:spPr>
          <a:xfrm>
            <a:off x="3182112" y="5056632"/>
            <a:ext cx="1828800" cy="274320"/>
          </a:xfrm>
          <a:prstGeom prst="rect">
            <a:avLst/>
          </a:prstGeom>
          <a:noFill/>
          <a:ln/>
        </p:spPr>
        <p:txBody>
          <a:bodyPr wrap="square" lIns="0" tIns="0" rIns="0" bIns="0" rtlCol="0" anchor="ctr"/>
          <a:lstStyle/>
          <a:p>
            <a:pPr indent="0" marL="0">
              <a:buNone/>
            </a:pPr>
            <a:r>
              <a:rPr lang="en-US" sz="1150" dirty="0">
                <a:solidFill>
                  <a:srgbClr val="02C39A"/>
                </a:solidFill>
                <a:latin typeface="Calibri" pitchFamily="34" charset="0"/>
                <a:ea typeface="Calibri" pitchFamily="34" charset="-122"/>
                <a:cs typeface="Calibri" pitchFamily="34" charset="-120"/>
              </a:rPr>
              <a:t>Product Defect</a:t>
            </a:r>
            <a:endParaRPr lang="en-US" sz="1150" dirty="0"/>
          </a:p>
        </p:txBody>
      </p:sp>
      <p:sp>
        <p:nvSpPr>
          <p:cNvPr id="33" name="Text 31"/>
          <p:cNvSpPr txBox="1"/>
          <p:nvPr/>
        </p:nvSpPr>
        <p:spPr>
          <a:xfrm>
            <a:off x="5047488" y="5056632"/>
            <a:ext cx="685800" cy="274320"/>
          </a:xfrm>
          <a:prstGeom prst="rect">
            <a:avLst/>
          </a:prstGeom>
          <a:noFill/>
          <a:ln/>
        </p:spPr>
        <p:txBody>
          <a:bodyPr wrap="square" lIns="0" tIns="0" rIns="0" bIns="0" rtlCol="0" anchor="ctr"/>
          <a:lstStyle/>
          <a:p>
            <a:pPr algn="r" indent="0" marL="0">
              <a:buNone/>
            </a:pPr>
            <a:r>
              <a:rPr lang="en-US" sz="1100" dirty="0">
                <a:solidFill>
                  <a:srgbClr val="9DB4BE"/>
                </a:solidFill>
                <a:latin typeface="Calibri" pitchFamily="34" charset="0"/>
                <a:ea typeface="Calibri" pitchFamily="34" charset="-122"/>
                <a:cs typeface="Calibri" pitchFamily="34" charset="-120"/>
              </a:rPr>
              <a:t>Medium</a:t>
            </a:r>
            <a:endParaRPr lang="en-US" sz="1100" dirty="0"/>
          </a:p>
        </p:txBody>
      </p:sp>
      <p:sp>
        <p:nvSpPr>
          <p:cNvPr id="34" name="Shape 32"/>
          <p:cNvSpPr/>
          <p:nvPr/>
        </p:nvSpPr>
        <p:spPr>
          <a:xfrm>
            <a:off x="658368" y="5486400"/>
            <a:ext cx="5212080" cy="457200"/>
          </a:xfrm>
          <a:prstGeom prst="roundRect">
            <a:avLst>
              <a:gd name="adj" fmla="val 12000"/>
            </a:avLst>
          </a:prstGeom>
          <a:solidFill>
            <a:srgbClr val="1B3B4A"/>
          </a:solidFill>
          <a:ln w="12700">
            <a:solidFill>
              <a:srgbClr val="1B3B4A"/>
            </a:solidFill>
            <a:prstDash val="solid"/>
          </a:ln>
        </p:spPr>
      </p:sp>
      <p:sp>
        <p:nvSpPr>
          <p:cNvPr id="35" name="Text 33"/>
          <p:cNvSpPr txBox="1"/>
          <p:nvPr/>
        </p:nvSpPr>
        <p:spPr>
          <a:xfrm>
            <a:off x="859536" y="5586984"/>
            <a:ext cx="1691640" cy="274320"/>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complaint_004</a:t>
            </a:r>
            <a:endParaRPr lang="en-US" sz="1150" dirty="0"/>
          </a:p>
        </p:txBody>
      </p:sp>
      <p:sp>
        <p:nvSpPr>
          <p:cNvPr id="36" name="Text 34"/>
          <p:cNvSpPr txBox="1"/>
          <p:nvPr/>
        </p:nvSpPr>
        <p:spPr>
          <a:xfrm>
            <a:off x="2578608" y="5586984"/>
            <a:ext cx="548640" cy="274320"/>
          </a:xfrm>
          <a:prstGeom prst="rect">
            <a:avLst/>
          </a:prstGeom>
          <a:noFill/>
          <a:ln/>
        </p:spPr>
        <p:txBody>
          <a:bodyPr wrap="square" lIns="0" tIns="0" rIns="0" bIns="0" rtlCol="0" anchor="ctr"/>
          <a:lstStyle/>
          <a:p>
            <a:pPr indent="0" marL="0">
              <a:buNone/>
            </a:pPr>
            <a:r>
              <a:rPr lang="en-US" sz="1100" dirty="0">
                <a:solidFill>
                  <a:srgbClr val="9DB4BE"/>
                </a:solidFill>
                <a:latin typeface="Courier New" pitchFamily="34" charset="0"/>
                <a:ea typeface="Courier New" pitchFamily="34" charset="-122"/>
                <a:cs typeface="Courier New" pitchFamily="34" charset="-120"/>
              </a:rPr>
              <a:t>txt</a:t>
            </a:r>
            <a:endParaRPr lang="en-US" sz="1100" dirty="0"/>
          </a:p>
        </p:txBody>
      </p:sp>
      <p:sp>
        <p:nvSpPr>
          <p:cNvPr id="37" name="Text 35"/>
          <p:cNvSpPr txBox="1"/>
          <p:nvPr/>
        </p:nvSpPr>
        <p:spPr>
          <a:xfrm>
            <a:off x="3182112" y="5586984"/>
            <a:ext cx="1828800" cy="274320"/>
          </a:xfrm>
          <a:prstGeom prst="rect">
            <a:avLst/>
          </a:prstGeom>
          <a:noFill/>
          <a:ln/>
        </p:spPr>
        <p:txBody>
          <a:bodyPr wrap="square" lIns="0" tIns="0" rIns="0" bIns="0" rtlCol="0" anchor="ctr"/>
          <a:lstStyle/>
          <a:p>
            <a:pPr indent="0" marL="0">
              <a:buNone/>
            </a:pPr>
            <a:r>
              <a:rPr lang="en-US" sz="1150" dirty="0">
                <a:solidFill>
                  <a:srgbClr val="02C39A"/>
                </a:solidFill>
                <a:latin typeface="Calibri" pitchFamily="34" charset="0"/>
                <a:ea typeface="Calibri" pitchFamily="34" charset="-122"/>
                <a:cs typeface="Calibri" pitchFamily="34" charset="-120"/>
              </a:rPr>
              <a:t>Account Access</a:t>
            </a:r>
            <a:endParaRPr lang="en-US" sz="1150" dirty="0"/>
          </a:p>
        </p:txBody>
      </p:sp>
      <p:sp>
        <p:nvSpPr>
          <p:cNvPr id="38" name="Text 36"/>
          <p:cNvSpPr txBox="1"/>
          <p:nvPr/>
        </p:nvSpPr>
        <p:spPr>
          <a:xfrm>
            <a:off x="5047488" y="5586984"/>
            <a:ext cx="685800" cy="274320"/>
          </a:xfrm>
          <a:prstGeom prst="rect">
            <a:avLst/>
          </a:prstGeom>
          <a:noFill/>
          <a:ln/>
        </p:spPr>
        <p:txBody>
          <a:bodyPr wrap="square" lIns="0" tIns="0" rIns="0" bIns="0" rtlCol="0" anchor="ctr"/>
          <a:lstStyle/>
          <a:p>
            <a:pPr algn="r" indent="0" marL="0">
              <a:buNone/>
            </a:pPr>
            <a:r>
              <a:rPr lang="en-US" sz="1100" dirty="0">
                <a:solidFill>
                  <a:srgbClr val="9DB4BE"/>
                </a:solidFill>
                <a:latin typeface="Calibri" pitchFamily="34" charset="0"/>
                <a:ea typeface="Calibri" pitchFamily="34" charset="-122"/>
                <a:cs typeface="Calibri" pitchFamily="34" charset="-120"/>
              </a:rPr>
              <a:t>High</a:t>
            </a:r>
            <a:endParaRPr lang="en-US" sz="1100" dirty="0"/>
          </a:p>
        </p:txBody>
      </p:sp>
      <p:sp>
        <p:nvSpPr>
          <p:cNvPr id="39" name="Shape 37"/>
          <p:cNvSpPr/>
          <p:nvPr/>
        </p:nvSpPr>
        <p:spPr>
          <a:xfrm>
            <a:off x="6345936" y="3895344"/>
            <a:ext cx="5212080" cy="457200"/>
          </a:xfrm>
          <a:prstGeom prst="roundRect">
            <a:avLst>
              <a:gd name="adj" fmla="val 12000"/>
            </a:avLst>
          </a:prstGeom>
          <a:solidFill>
            <a:srgbClr val="1B3B4A"/>
          </a:solidFill>
          <a:ln w="12700">
            <a:solidFill>
              <a:srgbClr val="1B3B4A"/>
            </a:solidFill>
            <a:prstDash val="solid"/>
          </a:ln>
        </p:spPr>
      </p:sp>
      <p:sp>
        <p:nvSpPr>
          <p:cNvPr id="40" name="Text 38"/>
          <p:cNvSpPr txBox="1"/>
          <p:nvPr/>
        </p:nvSpPr>
        <p:spPr>
          <a:xfrm>
            <a:off x="6547104" y="3995928"/>
            <a:ext cx="1691640" cy="274320"/>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complaint_005</a:t>
            </a:r>
            <a:endParaRPr lang="en-US" sz="1150" dirty="0"/>
          </a:p>
        </p:txBody>
      </p:sp>
      <p:sp>
        <p:nvSpPr>
          <p:cNvPr id="41" name="Text 39"/>
          <p:cNvSpPr txBox="1"/>
          <p:nvPr/>
        </p:nvSpPr>
        <p:spPr>
          <a:xfrm>
            <a:off x="8266176" y="3995928"/>
            <a:ext cx="548640" cy="274320"/>
          </a:xfrm>
          <a:prstGeom prst="rect">
            <a:avLst/>
          </a:prstGeom>
          <a:noFill/>
          <a:ln/>
        </p:spPr>
        <p:txBody>
          <a:bodyPr wrap="square" lIns="0" tIns="0" rIns="0" bIns="0" rtlCol="0" anchor="ctr"/>
          <a:lstStyle/>
          <a:p>
            <a:pPr indent="0" marL="0">
              <a:buNone/>
            </a:pPr>
            <a:r>
              <a:rPr lang="en-US" sz="1100" dirty="0">
                <a:solidFill>
                  <a:srgbClr val="9DB4BE"/>
                </a:solidFill>
                <a:latin typeface="Courier New" pitchFamily="34" charset="0"/>
                <a:ea typeface="Courier New" pitchFamily="34" charset="-122"/>
                <a:cs typeface="Courier New" pitchFamily="34" charset="-120"/>
              </a:rPr>
              <a:t>pdf</a:t>
            </a:r>
            <a:endParaRPr lang="en-US" sz="1100" dirty="0"/>
          </a:p>
        </p:txBody>
      </p:sp>
      <p:sp>
        <p:nvSpPr>
          <p:cNvPr id="42" name="Text 40"/>
          <p:cNvSpPr txBox="1"/>
          <p:nvPr/>
        </p:nvSpPr>
        <p:spPr>
          <a:xfrm>
            <a:off x="8869680" y="3995928"/>
            <a:ext cx="1828800" cy="274320"/>
          </a:xfrm>
          <a:prstGeom prst="rect">
            <a:avLst/>
          </a:prstGeom>
          <a:noFill/>
          <a:ln/>
        </p:spPr>
        <p:txBody>
          <a:bodyPr wrap="square" lIns="0" tIns="0" rIns="0" bIns="0" rtlCol="0" anchor="ctr"/>
          <a:lstStyle/>
          <a:p>
            <a:pPr indent="0" marL="0">
              <a:buNone/>
            </a:pPr>
            <a:r>
              <a:rPr lang="en-US" sz="1150" dirty="0">
                <a:solidFill>
                  <a:srgbClr val="02C39A"/>
                </a:solidFill>
                <a:latin typeface="Calibri" pitchFamily="34" charset="0"/>
                <a:ea typeface="Calibri" pitchFamily="34" charset="-122"/>
                <a:cs typeface="Calibri" pitchFamily="34" charset="-120"/>
              </a:rPr>
              <a:t>Refund</a:t>
            </a:r>
            <a:endParaRPr lang="en-US" sz="1150" dirty="0"/>
          </a:p>
        </p:txBody>
      </p:sp>
      <p:sp>
        <p:nvSpPr>
          <p:cNvPr id="43" name="Text 41"/>
          <p:cNvSpPr txBox="1"/>
          <p:nvPr/>
        </p:nvSpPr>
        <p:spPr>
          <a:xfrm>
            <a:off x="10735056" y="3995928"/>
            <a:ext cx="685800" cy="274320"/>
          </a:xfrm>
          <a:prstGeom prst="rect">
            <a:avLst/>
          </a:prstGeom>
          <a:noFill/>
          <a:ln/>
        </p:spPr>
        <p:txBody>
          <a:bodyPr wrap="square" lIns="0" tIns="0" rIns="0" bIns="0" rtlCol="0" anchor="ctr"/>
          <a:lstStyle/>
          <a:p>
            <a:pPr algn="r" indent="0" marL="0">
              <a:buNone/>
            </a:pPr>
            <a:r>
              <a:rPr lang="en-US" sz="1100" dirty="0">
                <a:solidFill>
                  <a:srgbClr val="9DB4BE"/>
                </a:solidFill>
                <a:latin typeface="Calibri" pitchFamily="34" charset="0"/>
                <a:ea typeface="Calibri" pitchFamily="34" charset="-122"/>
                <a:cs typeface="Calibri" pitchFamily="34" charset="-120"/>
              </a:rPr>
              <a:t>High</a:t>
            </a:r>
            <a:endParaRPr lang="en-US" sz="1100" dirty="0"/>
          </a:p>
        </p:txBody>
      </p:sp>
      <p:sp>
        <p:nvSpPr>
          <p:cNvPr id="44" name="Shape 42"/>
          <p:cNvSpPr/>
          <p:nvPr/>
        </p:nvSpPr>
        <p:spPr>
          <a:xfrm>
            <a:off x="6345936" y="4425696"/>
            <a:ext cx="5212080" cy="457200"/>
          </a:xfrm>
          <a:prstGeom prst="roundRect">
            <a:avLst>
              <a:gd name="adj" fmla="val 12000"/>
            </a:avLst>
          </a:prstGeom>
          <a:solidFill>
            <a:srgbClr val="1B3B4A"/>
          </a:solidFill>
          <a:ln w="12700">
            <a:solidFill>
              <a:srgbClr val="1B3B4A"/>
            </a:solidFill>
            <a:prstDash val="solid"/>
          </a:ln>
        </p:spPr>
      </p:sp>
      <p:sp>
        <p:nvSpPr>
          <p:cNvPr id="45" name="Text 43"/>
          <p:cNvSpPr txBox="1"/>
          <p:nvPr/>
        </p:nvSpPr>
        <p:spPr>
          <a:xfrm>
            <a:off x="6547104" y="4526280"/>
            <a:ext cx="1691640" cy="274320"/>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complaint_006</a:t>
            </a:r>
            <a:endParaRPr lang="en-US" sz="1150" dirty="0"/>
          </a:p>
        </p:txBody>
      </p:sp>
      <p:sp>
        <p:nvSpPr>
          <p:cNvPr id="46" name="Text 44"/>
          <p:cNvSpPr txBox="1"/>
          <p:nvPr/>
        </p:nvSpPr>
        <p:spPr>
          <a:xfrm>
            <a:off x="8266176" y="4526280"/>
            <a:ext cx="548640" cy="274320"/>
          </a:xfrm>
          <a:prstGeom prst="rect">
            <a:avLst/>
          </a:prstGeom>
          <a:noFill/>
          <a:ln/>
        </p:spPr>
        <p:txBody>
          <a:bodyPr wrap="square" lIns="0" tIns="0" rIns="0" bIns="0" rtlCol="0" anchor="ctr"/>
          <a:lstStyle/>
          <a:p>
            <a:pPr indent="0" marL="0">
              <a:buNone/>
            </a:pPr>
            <a:r>
              <a:rPr lang="en-US" sz="1100" dirty="0">
                <a:solidFill>
                  <a:srgbClr val="9DB4BE"/>
                </a:solidFill>
                <a:latin typeface="Courier New" pitchFamily="34" charset="0"/>
                <a:ea typeface="Courier New" pitchFamily="34" charset="-122"/>
                <a:cs typeface="Courier New" pitchFamily="34" charset="-120"/>
              </a:rPr>
              <a:t>md</a:t>
            </a:r>
            <a:endParaRPr lang="en-US" sz="1100" dirty="0"/>
          </a:p>
        </p:txBody>
      </p:sp>
      <p:sp>
        <p:nvSpPr>
          <p:cNvPr id="47" name="Text 45"/>
          <p:cNvSpPr txBox="1"/>
          <p:nvPr/>
        </p:nvSpPr>
        <p:spPr>
          <a:xfrm>
            <a:off x="8869680" y="4526280"/>
            <a:ext cx="1828800" cy="274320"/>
          </a:xfrm>
          <a:prstGeom prst="rect">
            <a:avLst/>
          </a:prstGeom>
          <a:noFill/>
          <a:ln/>
        </p:spPr>
        <p:txBody>
          <a:bodyPr wrap="square" lIns="0" tIns="0" rIns="0" bIns="0" rtlCol="0" anchor="ctr"/>
          <a:lstStyle/>
          <a:p>
            <a:pPr indent="0" marL="0">
              <a:buNone/>
            </a:pPr>
            <a:r>
              <a:rPr lang="en-US" sz="1150" dirty="0">
                <a:solidFill>
                  <a:srgbClr val="02C39A"/>
                </a:solidFill>
                <a:latin typeface="Calibri" pitchFamily="34" charset="0"/>
                <a:ea typeface="Calibri" pitchFamily="34" charset="-122"/>
                <a:cs typeface="Calibri" pitchFamily="34" charset="-120"/>
              </a:rPr>
              <a:t>General Enquiry</a:t>
            </a:r>
            <a:endParaRPr lang="en-US" sz="1150" dirty="0"/>
          </a:p>
        </p:txBody>
      </p:sp>
      <p:sp>
        <p:nvSpPr>
          <p:cNvPr id="48" name="Text 46"/>
          <p:cNvSpPr txBox="1"/>
          <p:nvPr/>
        </p:nvSpPr>
        <p:spPr>
          <a:xfrm>
            <a:off x="10735056" y="4526280"/>
            <a:ext cx="685800" cy="274320"/>
          </a:xfrm>
          <a:prstGeom prst="rect">
            <a:avLst/>
          </a:prstGeom>
          <a:noFill/>
          <a:ln/>
        </p:spPr>
        <p:txBody>
          <a:bodyPr wrap="square" lIns="0" tIns="0" rIns="0" bIns="0" rtlCol="0" anchor="ctr"/>
          <a:lstStyle/>
          <a:p>
            <a:pPr algn="r" indent="0" marL="0">
              <a:buNone/>
            </a:pPr>
            <a:r>
              <a:rPr lang="en-US" sz="1100" dirty="0">
                <a:solidFill>
                  <a:srgbClr val="9DB4BE"/>
                </a:solidFill>
                <a:latin typeface="Calibri" pitchFamily="34" charset="0"/>
                <a:ea typeface="Calibri" pitchFamily="34" charset="-122"/>
                <a:cs typeface="Calibri" pitchFamily="34" charset="-120"/>
              </a:rPr>
              <a:t>Low</a:t>
            </a:r>
            <a:endParaRPr lang="en-US" sz="1100" dirty="0"/>
          </a:p>
        </p:txBody>
      </p:sp>
      <p:sp>
        <p:nvSpPr>
          <p:cNvPr id="49" name="Shape 47"/>
          <p:cNvSpPr/>
          <p:nvPr/>
        </p:nvSpPr>
        <p:spPr>
          <a:xfrm>
            <a:off x="6345936" y="4956048"/>
            <a:ext cx="5212080" cy="457200"/>
          </a:xfrm>
          <a:prstGeom prst="roundRect">
            <a:avLst>
              <a:gd name="adj" fmla="val 12000"/>
            </a:avLst>
          </a:prstGeom>
          <a:solidFill>
            <a:srgbClr val="1B3B4A"/>
          </a:solidFill>
          <a:ln w="12700">
            <a:solidFill>
              <a:srgbClr val="1B3B4A"/>
            </a:solidFill>
            <a:prstDash val="solid"/>
          </a:ln>
        </p:spPr>
      </p:sp>
      <p:sp>
        <p:nvSpPr>
          <p:cNvPr id="50" name="Text 48"/>
          <p:cNvSpPr txBox="1"/>
          <p:nvPr/>
        </p:nvSpPr>
        <p:spPr>
          <a:xfrm>
            <a:off x="6547104" y="5056632"/>
            <a:ext cx="1691640" cy="274320"/>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complaint_007</a:t>
            </a:r>
            <a:endParaRPr lang="en-US" sz="1150" dirty="0"/>
          </a:p>
        </p:txBody>
      </p:sp>
      <p:sp>
        <p:nvSpPr>
          <p:cNvPr id="51" name="Text 49"/>
          <p:cNvSpPr txBox="1"/>
          <p:nvPr/>
        </p:nvSpPr>
        <p:spPr>
          <a:xfrm>
            <a:off x="8266176" y="5056632"/>
            <a:ext cx="548640" cy="274320"/>
          </a:xfrm>
          <a:prstGeom prst="rect">
            <a:avLst/>
          </a:prstGeom>
          <a:noFill/>
          <a:ln/>
        </p:spPr>
        <p:txBody>
          <a:bodyPr wrap="square" lIns="0" tIns="0" rIns="0" bIns="0" rtlCol="0" anchor="ctr"/>
          <a:lstStyle/>
          <a:p>
            <a:pPr indent="0" marL="0">
              <a:buNone/>
            </a:pPr>
            <a:r>
              <a:rPr lang="en-US" sz="1100" dirty="0">
                <a:solidFill>
                  <a:srgbClr val="9DB4BE"/>
                </a:solidFill>
                <a:latin typeface="Courier New" pitchFamily="34" charset="0"/>
                <a:ea typeface="Courier New" pitchFamily="34" charset="-122"/>
                <a:cs typeface="Courier New" pitchFamily="34" charset="-120"/>
              </a:rPr>
              <a:t>txt</a:t>
            </a:r>
            <a:endParaRPr lang="en-US" sz="1100" dirty="0"/>
          </a:p>
        </p:txBody>
      </p:sp>
      <p:sp>
        <p:nvSpPr>
          <p:cNvPr id="52" name="Text 50"/>
          <p:cNvSpPr txBox="1"/>
          <p:nvPr/>
        </p:nvSpPr>
        <p:spPr>
          <a:xfrm>
            <a:off x="8869680" y="5056632"/>
            <a:ext cx="1828800" cy="274320"/>
          </a:xfrm>
          <a:prstGeom prst="rect">
            <a:avLst/>
          </a:prstGeom>
          <a:noFill/>
          <a:ln/>
        </p:spPr>
        <p:txBody>
          <a:bodyPr wrap="square" lIns="0" tIns="0" rIns="0" bIns="0" rtlCol="0" anchor="ctr"/>
          <a:lstStyle/>
          <a:p>
            <a:pPr indent="0" marL="0">
              <a:buNone/>
            </a:pPr>
            <a:r>
              <a:rPr lang="en-US" sz="1150" dirty="0">
                <a:solidFill>
                  <a:srgbClr val="02C39A"/>
                </a:solidFill>
                <a:latin typeface="Calibri" pitchFamily="34" charset="0"/>
                <a:ea typeface="Calibri" pitchFamily="34" charset="-122"/>
                <a:cs typeface="Calibri" pitchFamily="34" charset="-120"/>
              </a:rPr>
              <a:t>Technical Issue</a:t>
            </a:r>
            <a:endParaRPr lang="en-US" sz="1150" dirty="0"/>
          </a:p>
        </p:txBody>
      </p:sp>
      <p:sp>
        <p:nvSpPr>
          <p:cNvPr id="53" name="Text 51"/>
          <p:cNvSpPr txBox="1"/>
          <p:nvPr/>
        </p:nvSpPr>
        <p:spPr>
          <a:xfrm>
            <a:off x="10735056" y="5056632"/>
            <a:ext cx="685800" cy="274320"/>
          </a:xfrm>
          <a:prstGeom prst="rect">
            <a:avLst/>
          </a:prstGeom>
          <a:noFill/>
          <a:ln/>
        </p:spPr>
        <p:txBody>
          <a:bodyPr wrap="square" lIns="0" tIns="0" rIns="0" bIns="0" rtlCol="0" anchor="ctr"/>
          <a:lstStyle/>
          <a:p>
            <a:pPr algn="r" indent="0" marL="0">
              <a:buNone/>
            </a:pPr>
            <a:r>
              <a:rPr lang="en-US" sz="1100" dirty="0">
                <a:solidFill>
                  <a:srgbClr val="9DB4BE"/>
                </a:solidFill>
                <a:latin typeface="Calibri" pitchFamily="34" charset="0"/>
                <a:ea typeface="Calibri" pitchFamily="34" charset="-122"/>
                <a:cs typeface="Calibri" pitchFamily="34" charset="-120"/>
              </a:rPr>
              <a:t>High</a:t>
            </a:r>
            <a:endParaRPr lang="en-US" sz="1100" dirty="0"/>
          </a:p>
        </p:txBody>
      </p:sp>
      <p:sp>
        <p:nvSpPr>
          <p:cNvPr id="54" name="Shape 52"/>
          <p:cNvSpPr/>
          <p:nvPr/>
        </p:nvSpPr>
        <p:spPr>
          <a:xfrm>
            <a:off x="6345936" y="5486400"/>
            <a:ext cx="5212080" cy="457200"/>
          </a:xfrm>
          <a:prstGeom prst="roundRect">
            <a:avLst>
              <a:gd name="adj" fmla="val 12000"/>
            </a:avLst>
          </a:prstGeom>
          <a:solidFill>
            <a:srgbClr val="1B3B4A"/>
          </a:solidFill>
          <a:ln w="12700">
            <a:solidFill>
              <a:srgbClr val="1B3B4A"/>
            </a:solidFill>
            <a:prstDash val="solid"/>
          </a:ln>
        </p:spPr>
      </p:sp>
      <p:sp>
        <p:nvSpPr>
          <p:cNvPr id="55" name="Text 53"/>
          <p:cNvSpPr txBox="1"/>
          <p:nvPr/>
        </p:nvSpPr>
        <p:spPr>
          <a:xfrm>
            <a:off x="6547104" y="5586984"/>
            <a:ext cx="1691640" cy="274320"/>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complaint_008</a:t>
            </a:r>
            <a:endParaRPr lang="en-US" sz="1150" dirty="0"/>
          </a:p>
        </p:txBody>
      </p:sp>
      <p:sp>
        <p:nvSpPr>
          <p:cNvPr id="56" name="Text 54"/>
          <p:cNvSpPr txBox="1"/>
          <p:nvPr/>
        </p:nvSpPr>
        <p:spPr>
          <a:xfrm>
            <a:off x="8266176" y="5586984"/>
            <a:ext cx="548640" cy="274320"/>
          </a:xfrm>
          <a:prstGeom prst="rect">
            <a:avLst/>
          </a:prstGeom>
          <a:noFill/>
          <a:ln/>
        </p:spPr>
        <p:txBody>
          <a:bodyPr wrap="square" lIns="0" tIns="0" rIns="0" bIns="0" rtlCol="0" anchor="ctr"/>
          <a:lstStyle/>
          <a:p>
            <a:pPr indent="0" marL="0">
              <a:buNone/>
            </a:pPr>
            <a:r>
              <a:rPr lang="en-US" sz="1100" dirty="0">
                <a:solidFill>
                  <a:srgbClr val="9DB4BE"/>
                </a:solidFill>
                <a:latin typeface="Courier New" pitchFamily="34" charset="0"/>
                <a:ea typeface="Courier New" pitchFamily="34" charset="-122"/>
                <a:cs typeface="Courier New" pitchFamily="34" charset="-120"/>
              </a:rPr>
              <a:t>docx</a:t>
            </a:r>
            <a:endParaRPr lang="en-US" sz="1100" dirty="0"/>
          </a:p>
        </p:txBody>
      </p:sp>
      <p:sp>
        <p:nvSpPr>
          <p:cNvPr id="57" name="Text 55"/>
          <p:cNvSpPr txBox="1"/>
          <p:nvPr/>
        </p:nvSpPr>
        <p:spPr>
          <a:xfrm>
            <a:off x="8869680" y="5586984"/>
            <a:ext cx="1828800" cy="274320"/>
          </a:xfrm>
          <a:prstGeom prst="rect">
            <a:avLst/>
          </a:prstGeom>
          <a:noFill/>
          <a:ln/>
        </p:spPr>
        <p:txBody>
          <a:bodyPr wrap="square" lIns="0" tIns="0" rIns="0" bIns="0" rtlCol="0" anchor="ctr"/>
          <a:lstStyle/>
          <a:p>
            <a:pPr indent="0" marL="0">
              <a:buNone/>
            </a:pPr>
            <a:r>
              <a:rPr lang="en-US" sz="1150" dirty="0">
                <a:solidFill>
                  <a:srgbClr val="02C39A"/>
                </a:solidFill>
                <a:latin typeface="Calibri" pitchFamily="34" charset="0"/>
                <a:ea typeface="Calibri" pitchFamily="34" charset="-122"/>
                <a:cs typeface="Calibri" pitchFamily="34" charset="-120"/>
              </a:rPr>
              <a:t>Service Quality</a:t>
            </a:r>
            <a:endParaRPr lang="en-US" sz="1150" dirty="0"/>
          </a:p>
        </p:txBody>
      </p:sp>
      <p:sp>
        <p:nvSpPr>
          <p:cNvPr id="58" name="Text 56"/>
          <p:cNvSpPr txBox="1"/>
          <p:nvPr/>
        </p:nvSpPr>
        <p:spPr>
          <a:xfrm>
            <a:off x="10735056" y="5586984"/>
            <a:ext cx="685800" cy="274320"/>
          </a:xfrm>
          <a:prstGeom prst="rect">
            <a:avLst/>
          </a:prstGeom>
          <a:noFill/>
          <a:ln/>
        </p:spPr>
        <p:txBody>
          <a:bodyPr wrap="square" lIns="0" tIns="0" rIns="0" bIns="0" rtlCol="0" anchor="ctr"/>
          <a:lstStyle/>
          <a:p>
            <a:pPr algn="r" indent="0" marL="0">
              <a:buNone/>
            </a:pPr>
            <a:r>
              <a:rPr lang="en-US" sz="1100" dirty="0">
                <a:solidFill>
                  <a:srgbClr val="9DB4BE"/>
                </a:solidFill>
                <a:latin typeface="Calibri" pitchFamily="34" charset="0"/>
                <a:ea typeface="Calibri" pitchFamily="34" charset="-122"/>
                <a:cs typeface="Calibri" pitchFamily="34" charset="-120"/>
              </a:rPr>
              <a:t>Medium</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02336"/>
            <a:ext cx="10874959" cy="237744"/>
          </a:xfrm>
          <a:prstGeom prst="rect">
            <a:avLst/>
          </a:prstGeom>
          <a:noFill/>
          <a:ln/>
        </p:spPr>
        <p:txBody>
          <a:bodyPr wrap="square" lIns="0" tIns="0" rIns="0" bIns="0" rtlCol="0" anchor="ctr"/>
          <a:lstStyle/>
          <a:p>
            <a:pPr indent="0" marL="0">
              <a:buNone/>
            </a:pPr>
            <a:r>
              <a:rPr lang="en-US" sz="1100" b="1" spc="160" kern="0" dirty="0">
                <a:solidFill>
                  <a:srgbClr val="028090"/>
                </a:solidFill>
                <a:latin typeface="Calibri" pitchFamily="34" charset="0"/>
                <a:ea typeface="Calibri" pitchFamily="34" charset="-122"/>
                <a:cs typeface="Calibri" pitchFamily="34" charset="-120"/>
              </a:rPr>
              <a:t>SAMPLE OUTPUT</a:t>
            </a:r>
            <a:endParaRPr lang="en-US" sz="1100" dirty="0"/>
          </a:p>
        </p:txBody>
      </p:sp>
      <p:sp>
        <p:nvSpPr>
          <p:cNvPr id="3" name="Text 1"/>
          <p:cNvSpPr txBox="1"/>
          <p:nvPr/>
        </p:nvSpPr>
        <p:spPr>
          <a:xfrm>
            <a:off x="658368" y="658368"/>
            <a:ext cx="10874959" cy="658368"/>
          </a:xfrm>
          <a:prstGeom prst="rect">
            <a:avLst/>
          </a:prstGeom>
          <a:noFill/>
          <a:ln/>
        </p:spPr>
        <p:txBody>
          <a:bodyPr wrap="square" lIns="0" tIns="0" rIns="0" bIns="0" rtlCol="0" anchor="t"/>
          <a:lstStyle/>
          <a:p>
            <a:pPr indent="0" marL="0">
              <a:buNone/>
            </a:pPr>
            <a:r>
              <a:rPr lang="en-US" sz="3200" b="1" dirty="0">
                <a:solidFill>
                  <a:srgbClr val="172A33"/>
                </a:solidFill>
                <a:latin typeface="Cambria" pitchFamily="34" charset="0"/>
                <a:ea typeface="Cambria" pitchFamily="34" charset="-122"/>
                <a:cs typeface="Cambria" pitchFamily="34" charset="-120"/>
              </a:rPr>
              <a:t>Grounded, and honest about what it does not know</a:t>
            </a:r>
            <a:endParaRPr lang="en-US" sz="3200" dirty="0"/>
          </a:p>
        </p:txBody>
      </p:sp>
      <p:sp>
        <p:nvSpPr>
          <p:cNvPr id="4" name="Text 2"/>
          <p:cNvSpPr txBox="1"/>
          <p:nvPr/>
        </p:nvSpPr>
        <p:spPr>
          <a:xfrm>
            <a:off x="10984687" y="6382512"/>
            <a:ext cx="548640" cy="256032"/>
          </a:xfrm>
          <a:prstGeom prst="rect">
            <a:avLst/>
          </a:prstGeom>
          <a:noFill/>
          <a:ln/>
        </p:spPr>
        <p:txBody>
          <a:bodyPr wrap="square" lIns="0" tIns="0" rIns="0" bIns="0" rtlCol="0" anchor="ctr"/>
          <a:lstStyle/>
          <a:p>
            <a:pPr algn="r" indent="0" marL="0">
              <a:buNone/>
            </a:pPr>
            <a:r>
              <a:rPr lang="en-US" sz="1000" dirty="0">
                <a:solidFill>
                  <a:srgbClr val="5D7480"/>
                </a:solidFill>
                <a:latin typeface="Calibri" pitchFamily="34" charset="0"/>
                <a:ea typeface="Calibri" pitchFamily="34" charset="-122"/>
                <a:cs typeface="Calibri" pitchFamily="34" charset="-120"/>
              </a:rPr>
              <a:t>12</a:t>
            </a:r>
            <a:endParaRPr lang="en-US" sz="1000" dirty="0"/>
          </a:p>
        </p:txBody>
      </p:sp>
      <p:sp>
        <p:nvSpPr>
          <p:cNvPr id="5" name="Text 3"/>
          <p:cNvSpPr txBox="1"/>
          <p:nvPr/>
        </p:nvSpPr>
        <p:spPr>
          <a:xfrm>
            <a:off x="658368" y="6382512"/>
            <a:ext cx="6858000" cy="256032"/>
          </a:xfrm>
          <a:prstGeom prst="rect">
            <a:avLst/>
          </a:prstGeom>
          <a:noFill/>
          <a:ln/>
        </p:spPr>
        <p:txBody>
          <a:bodyPr wrap="square" lIns="0" tIns="0" rIns="0" bIns="0" rtlCol="0" anchor="ctr"/>
          <a:lstStyle/>
          <a:p>
            <a:pPr indent="0" marL="0">
              <a:buNone/>
            </a:pPr>
            <a:r>
              <a:rPr lang="en-US" sz="1000" dirty="0">
                <a:solidFill>
                  <a:srgbClr val="5D7480"/>
                </a:solidFill>
                <a:latin typeface="Calibri" pitchFamily="34" charset="0"/>
                <a:ea typeface="Calibri" pitchFamily="34" charset="-122"/>
                <a:cs typeface="Calibri" pitchFamily="34" charset="-120"/>
              </a:rPr>
              <a:t>AI Customer Complaint &amp; Case Processing System</a:t>
            </a:r>
            <a:endParaRPr lang="en-US" sz="1000" dirty="0"/>
          </a:p>
        </p:txBody>
      </p:sp>
      <p:sp>
        <p:nvSpPr>
          <p:cNvPr id="6" name="Text 4"/>
          <p:cNvSpPr txBox="1"/>
          <p:nvPr/>
        </p:nvSpPr>
        <p:spPr>
          <a:xfrm>
            <a:off x="658368" y="1591056"/>
            <a:ext cx="5358384" cy="274320"/>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complaint_007 — a web form submitted with no contact details</a:t>
            </a:r>
            <a:endParaRPr lang="en-US" sz="1250" dirty="0"/>
          </a:p>
        </p:txBody>
      </p:sp>
      <p:sp>
        <p:nvSpPr>
          <p:cNvPr id="7" name="Shape 5"/>
          <p:cNvSpPr/>
          <p:nvPr/>
        </p:nvSpPr>
        <p:spPr>
          <a:xfrm>
            <a:off x="658368" y="1901952"/>
            <a:ext cx="5358384" cy="2798064"/>
          </a:xfrm>
          <a:prstGeom prst="roundRect">
            <a:avLst>
              <a:gd name="adj" fmla="val 1961"/>
            </a:avLst>
          </a:prstGeom>
          <a:solidFill>
            <a:srgbClr val="10222E"/>
          </a:solidFill>
          <a:ln w="12700">
            <a:solidFill>
              <a:srgbClr val="10222E"/>
            </a:solidFill>
            <a:prstDash val="solid"/>
          </a:ln>
        </p:spPr>
      </p:sp>
      <p:sp>
        <p:nvSpPr>
          <p:cNvPr id="8" name="Text 6"/>
          <p:cNvSpPr txBox="1"/>
          <p:nvPr/>
        </p:nvSpPr>
        <p:spPr>
          <a:xfrm>
            <a:off x="932688" y="2103120"/>
            <a:ext cx="4846320" cy="1975104"/>
          </a:xfrm>
          <a:prstGeom prst="rect">
            <a:avLst/>
          </a:prstGeom>
          <a:noFill/>
          <a:ln/>
        </p:spPr>
        <p:txBody>
          <a:bodyPr wrap="square" lIns="0" tIns="0" rIns="0" bIns="0" rtlCol="0" anchor="ctr"/>
          <a:lstStyle/>
          <a:p>
            <a:pPr indent="0" marL="0">
              <a:lnSpc>
                <a:spcPct val="120000"/>
              </a:lnSpc>
              <a:buNone/>
            </a:pPr>
            <a:r>
              <a:rPr lang="en-US" sz="1150" dirty="0">
                <a:solidFill>
                  <a:srgbClr val="D7E6EC"/>
                </a:solidFill>
                <a:latin typeface="Courier New" pitchFamily="34" charset="0"/>
                <a:ea typeface="Courier New" pitchFamily="34" charset="-122"/>
                <a:cs typeface="Courier New" pitchFamily="34" charset="-120"/>
              </a:rPr>
              <a:t>"customer_name":  null,</a:t>
            </a:r>
            <a:endParaRPr lang="en-US" sz="1150" dirty="0"/>
          </a:p>
          <a:p>
            <a:pPr indent="0" marL="0">
              <a:lnSpc>
                <a:spcPct val="120000"/>
              </a:lnSpc>
              <a:buNone/>
            </a:pPr>
            <a:r>
              <a:rPr lang="en-US" sz="1150" dirty="0">
                <a:solidFill>
                  <a:srgbClr val="D7E6EC"/>
                </a:solidFill>
                <a:latin typeface="Courier New" pitchFamily="34" charset="0"/>
                <a:ea typeface="Courier New" pitchFamily="34" charset="-122"/>
                <a:cs typeface="Courier New" pitchFamily="34" charset="-120"/>
              </a:rPr>
              <a:t>"email":          null,</a:t>
            </a:r>
            <a:endParaRPr lang="en-US" sz="1150" dirty="0"/>
          </a:p>
          <a:p>
            <a:pPr indent="0" marL="0">
              <a:lnSpc>
                <a:spcPct val="120000"/>
              </a:lnSpc>
              <a:buNone/>
            </a:pPr>
            <a:r>
              <a:rPr lang="en-US" sz="1150" dirty="0">
                <a:solidFill>
                  <a:srgbClr val="D7E6EC"/>
                </a:solidFill>
                <a:latin typeface="Courier New" pitchFamily="34" charset="0"/>
                <a:ea typeface="Courier New" pitchFamily="34" charset="-122"/>
                <a:cs typeface="Courier New" pitchFamily="34" charset="-120"/>
              </a:rPr>
              <a:t>"phone_number":   null,</a:t>
            </a:r>
            <a:endParaRPr lang="en-US" sz="1150" dirty="0"/>
          </a:p>
          <a:p>
            <a:pPr indent="0" marL="0">
              <a:lnSpc>
                <a:spcPct val="120000"/>
              </a:lnSpc>
              <a:buNone/>
            </a:pPr>
            <a:r>
              <a:rPr lang="en-US" sz="1150" dirty="0">
                <a:solidFill>
                  <a:srgbClr val="D7E6EC"/>
                </a:solidFill>
                <a:latin typeface="Courier New" pitchFamily="34" charset="0"/>
                <a:ea typeface="Courier New" pitchFamily="34" charset="-122"/>
                <a:cs typeface="Courier New" pitchFamily="34" charset="-120"/>
              </a:rPr>
              <a:t>"complaint_category": "Technical Issue",</a:t>
            </a:r>
            <a:endParaRPr lang="en-US" sz="1150" dirty="0"/>
          </a:p>
          <a:p>
            <a:pPr indent="0" marL="0">
              <a:lnSpc>
                <a:spcPct val="120000"/>
              </a:lnSpc>
              <a:buNone/>
            </a:pPr>
            <a:r>
              <a:rPr lang="en-US" sz="1150" dirty="0">
                <a:solidFill>
                  <a:srgbClr val="D7E6EC"/>
                </a:solidFill>
                <a:latin typeface="Courier New" pitchFamily="34" charset="0"/>
                <a:ea typeface="Courier New" pitchFamily="34" charset="-122"/>
                <a:cs typeface="Courier New" pitchFamily="34" charset="-120"/>
              </a:rPr>
              <a:t>"resolution_provided": null,</a:t>
            </a:r>
            <a:endParaRPr lang="en-US" sz="1150" dirty="0"/>
          </a:p>
          <a:p>
            <a:pPr indent="0" marL="0">
              <a:lnSpc>
                <a:spcPct val="120000"/>
              </a:lnSpc>
              <a:buNone/>
            </a:pPr>
            <a:r>
              <a:rPr lang="en-US" sz="1150" dirty="0">
                <a:solidFill>
                  <a:srgbClr val="D7E6EC"/>
                </a:solidFill>
                <a:latin typeface="Courier New" pitchFamily="34" charset="0"/>
                <a:ea typeface="Courier New" pitchFamily="34" charset="-122"/>
                <a:cs typeface="Courier New" pitchFamily="34" charset="-120"/>
              </a:rPr>
              <a:t>"escalation_required": true,</a:t>
            </a:r>
            <a:endParaRPr lang="en-US" sz="1150" dirty="0"/>
          </a:p>
          <a:p>
            <a:pPr indent="0" marL="0">
              <a:lnSpc>
                <a:spcPct val="120000"/>
              </a:lnSpc>
              <a:buNone/>
            </a:pPr>
            <a:r>
              <a:rPr lang="en-US" sz="1150" dirty="0">
                <a:solidFill>
                  <a:srgbClr val="D7E6EC"/>
                </a:solidFill>
                <a:latin typeface="Courier New" pitchFamily="34" charset="0"/>
                <a:ea typeface="Courier New" pitchFamily="34" charset="-122"/>
                <a:cs typeface="Courier New" pitchFamily="34" charset="-120"/>
              </a:rPr>
              <a:t>"overall_case_status": "Escalated",</a:t>
            </a:r>
            <a:endParaRPr lang="en-US" sz="1150" dirty="0"/>
          </a:p>
          <a:p>
            <a:pPr indent="0" marL="0">
              <a:lnSpc>
                <a:spcPct val="120000"/>
              </a:lnSpc>
              <a:buNone/>
            </a:pPr>
            <a:r>
              <a:rPr lang="en-US" sz="1150" dirty="0">
                <a:solidFill>
                  <a:srgbClr val="D7E6EC"/>
                </a:solidFill>
                <a:latin typeface="Courier New" pitchFamily="34" charset="0"/>
                <a:ea typeface="Courier New" pitchFamily="34" charset="-122"/>
                <a:cs typeface="Courier New" pitchFamily="34" charset="-120"/>
              </a:rPr>
              <a:t>"priority":            "High",</a:t>
            </a:r>
            <a:endParaRPr lang="en-US" sz="1150" dirty="0"/>
          </a:p>
          <a:p>
            <a:pPr indent="0" marL="0">
              <a:lnSpc>
                <a:spcPct val="120000"/>
              </a:lnSpc>
              <a:buNone/>
            </a:pPr>
            <a:r>
              <a:rPr lang="en-US" sz="1150" dirty="0">
                <a:solidFill>
                  <a:srgbClr val="D7E6EC"/>
                </a:solidFill>
                <a:latin typeface="Courier New" pitchFamily="34" charset="0"/>
                <a:ea typeface="Courier New" pitchFamily="34" charset="-122"/>
                <a:cs typeface="Courier New" pitchFamily="34" charset="-120"/>
              </a:rPr>
              <a:t>"customer_sentiment":  "Very Negative"</a:t>
            </a:r>
            <a:endParaRPr lang="en-US" sz="1150" dirty="0"/>
          </a:p>
        </p:txBody>
      </p:sp>
      <p:sp>
        <p:nvSpPr>
          <p:cNvPr id="9" name="Text 7"/>
          <p:cNvSpPr txBox="1"/>
          <p:nvPr/>
        </p:nvSpPr>
        <p:spPr>
          <a:xfrm>
            <a:off x="932688" y="4224528"/>
            <a:ext cx="4846320" cy="310896"/>
          </a:xfrm>
          <a:prstGeom prst="rect">
            <a:avLst/>
          </a:prstGeom>
          <a:noFill/>
          <a:ln/>
        </p:spPr>
        <p:txBody>
          <a:bodyPr wrap="square" lIns="0" tIns="0" rIns="0" bIns="0" rtlCol="0" anchor="ctr"/>
          <a:lstStyle/>
          <a:p>
            <a:pPr indent="0" marL="0">
              <a:buNone/>
            </a:pPr>
            <a:r>
              <a:rPr lang="en-US" sz="1150" i="1" dirty="0">
                <a:solidFill>
                  <a:srgbClr val="02C39A"/>
                </a:solidFill>
                <a:latin typeface="Calibri" pitchFamily="34" charset="0"/>
                <a:ea typeface="Calibri" pitchFamily="34" charset="-122"/>
                <a:cs typeface="Calibri" pitchFamily="34" charset="-120"/>
              </a:rPr>
              <a:t>Missing values are real nulls — never invented, never "N/A".</a:t>
            </a:r>
            <a:endParaRPr lang="en-US" sz="1150" dirty="0"/>
          </a:p>
        </p:txBody>
      </p:sp>
      <p:sp>
        <p:nvSpPr>
          <p:cNvPr id="10" name="Text 8"/>
          <p:cNvSpPr txBox="1"/>
          <p:nvPr/>
        </p:nvSpPr>
        <p:spPr>
          <a:xfrm>
            <a:off x="6565392" y="1591056"/>
            <a:ext cx="4974336" cy="274320"/>
          </a:xfrm>
          <a:prstGeom prst="rect">
            <a:avLst/>
          </a:prstGeom>
          <a:noFill/>
          <a:ln/>
        </p:spPr>
        <p:txBody>
          <a:bodyPr wrap="square" lIns="0" tIns="0" rIns="0" bIns="0" rtlCol="0" anchor="ctr"/>
          <a:lstStyle/>
          <a:p>
            <a:pPr indent="0" marL="0">
              <a:buNone/>
            </a:pPr>
            <a:r>
              <a:rPr lang="en-US" sz="1250" b="1" dirty="0">
                <a:solidFill>
                  <a:srgbClr val="00A896"/>
                </a:solidFill>
                <a:latin typeface="Calibri" pitchFamily="34" charset="0"/>
                <a:ea typeface="Calibri" pitchFamily="34" charset="-122"/>
                <a:cs typeface="Calibri" pitchFamily="34" charset="-120"/>
              </a:rPr>
              <a:t>complaint_002 — generated reply to the escalated delivery case</a:t>
            </a:r>
            <a:endParaRPr lang="en-US" sz="1250" dirty="0"/>
          </a:p>
        </p:txBody>
      </p:sp>
      <p:sp>
        <p:nvSpPr>
          <p:cNvPr id="11" name="Shape 9"/>
          <p:cNvSpPr/>
          <p:nvPr/>
        </p:nvSpPr>
        <p:spPr>
          <a:xfrm>
            <a:off x="6565392" y="1901952"/>
            <a:ext cx="4974336" cy="2798064"/>
          </a:xfrm>
          <a:prstGeom prst="roundRect">
            <a:avLst>
              <a:gd name="adj" fmla="val 1961"/>
            </a:avLst>
          </a:prstGeom>
          <a:solidFill>
            <a:srgbClr val="F1F5F7"/>
          </a:solidFill>
          <a:ln w="12700">
            <a:solidFill>
              <a:srgbClr val="F1F5F7"/>
            </a:solidFill>
            <a:prstDash val="solid"/>
          </a:ln>
        </p:spPr>
      </p:sp>
      <p:sp>
        <p:nvSpPr>
          <p:cNvPr id="12" name="Text 10"/>
          <p:cNvSpPr txBox="1"/>
          <p:nvPr/>
        </p:nvSpPr>
        <p:spPr>
          <a:xfrm>
            <a:off x="6821424" y="2084832"/>
            <a:ext cx="4480560" cy="512064"/>
          </a:xfrm>
          <a:prstGeom prst="rect">
            <a:avLst/>
          </a:prstGeom>
          <a:noFill/>
          <a:ln/>
        </p:spPr>
        <p:txBody>
          <a:bodyPr wrap="square" lIns="0" tIns="0" rIns="0" bIns="0" rtlCol="0" anchor="ctr"/>
          <a:lstStyle/>
          <a:p>
            <a:pPr indent="0" marL="0">
              <a:lnSpc>
                <a:spcPct val="116000"/>
              </a:lnSpc>
              <a:buNone/>
            </a:pPr>
            <a:r>
              <a:rPr lang="en-US" sz="1150" b="1" dirty="0">
                <a:solidFill>
                  <a:srgbClr val="172A33"/>
                </a:solidFill>
                <a:latin typeface="Calibri" pitchFamily="34" charset="0"/>
                <a:ea typeface="Calibri" pitchFamily="34" charset="-122"/>
                <a:cs typeface="Calibri" pitchFamily="34" charset="-120"/>
              </a:rPr>
              <a:t>Subject: Update on Your Delivery Complaint</a:t>
            </a:r>
            <a:endParaRPr lang="en-US" sz="1150" dirty="0"/>
          </a:p>
          <a:p>
            <a:pPr indent="0" marL="0">
              <a:lnSpc>
                <a:spcPct val="116000"/>
              </a:lnSpc>
              <a:buNone/>
            </a:pPr>
            <a:r>
              <a:rPr lang="en-US" sz="1150" b="1" dirty="0">
                <a:solidFill>
                  <a:srgbClr val="172A33"/>
                </a:solidFill>
                <a:latin typeface="Calibri" pitchFamily="34" charset="0"/>
                <a:ea typeface="Calibri" pitchFamily="34" charset="-122"/>
                <a:cs typeface="Calibri" pitchFamily="34" charset="-120"/>
              </a:rPr>
              <a:t>for Order ORD-77821</a:t>
            </a:r>
            <a:endParaRPr lang="en-US" sz="1150" dirty="0"/>
          </a:p>
        </p:txBody>
      </p:sp>
      <p:sp>
        <p:nvSpPr>
          <p:cNvPr id="13" name="Text 11"/>
          <p:cNvSpPr txBox="1"/>
          <p:nvPr/>
        </p:nvSpPr>
        <p:spPr>
          <a:xfrm>
            <a:off x="6821424" y="2706624"/>
            <a:ext cx="4480560" cy="1280160"/>
          </a:xfrm>
          <a:prstGeom prst="rect">
            <a:avLst/>
          </a:prstGeom>
          <a:noFill/>
          <a:ln/>
        </p:spPr>
        <p:txBody>
          <a:bodyPr wrap="square" lIns="0" tIns="0" rIns="0" bIns="0" rtlCol="0" anchor="ctr"/>
          <a:lstStyle/>
          <a:p>
            <a:pPr indent="0" marL="0">
              <a:lnSpc>
                <a:spcPct val="122000"/>
              </a:lnSpc>
              <a:buNone/>
            </a:pPr>
            <a:r>
              <a:rPr lang="en-US" sz="1200" dirty="0">
                <a:solidFill>
                  <a:srgbClr val="172A33"/>
                </a:solidFill>
                <a:latin typeface="Calibri" pitchFamily="34" charset="0"/>
                <a:ea typeface="Calibri" pitchFamily="34" charset="-122"/>
                <a:cs typeface="Calibri" pitchFamily="34" charset="-120"/>
              </a:rPr>
              <a:t>…your case is currently being worked on and has been escalated for further review. We recognize the urgency of this matter, especially given your previous attempts to resolve it through tickets TKT-4411 and TKT-4622.</a:t>
            </a:r>
            <a:endParaRPr lang="en-US" sz="1200" dirty="0"/>
          </a:p>
        </p:txBody>
      </p:sp>
      <p:sp>
        <p:nvSpPr>
          <p:cNvPr id="14" name="Text 12"/>
          <p:cNvSpPr txBox="1"/>
          <p:nvPr/>
        </p:nvSpPr>
        <p:spPr>
          <a:xfrm>
            <a:off x="6821424" y="4114800"/>
            <a:ext cx="4480560" cy="457200"/>
          </a:xfrm>
          <a:prstGeom prst="rect">
            <a:avLst/>
          </a:prstGeom>
          <a:noFill/>
          <a:ln/>
        </p:spPr>
        <p:txBody>
          <a:bodyPr wrap="square" lIns="0" tIns="0" rIns="0" bIns="0" rtlCol="0" anchor="ctr"/>
          <a:lstStyle/>
          <a:p>
            <a:pPr indent="0" marL="0">
              <a:lnSpc>
                <a:spcPct val="116000"/>
              </a:lnSpc>
              <a:buNone/>
            </a:pPr>
            <a:r>
              <a:rPr lang="en-US" sz="1150" i="1" dirty="0">
                <a:solidFill>
                  <a:srgbClr val="028090"/>
                </a:solidFill>
                <a:latin typeface="Calibri" pitchFamily="34" charset="0"/>
                <a:ea typeface="Calibri" pitchFamily="34" charset="-122"/>
                <a:cs typeface="Calibri" pitchFamily="34" charset="-120"/>
              </a:rPr>
              <a:t>Cites the real ticket IDs from the document, and does not invent a resolution — because the document records none.</a:t>
            </a:r>
            <a:endParaRPr lang="en-US" sz="1150" dirty="0"/>
          </a:p>
        </p:txBody>
      </p:sp>
      <p:sp>
        <p:nvSpPr>
          <p:cNvPr id="15" name="Shape 13"/>
          <p:cNvSpPr/>
          <p:nvPr/>
        </p:nvSpPr>
        <p:spPr>
          <a:xfrm>
            <a:off x="658368" y="4919472"/>
            <a:ext cx="10874959" cy="1060704"/>
          </a:xfrm>
          <a:prstGeom prst="roundRect">
            <a:avLst>
              <a:gd name="adj" fmla="val 5172"/>
            </a:avLst>
          </a:prstGeom>
          <a:solidFill>
            <a:srgbClr val="E4EDF0"/>
          </a:solidFill>
          <a:ln w="12700">
            <a:solidFill>
              <a:srgbClr val="E4EDF0"/>
            </a:solidFill>
            <a:prstDash val="solid"/>
          </a:ln>
        </p:spPr>
      </p:sp>
      <p:sp>
        <p:nvSpPr>
          <p:cNvPr id="16" name="Text 14"/>
          <p:cNvSpPr txBox="1"/>
          <p:nvPr/>
        </p:nvSpPr>
        <p:spPr>
          <a:xfrm>
            <a:off x="969264" y="5084064"/>
            <a:ext cx="3657600" cy="274320"/>
          </a:xfrm>
          <a:prstGeom prst="rect">
            <a:avLst/>
          </a:prstGeom>
          <a:noFill/>
          <a:ln/>
        </p:spPr>
        <p:txBody>
          <a:bodyPr wrap="square" lIns="0" tIns="0" rIns="0" bIns="0" rtlCol="0" anchor="ctr"/>
          <a:lstStyle/>
          <a:p>
            <a:pPr indent="0" marL="0">
              <a:buNone/>
            </a:pPr>
            <a:r>
              <a:rPr lang="en-US" sz="1350" b="1" dirty="0">
                <a:solidFill>
                  <a:srgbClr val="172A33"/>
                </a:solidFill>
                <a:latin typeface="Calibri" pitchFamily="34" charset="0"/>
                <a:ea typeface="Calibri" pitchFamily="34" charset="-122"/>
                <a:cs typeface="Calibri" pitchFamily="34" charset="-120"/>
              </a:rPr>
              <a:t>Output written per run</a:t>
            </a:r>
            <a:endParaRPr lang="en-US" sz="1350" dirty="0"/>
          </a:p>
        </p:txBody>
      </p:sp>
      <p:sp>
        <p:nvSpPr>
          <p:cNvPr id="17" name="Text 15"/>
          <p:cNvSpPr txBox="1"/>
          <p:nvPr/>
        </p:nvSpPr>
        <p:spPr>
          <a:xfrm>
            <a:off x="969264" y="5394960"/>
            <a:ext cx="10253167" cy="310896"/>
          </a:xfrm>
          <a:prstGeom prst="rect">
            <a:avLst/>
          </a:prstGeom>
          <a:noFill/>
          <a:ln/>
        </p:spPr>
        <p:txBody>
          <a:bodyPr wrap="square" lIns="0" tIns="0" rIns="0" bIns="0" rtlCol="0" anchor="ctr"/>
          <a:lstStyle/>
          <a:p>
            <a:pPr indent="0" marL="0">
              <a:buNone/>
            </a:pPr>
            <a:r>
              <a:rPr lang="en-US" sz="1150" dirty="0">
                <a:solidFill>
                  <a:srgbClr val="028090"/>
                </a:solidFill>
                <a:latin typeface="Courier New" pitchFamily="34" charset="0"/>
                <a:ea typeface="Courier New" pitchFamily="34" charset="-122"/>
                <a:cs typeface="Courier New" pitchFamily="34" charset="-120"/>
              </a:rPr>
              <a:t>structured_data/*.json    ·    customer_emails/*.txt    ·    case_summaries/*.md    ·    final_report.csv    ·    run_manifest.json    ·    logs/run.log</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02336"/>
            <a:ext cx="10874959" cy="237744"/>
          </a:xfrm>
          <a:prstGeom prst="rect">
            <a:avLst/>
          </a:prstGeom>
          <a:noFill/>
          <a:ln/>
        </p:spPr>
        <p:txBody>
          <a:bodyPr wrap="square" lIns="0" tIns="0" rIns="0" bIns="0" rtlCol="0" anchor="ctr"/>
          <a:lstStyle/>
          <a:p>
            <a:pPr indent="0" marL="0">
              <a:buNone/>
            </a:pPr>
            <a:r>
              <a:rPr lang="en-US" sz="1100" b="1" spc="160" kern="0" dirty="0">
                <a:solidFill>
                  <a:srgbClr val="028090"/>
                </a:solidFill>
                <a:latin typeface="Calibri" pitchFamily="34" charset="0"/>
                <a:ea typeface="Calibri" pitchFamily="34" charset="-122"/>
                <a:cs typeface="Calibri" pitchFamily="34" charset="-120"/>
              </a:rPr>
              <a:t>ENGINEERING PRACTICES</a:t>
            </a:r>
            <a:endParaRPr lang="en-US" sz="1100" dirty="0"/>
          </a:p>
        </p:txBody>
      </p:sp>
      <p:sp>
        <p:nvSpPr>
          <p:cNvPr id="3" name="Text 1"/>
          <p:cNvSpPr txBox="1"/>
          <p:nvPr/>
        </p:nvSpPr>
        <p:spPr>
          <a:xfrm>
            <a:off x="658368" y="658368"/>
            <a:ext cx="10874959" cy="658368"/>
          </a:xfrm>
          <a:prstGeom prst="rect">
            <a:avLst/>
          </a:prstGeom>
          <a:noFill/>
          <a:ln/>
        </p:spPr>
        <p:txBody>
          <a:bodyPr wrap="square" lIns="0" tIns="0" rIns="0" bIns="0" rtlCol="0" anchor="t"/>
          <a:lstStyle/>
          <a:p>
            <a:pPr indent="0" marL="0">
              <a:buNone/>
            </a:pPr>
            <a:r>
              <a:rPr lang="en-US" sz="3200" b="1" dirty="0">
                <a:solidFill>
                  <a:srgbClr val="172A33"/>
                </a:solidFill>
                <a:latin typeface="Cambria" pitchFamily="34" charset="0"/>
                <a:ea typeface="Cambria" pitchFamily="34" charset="-122"/>
                <a:cs typeface="Cambria" pitchFamily="34" charset="-120"/>
              </a:rPr>
              <a:t>Built to be run by someone else</a:t>
            </a:r>
            <a:endParaRPr lang="en-US" sz="3200" dirty="0"/>
          </a:p>
        </p:txBody>
      </p:sp>
      <p:sp>
        <p:nvSpPr>
          <p:cNvPr id="4" name="Text 2"/>
          <p:cNvSpPr txBox="1"/>
          <p:nvPr/>
        </p:nvSpPr>
        <p:spPr>
          <a:xfrm>
            <a:off x="10984687" y="6382512"/>
            <a:ext cx="548640" cy="256032"/>
          </a:xfrm>
          <a:prstGeom prst="rect">
            <a:avLst/>
          </a:prstGeom>
          <a:noFill/>
          <a:ln/>
        </p:spPr>
        <p:txBody>
          <a:bodyPr wrap="square" lIns="0" tIns="0" rIns="0" bIns="0" rtlCol="0" anchor="ctr"/>
          <a:lstStyle/>
          <a:p>
            <a:pPr algn="r" indent="0" marL="0">
              <a:buNone/>
            </a:pPr>
            <a:r>
              <a:rPr lang="en-US" sz="1000" dirty="0">
                <a:solidFill>
                  <a:srgbClr val="5D7480"/>
                </a:solidFill>
                <a:latin typeface="Calibri" pitchFamily="34" charset="0"/>
                <a:ea typeface="Calibri" pitchFamily="34" charset="-122"/>
                <a:cs typeface="Calibri" pitchFamily="34" charset="-120"/>
              </a:rPr>
              <a:t>13</a:t>
            </a:r>
            <a:endParaRPr lang="en-US" sz="1000" dirty="0"/>
          </a:p>
        </p:txBody>
      </p:sp>
      <p:sp>
        <p:nvSpPr>
          <p:cNvPr id="5" name="Text 3"/>
          <p:cNvSpPr txBox="1"/>
          <p:nvPr/>
        </p:nvSpPr>
        <p:spPr>
          <a:xfrm>
            <a:off x="658368" y="6382512"/>
            <a:ext cx="6858000" cy="256032"/>
          </a:xfrm>
          <a:prstGeom prst="rect">
            <a:avLst/>
          </a:prstGeom>
          <a:noFill/>
          <a:ln/>
        </p:spPr>
        <p:txBody>
          <a:bodyPr wrap="square" lIns="0" tIns="0" rIns="0" bIns="0" rtlCol="0" anchor="ctr"/>
          <a:lstStyle/>
          <a:p>
            <a:pPr indent="0" marL="0">
              <a:buNone/>
            </a:pPr>
            <a:r>
              <a:rPr lang="en-US" sz="1000" dirty="0">
                <a:solidFill>
                  <a:srgbClr val="5D7480"/>
                </a:solidFill>
                <a:latin typeface="Calibri" pitchFamily="34" charset="0"/>
                <a:ea typeface="Calibri" pitchFamily="34" charset="-122"/>
                <a:cs typeface="Calibri" pitchFamily="34" charset="-120"/>
              </a:rPr>
              <a:t>AI Customer Complaint &amp; Case Processing System</a:t>
            </a:r>
            <a:endParaRPr lang="en-US" sz="1000" dirty="0"/>
          </a:p>
        </p:txBody>
      </p:sp>
      <p:sp>
        <p:nvSpPr>
          <p:cNvPr id="6" name="Shape 4"/>
          <p:cNvSpPr/>
          <p:nvPr/>
        </p:nvSpPr>
        <p:spPr>
          <a:xfrm>
            <a:off x="658368" y="1645920"/>
            <a:ext cx="3447288" cy="1956816"/>
          </a:xfrm>
          <a:prstGeom prst="roundRect">
            <a:avLst>
              <a:gd name="adj" fmla="val 2804"/>
            </a:avLst>
          </a:prstGeom>
          <a:solidFill>
            <a:srgbClr val="F1F5F7"/>
          </a:solidFill>
          <a:ln w="12700">
            <a:solidFill>
              <a:srgbClr val="F1F5F7"/>
            </a:solidFill>
            <a:prstDash val="solid"/>
          </a:ln>
        </p:spPr>
      </p:sp>
      <p:sp>
        <p:nvSpPr>
          <p:cNvPr id="7" name="Shape 5"/>
          <p:cNvSpPr/>
          <p:nvPr/>
        </p:nvSpPr>
        <p:spPr>
          <a:xfrm>
            <a:off x="914400" y="1901952"/>
            <a:ext cx="365760" cy="365760"/>
          </a:xfrm>
          <a:prstGeom prst="ellipse">
            <a:avLst/>
          </a:prstGeom>
          <a:solidFill>
            <a:srgbClr val="028090"/>
          </a:solidFill>
          <a:ln w="12700">
            <a:solidFill>
              <a:srgbClr val="028090"/>
            </a:solidFill>
            <a:prstDash val="solid"/>
          </a:ln>
        </p:spPr>
      </p:sp>
      <p:sp>
        <p:nvSpPr>
          <p:cNvPr id="8" name="Text 6"/>
          <p:cNvSpPr txBox="1"/>
          <p:nvPr/>
        </p:nvSpPr>
        <p:spPr>
          <a:xfrm>
            <a:off x="914400" y="2395728"/>
            <a:ext cx="2926080" cy="310896"/>
          </a:xfrm>
          <a:prstGeom prst="rect">
            <a:avLst/>
          </a:prstGeom>
          <a:noFill/>
          <a:ln/>
        </p:spPr>
        <p:txBody>
          <a:bodyPr wrap="square" lIns="0" tIns="0" rIns="0" bIns="0" rtlCol="0" anchor="ctr"/>
          <a:lstStyle/>
          <a:p>
            <a:pPr indent="0" marL="0">
              <a:buNone/>
            </a:pPr>
            <a:r>
              <a:rPr lang="en-US" sz="1500" b="1" dirty="0">
                <a:solidFill>
                  <a:srgbClr val="172A33"/>
                </a:solidFill>
                <a:latin typeface="Cambria" pitchFamily="34" charset="0"/>
                <a:ea typeface="Cambria" pitchFamily="34" charset="-122"/>
                <a:cs typeface="Cambria" pitchFamily="34" charset="-120"/>
              </a:rPr>
              <a:t>79 tests</a:t>
            </a:r>
            <a:endParaRPr lang="en-US" sz="1500" dirty="0"/>
          </a:p>
        </p:txBody>
      </p:sp>
      <p:sp>
        <p:nvSpPr>
          <p:cNvPr id="9" name="Text 7"/>
          <p:cNvSpPr txBox="1"/>
          <p:nvPr/>
        </p:nvSpPr>
        <p:spPr>
          <a:xfrm>
            <a:off x="914400" y="2743200"/>
            <a:ext cx="2926080" cy="731520"/>
          </a:xfrm>
          <a:prstGeom prst="rect">
            <a:avLst/>
          </a:prstGeom>
          <a:noFill/>
          <a:ln/>
        </p:spPr>
        <p:txBody>
          <a:bodyPr wrap="square" lIns="0" tIns="0" rIns="0" bIns="0" rtlCol="0" anchor="ctr"/>
          <a:lstStyle/>
          <a:p>
            <a:pPr indent="0" marL="0">
              <a:lnSpc>
                <a:spcPct val="120000"/>
              </a:lnSpc>
              <a:buNone/>
            </a:pPr>
            <a:r>
              <a:rPr lang="en-US" sz="1150" dirty="0">
                <a:solidFill>
                  <a:srgbClr val="5D7480"/>
                </a:solidFill>
                <a:latin typeface="Calibri" pitchFamily="34" charset="0"/>
                <a:ea typeface="Calibri" pitchFamily="34" charset="-122"/>
                <a:cs typeface="Calibri" pitchFamily="34" charset="-120"/>
              </a:rPr>
              <a:t>Loaders, validators, workflow failure policy, batch, reporting. All run with no API key.</a:t>
            </a:r>
            <a:endParaRPr lang="en-US" sz="1150" dirty="0"/>
          </a:p>
        </p:txBody>
      </p:sp>
      <p:sp>
        <p:nvSpPr>
          <p:cNvPr id="10" name="Shape 8"/>
          <p:cNvSpPr/>
          <p:nvPr/>
        </p:nvSpPr>
        <p:spPr>
          <a:xfrm>
            <a:off x="4389120" y="1645920"/>
            <a:ext cx="3447288" cy="1956816"/>
          </a:xfrm>
          <a:prstGeom prst="roundRect">
            <a:avLst>
              <a:gd name="adj" fmla="val 2804"/>
            </a:avLst>
          </a:prstGeom>
          <a:solidFill>
            <a:srgbClr val="F1F5F7"/>
          </a:solidFill>
          <a:ln w="12700">
            <a:solidFill>
              <a:srgbClr val="F1F5F7"/>
            </a:solidFill>
            <a:prstDash val="solid"/>
          </a:ln>
        </p:spPr>
      </p:sp>
      <p:sp>
        <p:nvSpPr>
          <p:cNvPr id="11" name="Shape 9"/>
          <p:cNvSpPr/>
          <p:nvPr/>
        </p:nvSpPr>
        <p:spPr>
          <a:xfrm>
            <a:off x="4645152" y="1901952"/>
            <a:ext cx="365760" cy="365760"/>
          </a:xfrm>
          <a:prstGeom prst="ellipse">
            <a:avLst/>
          </a:prstGeom>
          <a:solidFill>
            <a:srgbClr val="00A896"/>
          </a:solidFill>
          <a:ln w="12700">
            <a:solidFill>
              <a:srgbClr val="00A896"/>
            </a:solidFill>
            <a:prstDash val="solid"/>
          </a:ln>
        </p:spPr>
      </p:sp>
      <p:sp>
        <p:nvSpPr>
          <p:cNvPr id="12" name="Text 10"/>
          <p:cNvSpPr txBox="1"/>
          <p:nvPr/>
        </p:nvSpPr>
        <p:spPr>
          <a:xfrm>
            <a:off x="4645152" y="2395728"/>
            <a:ext cx="2926080" cy="310896"/>
          </a:xfrm>
          <a:prstGeom prst="rect">
            <a:avLst/>
          </a:prstGeom>
          <a:noFill/>
          <a:ln/>
        </p:spPr>
        <p:txBody>
          <a:bodyPr wrap="square" lIns="0" tIns="0" rIns="0" bIns="0" rtlCol="0" anchor="ctr"/>
          <a:lstStyle/>
          <a:p>
            <a:pPr indent="0" marL="0">
              <a:buNone/>
            </a:pPr>
            <a:r>
              <a:rPr lang="en-US" sz="1500" b="1" dirty="0">
                <a:solidFill>
                  <a:srgbClr val="172A33"/>
                </a:solidFill>
                <a:latin typeface="Cambria" pitchFamily="34" charset="0"/>
                <a:ea typeface="Cambria" pitchFamily="34" charset="-122"/>
                <a:cs typeface="Cambria" pitchFamily="34" charset="-120"/>
              </a:rPr>
              <a:t>Config, not constants</a:t>
            </a:r>
            <a:endParaRPr lang="en-US" sz="1500" dirty="0"/>
          </a:p>
        </p:txBody>
      </p:sp>
      <p:sp>
        <p:nvSpPr>
          <p:cNvPr id="13" name="Text 11"/>
          <p:cNvSpPr txBox="1"/>
          <p:nvPr/>
        </p:nvSpPr>
        <p:spPr>
          <a:xfrm>
            <a:off x="4645152" y="2743200"/>
            <a:ext cx="2926080" cy="731520"/>
          </a:xfrm>
          <a:prstGeom prst="rect">
            <a:avLst/>
          </a:prstGeom>
          <a:noFill/>
          <a:ln/>
        </p:spPr>
        <p:txBody>
          <a:bodyPr wrap="square" lIns="0" tIns="0" rIns="0" bIns="0" rtlCol="0" anchor="ctr"/>
          <a:lstStyle/>
          <a:p>
            <a:pPr indent="0" marL="0">
              <a:lnSpc>
                <a:spcPct val="120000"/>
              </a:lnSpc>
              <a:buNone/>
            </a:pPr>
            <a:r>
              <a:rPr lang="en-US" sz="1150" dirty="0">
                <a:solidFill>
                  <a:srgbClr val="5D7480"/>
                </a:solidFill>
                <a:latin typeface="Calibri" pitchFamily="34" charset="0"/>
                <a:ea typeface="Calibri" pitchFamily="34" charset="-122"/>
                <a:cs typeface="Calibri" pitchFamily="34" charset="-120"/>
              </a:rPr>
              <a:t>.env + CLI flags via pydantic-settings. No hard-coded paths, models or keys.</a:t>
            </a:r>
            <a:endParaRPr lang="en-US" sz="1150" dirty="0"/>
          </a:p>
        </p:txBody>
      </p:sp>
      <p:sp>
        <p:nvSpPr>
          <p:cNvPr id="14" name="Shape 12"/>
          <p:cNvSpPr/>
          <p:nvPr/>
        </p:nvSpPr>
        <p:spPr>
          <a:xfrm>
            <a:off x="8119872" y="1645920"/>
            <a:ext cx="3447288" cy="1956816"/>
          </a:xfrm>
          <a:prstGeom prst="roundRect">
            <a:avLst>
              <a:gd name="adj" fmla="val 2804"/>
            </a:avLst>
          </a:prstGeom>
          <a:solidFill>
            <a:srgbClr val="F1F5F7"/>
          </a:solidFill>
          <a:ln w="12700">
            <a:solidFill>
              <a:srgbClr val="F1F5F7"/>
            </a:solidFill>
            <a:prstDash val="solid"/>
          </a:ln>
        </p:spPr>
      </p:sp>
      <p:sp>
        <p:nvSpPr>
          <p:cNvPr id="15" name="Shape 13"/>
          <p:cNvSpPr/>
          <p:nvPr/>
        </p:nvSpPr>
        <p:spPr>
          <a:xfrm>
            <a:off x="8375904" y="1901952"/>
            <a:ext cx="365760" cy="365760"/>
          </a:xfrm>
          <a:prstGeom prst="ellipse">
            <a:avLst/>
          </a:prstGeom>
          <a:solidFill>
            <a:srgbClr val="02C39A"/>
          </a:solidFill>
          <a:ln w="12700">
            <a:solidFill>
              <a:srgbClr val="02C39A"/>
            </a:solidFill>
            <a:prstDash val="solid"/>
          </a:ln>
        </p:spPr>
      </p:sp>
      <p:sp>
        <p:nvSpPr>
          <p:cNvPr id="16" name="Text 14"/>
          <p:cNvSpPr txBox="1"/>
          <p:nvPr/>
        </p:nvSpPr>
        <p:spPr>
          <a:xfrm>
            <a:off x="8375904" y="2395728"/>
            <a:ext cx="2926080" cy="310896"/>
          </a:xfrm>
          <a:prstGeom prst="rect">
            <a:avLst/>
          </a:prstGeom>
          <a:noFill/>
          <a:ln/>
        </p:spPr>
        <p:txBody>
          <a:bodyPr wrap="square" lIns="0" tIns="0" rIns="0" bIns="0" rtlCol="0" anchor="ctr"/>
          <a:lstStyle/>
          <a:p>
            <a:pPr indent="0" marL="0">
              <a:buNone/>
            </a:pPr>
            <a:r>
              <a:rPr lang="en-US" sz="1500" b="1" dirty="0">
                <a:solidFill>
                  <a:srgbClr val="172A33"/>
                </a:solidFill>
                <a:latin typeface="Cambria" pitchFamily="34" charset="0"/>
                <a:ea typeface="Cambria" pitchFamily="34" charset="-122"/>
                <a:cs typeface="Cambria" pitchFamily="34" charset="-120"/>
              </a:rPr>
              <a:t>Logging</a:t>
            </a:r>
            <a:endParaRPr lang="en-US" sz="1500" dirty="0"/>
          </a:p>
        </p:txBody>
      </p:sp>
      <p:sp>
        <p:nvSpPr>
          <p:cNvPr id="17" name="Text 15"/>
          <p:cNvSpPr txBox="1"/>
          <p:nvPr/>
        </p:nvSpPr>
        <p:spPr>
          <a:xfrm>
            <a:off x="8375904" y="2743200"/>
            <a:ext cx="2926080" cy="731520"/>
          </a:xfrm>
          <a:prstGeom prst="rect">
            <a:avLst/>
          </a:prstGeom>
          <a:noFill/>
          <a:ln/>
        </p:spPr>
        <p:txBody>
          <a:bodyPr wrap="square" lIns="0" tIns="0" rIns="0" bIns="0" rtlCol="0" anchor="ctr"/>
          <a:lstStyle/>
          <a:p>
            <a:pPr indent="0" marL="0">
              <a:lnSpc>
                <a:spcPct val="120000"/>
              </a:lnSpc>
              <a:buNone/>
            </a:pPr>
            <a:r>
              <a:rPr lang="en-US" sz="1150" dirty="0">
                <a:solidFill>
                  <a:srgbClr val="5D7480"/>
                </a:solidFill>
                <a:latin typeface="Calibri" pitchFamily="34" charset="0"/>
                <a:ea typeface="Calibri" pitchFamily="34" charset="-122"/>
                <a:cs typeface="Calibri" pitchFamily="34" charset="-120"/>
              </a:rPr>
              <a:t>Rich console output plus a full DEBUG audit trail at output/logs/run.log.</a:t>
            </a:r>
            <a:endParaRPr lang="en-US" sz="1150" dirty="0"/>
          </a:p>
        </p:txBody>
      </p:sp>
      <p:sp>
        <p:nvSpPr>
          <p:cNvPr id="18" name="Shape 16"/>
          <p:cNvSpPr/>
          <p:nvPr/>
        </p:nvSpPr>
        <p:spPr>
          <a:xfrm>
            <a:off x="658368" y="3858768"/>
            <a:ext cx="3447288" cy="1956816"/>
          </a:xfrm>
          <a:prstGeom prst="roundRect">
            <a:avLst>
              <a:gd name="adj" fmla="val 2804"/>
            </a:avLst>
          </a:prstGeom>
          <a:solidFill>
            <a:srgbClr val="F1F5F7"/>
          </a:solidFill>
          <a:ln w="12700">
            <a:solidFill>
              <a:srgbClr val="F1F5F7"/>
            </a:solidFill>
            <a:prstDash val="solid"/>
          </a:ln>
        </p:spPr>
      </p:sp>
      <p:sp>
        <p:nvSpPr>
          <p:cNvPr id="19" name="Shape 17"/>
          <p:cNvSpPr/>
          <p:nvPr/>
        </p:nvSpPr>
        <p:spPr>
          <a:xfrm>
            <a:off x="914400" y="4114800"/>
            <a:ext cx="365760" cy="365760"/>
          </a:xfrm>
          <a:prstGeom prst="ellipse">
            <a:avLst/>
          </a:prstGeom>
          <a:solidFill>
            <a:srgbClr val="028090"/>
          </a:solidFill>
          <a:ln w="12700">
            <a:solidFill>
              <a:srgbClr val="028090"/>
            </a:solidFill>
            <a:prstDash val="solid"/>
          </a:ln>
        </p:spPr>
      </p:sp>
      <p:sp>
        <p:nvSpPr>
          <p:cNvPr id="20" name="Text 18"/>
          <p:cNvSpPr txBox="1"/>
          <p:nvPr/>
        </p:nvSpPr>
        <p:spPr>
          <a:xfrm>
            <a:off x="914400" y="4608576"/>
            <a:ext cx="2926080" cy="310896"/>
          </a:xfrm>
          <a:prstGeom prst="rect">
            <a:avLst/>
          </a:prstGeom>
          <a:noFill/>
          <a:ln/>
        </p:spPr>
        <p:txBody>
          <a:bodyPr wrap="square" lIns="0" tIns="0" rIns="0" bIns="0" rtlCol="0" anchor="ctr"/>
          <a:lstStyle/>
          <a:p>
            <a:pPr indent="0" marL="0">
              <a:buNone/>
            </a:pPr>
            <a:r>
              <a:rPr lang="en-US" sz="1500" b="1" dirty="0">
                <a:solidFill>
                  <a:srgbClr val="172A33"/>
                </a:solidFill>
                <a:latin typeface="Cambria" pitchFamily="34" charset="0"/>
                <a:ea typeface="Cambria" pitchFamily="34" charset="-122"/>
                <a:cs typeface="Cambria" pitchFamily="34" charset="-120"/>
              </a:rPr>
              <a:t>Secrets hygiene</a:t>
            </a:r>
            <a:endParaRPr lang="en-US" sz="1500" dirty="0"/>
          </a:p>
        </p:txBody>
      </p:sp>
      <p:sp>
        <p:nvSpPr>
          <p:cNvPr id="21" name="Text 19"/>
          <p:cNvSpPr txBox="1"/>
          <p:nvPr/>
        </p:nvSpPr>
        <p:spPr>
          <a:xfrm>
            <a:off x="914400" y="4956048"/>
            <a:ext cx="2926080" cy="731520"/>
          </a:xfrm>
          <a:prstGeom prst="rect">
            <a:avLst/>
          </a:prstGeom>
          <a:noFill/>
          <a:ln/>
        </p:spPr>
        <p:txBody>
          <a:bodyPr wrap="square" lIns="0" tIns="0" rIns="0" bIns="0" rtlCol="0" anchor="ctr"/>
          <a:lstStyle/>
          <a:p>
            <a:pPr indent="0" marL="0">
              <a:lnSpc>
                <a:spcPct val="120000"/>
              </a:lnSpc>
              <a:buNone/>
            </a:pPr>
            <a:r>
              <a:rPr lang="en-US" sz="1150" dirty="0">
                <a:solidFill>
                  <a:srgbClr val="5D7480"/>
                </a:solidFill>
                <a:latin typeface="Calibri" pitchFamily="34" charset="0"/>
                <a:ea typeface="Calibri" pitchFamily="34" charset="-122"/>
                <a:cs typeface="Calibri" pitchFamily="34" charset="-120"/>
              </a:rPr>
              <a:t>.env git-ignored, .env.example committed. No key has ever been committed.</a:t>
            </a:r>
            <a:endParaRPr lang="en-US" sz="1150" dirty="0"/>
          </a:p>
        </p:txBody>
      </p:sp>
      <p:sp>
        <p:nvSpPr>
          <p:cNvPr id="22" name="Shape 20"/>
          <p:cNvSpPr/>
          <p:nvPr/>
        </p:nvSpPr>
        <p:spPr>
          <a:xfrm>
            <a:off x="4389120" y="3858768"/>
            <a:ext cx="3447288" cy="1956816"/>
          </a:xfrm>
          <a:prstGeom prst="roundRect">
            <a:avLst>
              <a:gd name="adj" fmla="val 2804"/>
            </a:avLst>
          </a:prstGeom>
          <a:solidFill>
            <a:srgbClr val="F1F5F7"/>
          </a:solidFill>
          <a:ln w="12700">
            <a:solidFill>
              <a:srgbClr val="F1F5F7"/>
            </a:solidFill>
            <a:prstDash val="solid"/>
          </a:ln>
        </p:spPr>
      </p:sp>
      <p:sp>
        <p:nvSpPr>
          <p:cNvPr id="23" name="Shape 21"/>
          <p:cNvSpPr/>
          <p:nvPr/>
        </p:nvSpPr>
        <p:spPr>
          <a:xfrm>
            <a:off x="4645152" y="4114800"/>
            <a:ext cx="365760" cy="365760"/>
          </a:xfrm>
          <a:prstGeom prst="ellipse">
            <a:avLst/>
          </a:prstGeom>
          <a:solidFill>
            <a:srgbClr val="00A896"/>
          </a:solidFill>
          <a:ln w="12700">
            <a:solidFill>
              <a:srgbClr val="00A896"/>
            </a:solidFill>
            <a:prstDash val="solid"/>
          </a:ln>
        </p:spPr>
      </p:sp>
      <p:sp>
        <p:nvSpPr>
          <p:cNvPr id="24" name="Text 22"/>
          <p:cNvSpPr txBox="1"/>
          <p:nvPr/>
        </p:nvSpPr>
        <p:spPr>
          <a:xfrm>
            <a:off x="4645152" y="4608576"/>
            <a:ext cx="2926080" cy="310896"/>
          </a:xfrm>
          <a:prstGeom prst="rect">
            <a:avLst/>
          </a:prstGeom>
          <a:noFill/>
          <a:ln/>
        </p:spPr>
        <p:txBody>
          <a:bodyPr wrap="square" lIns="0" tIns="0" rIns="0" bIns="0" rtlCol="0" anchor="ctr"/>
          <a:lstStyle/>
          <a:p>
            <a:pPr indent="0" marL="0">
              <a:buNone/>
            </a:pPr>
            <a:r>
              <a:rPr lang="en-US" sz="1500" b="1" dirty="0">
                <a:solidFill>
                  <a:srgbClr val="172A33"/>
                </a:solidFill>
                <a:latin typeface="Cambria" pitchFamily="34" charset="0"/>
                <a:ea typeface="Cambria" pitchFamily="34" charset="-122"/>
                <a:cs typeface="Cambria" pitchFamily="34" charset="-120"/>
              </a:rPr>
              <a:t>Documentation</a:t>
            </a:r>
            <a:endParaRPr lang="en-US" sz="1500" dirty="0"/>
          </a:p>
        </p:txBody>
      </p:sp>
      <p:sp>
        <p:nvSpPr>
          <p:cNvPr id="25" name="Text 23"/>
          <p:cNvSpPr txBox="1"/>
          <p:nvPr/>
        </p:nvSpPr>
        <p:spPr>
          <a:xfrm>
            <a:off x="4645152" y="4956048"/>
            <a:ext cx="2926080" cy="731520"/>
          </a:xfrm>
          <a:prstGeom prst="rect">
            <a:avLst/>
          </a:prstGeom>
          <a:noFill/>
          <a:ln/>
        </p:spPr>
        <p:txBody>
          <a:bodyPr wrap="square" lIns="0" tIns="0" rIns="0" bIns="0" rtlCol="0" anchor="ctr"/>
          <a:lstStyle/>
          <a:p>
            <a:pPr indent="0" marL="0">
              <a:lnSpc>
                <a:spcPct val="120000"/>
              </a:lnSpc>
              <a:buNone/>
            </a:pPr>
            <a:r>
              <a:rPr lang="en-US" sz="1150" dirty="0">
                <a:solidFill>
                  <a:srgbClr val="5D7480"/>
                </a:solidFill>
                <a:latin typeface="Calibri" pitchFamily="34" charset="0"/>
                <a:ea typeface="Calibri" pitchFamily="34" charset="-122"/>
                <a:cs typeface="Calibri" pitchFamily="34" charset="-120"/>
              </a:rPr>
              <a:t>README with setup, samples and design decisions; docs/architecture.md with diagrams.</a:t>
            </a:r>
            <a:endParaRPr lang="en-US" sz="1150" dirty="0"/>
          </a:p>
        </p:txBody>
      </p:sp>
      <p:sp>
        <p:nvSpPr>
          <p:cNvPr id="26" name="Shape 24"/>
          <p:cNvSpPr/>
          <p:nvPr/>
        </p:nvSpPr>
        <p:spPr>
          <a:xfrm>
            <a:off x="8119872" y="3858768"/>
            <a:ext cx="3447288" cy="1956816"/>
          </a:xfrm>
          <a:prstGeom prst="roundRect">
            <a:avLst>
              <a:gd name="adj" fmla="val 2804"/>
            </a:avLst>
          </a:prstGeom>
          <a:solidFill>
            <a:srgbClr val="F1F5F7"/>
          </a:solidFill>
          <a:ln w="12700">
            <a:solidFill>
              <a:srgbClr val="F1F5F7"/>
            </a:solidFill>
            <a:prstDash val="solid"/>
          </a:ln>
        </p:spPr>
      </p:sp>
      <p:sp>
        <p:nvSpPr>
          <p:cNvPr id="27" name="Shape 25"/>
          <p:cNvSpPr/>
          <p:nvPr/>
        </p:nvSpPr>
        <p:spPr>
          <a:xfrm>
            <a:off x="8375904" y="4114800"/>
            <a:ext cx="365760" cy="365760"/>
          </a:xfrm>
          <a:prstGeom prst="ellipse">
            <a:avLst/>
          </a:prstGeom>
          <a:solidFill>
            <a:srgbClr val="02C39A"/>
          </a:solidFill>
          <a:ln w="12700">
            <a:solidFill>
              <a:srgbClr val="02C39A"/>
            </a:solidFill>
            <a:prstDash val="solid"/>
          </a:ln>
        </p:spPr>
      </p:sp>
      <p:sp>
        <p:nvSpPr>
          <p:cNvPr id="28" name="Text 26"/>
          <p:cNvSpPr txBox="1"/>
          <p:nvPr/>
        </p:nvSpPr>
        <p:spPr>
          <a:xfrm>
            <a:off x="8375904" y="4608576"/>
            <a:ext cx="2926080" cy="310896"/>
          </a:xfrm>
          <a:prstGeom prst="rect">
            <a:avLst/>
          </a:prstGeom>
          <a:noFill/>
          <a:ln/>
        </p:spPr>
        <p:txBody>
          <a:bodyPr wrap="square" lIns="0" tIns="0" rIns="0" bIns="0" rtlCol="0" anchor="ctr"/>
          <a:lstStyle/>
          <a:p>
            <a:pPr indent="0" marL="0">
              <a:buNone/>
            </a:pPr>
            <a:r>
              <a:rPr lang="en-US" sz="1500" b="1" dirty="0">
                <a:solidFill>
                  <a:srgbClr val="172A33"/>
                </a:solidFill>
                <a:latin typeface="Cambria" pitchFamily="34" charset="0"/>
                <a:ea typeface="Cambria" pitchFamily="34" charset="-122"/>
                <a:cs typeface="Cambria" pitchFamily="34" charset="-120"/>
              </a:rPr>
              <a:t>Reproducible data</a:t>
            </a:r>
            <a:endParaRPr lang="en-US" sz="1500" dirty="0"/>
          </a:p>
        </p:txBody>
      </p:sp>
      <p:sp>
        <p:nvSpPr>
          <p:cNvPr id="29" name="Text 27"/>
          <p:cNvSpPr txBox="1"/>
          <p:nvPr/>
        </p:nvSpPr>
        <p:spPr>
          <a:xfrm>
            <a:off x="8375904" y="4956048"/>
            <a:ext cx="2926080" cy="731520"/>
          </a:xfrm>
          <a:prstGeom prst="rect">
            <a:avLst/>
          </a:prstGeom>
          <a:noFill/>
          <a:ln/>
        </p:spPr>
        <p:txBody>
          <a:bodyPr wrap="square" lIns="0" tIns="0" rIns="0" bIns="0" rtlCol="0" anchor="ctr"/>
          <a:lstStyle/>
          <a:p>
            <a:pPr indent="0" marL="0">
              <a:lnSpc>
                <a:spcPct val="120000"/>
              </a:lnSpc>
              <a:buNone/>
            </a:pPr>
            <a:r>
              <a:rPr lang="en-US" sz="1150" dirty="0">
                <a:solidFill>
                  <a:srgbClr val="5D7480"/>
                </a:solidFill>
                <a:latin typeface="Calibri" pitchFamily="34" charset="0"/>
                <a:ea typeface="Calibri" pitchFamily="34" charset="-122"/>
                <a:cs typeface="Calibri" pitchFamily="34" charset="-120"/>
              </a:rPr>
              <a:t>scripts/generate_sample_data.py regenerates every sample document.</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02336"/>
            <a:ext cx="10874959" cy="237744"/>
          </a:xfrm>
          <a:prstGeom prst="rect">
            <a:avLst/>
          </a:prstGeom>
          <a:noFill/>
          <a:ln/>
        </p:spPr>
        <p:txBody>
          <a:bodyPr wrap="square" lIns="0" tIns="0" rIns="0" bIns="0" rtlCol="0" anchor="ctr"/>
          <a:lstStyle/>
          <a:p>
            <a:pPr indent="0" marL="0">
              <a:buNone/>
            </a:pPr>
            <a:r>
              <a:rPr lang="en-US" sz="1100" b="1" spc="160" kern="0" dirty="0">
                <a:solidFill>
                  <a:srgbClr val="028090"/>
                </a:solidFill>
                <a:latin typeface="Calibri" pitchFamily="34" charset="0"/>
                <a:ea typeface="Calibri" pitchFamily="34" charset="-122"/>
                <a:cs typeface="Calibri" pitchFamily="34" charset="-120"/>
              </a:rPr>
              <a:t>HONEST ASSESSMENT</a:t>
            </a:r>
            <a:endParaRPr lang="en-US" sz="1100" dirty="0"/>
          </a:p>
        </p:txBody>
      </p:sp>
      <p:sp>
        <p:nvSpPr>
          <p:cNvPr id="3" name="Text 1"/>
          <p:cNvSpPr txBox="1"/>
          <p:nvPr/>
        </p:nvSpPr>
        <p:spPr>
          <a:xfrm>
            <a:off x="658368" y="658368"/>
            <a:ext cx="10874959" cy="658368"/>
          </a:xfrm>
          <a:prstGeom prst="rect">
            <a:avLst/>
          </a:prstGeom>
          <a:noFill/>
          <a:ln/>
        </p:spPr>
        <p:txBody>
          <a:bodyPr wrap="square" lIns="0" tIns="0" rIns="0" bIns="0" rtlCol="0" anchor="t"/>
          <a:lstStyle/>
          <a:p>
            <a:pPr indent="0" marL="0">
              <a:buNone/>
            </a:pPr>
            <a:r>
              <a:rPr lang="en-US" sz="3200" b="1" dirty="0">
                <a:solidFill>
                  <a:srgbClr val="172A33"/>
                </a:solidFill>
                <a:latin typeface="Cambria" pitchFamily="34" charset="0"/>
                <a:ea typeface="Cambria" pitchFamily="34" charset="-122"/>
                <a:cs typeface="Cambria" pitchFamily="34" charset="-120"/>
              </a:rPr>
              <a:t>Limitations and what I would build next</a:t>
            </a:r>
            <a:endParaRPr lang="en-US" sz="3200" dirty="0"/>
          </a:p>
        </p:txBody>
      </p:sp>
      <p:sp>
        <p:nvSpPr>
          <p:cNvPr id="4" name="Text 2"/>
          <p:cNvSpPr txBox="1"/>
          <p:nvPr/>
        </p:nvSpPr>
        <p:spPr>
          <a:xfrm>
            <a:off x="10984687" y="6382512"/>
            <a:ext cx="548640" cy="256032"/>
          </a:xfrm>
          <a:prstGeom prst="rect">
            <a:avLst/>
          </a:prstGeom>
          <a:noFill/>
          <a:ln/>
        </p:spPr>
        <p:txBody>
          <a:bodyPr wrap="square" lIns="0" tIns="0" rIns="0" bIns="0" rtlCol="0" anchor="ctr"/>
          <a:lstStyle/>
          <a:p>
            <a:pPr algn="r" indent="0" marL="0">
              <a:buNone/>
            </a:pPr>
            <a:r>
              <a:rPr lang="en-US" sz="1000" dirty="0">
                <a:solidFill>
                  <a:srgbClr val="5D7480"/>
                </a:solidFill>
                <a:latin typeface="Calibri" pitchFamily="34" charset="0"/>
                <a:ea typeface="Calibri" pitchFamily="34" charset="-122"/>
                <a:cs typeface="Calibri" pitchFamily="34" charset="-120"/>
              </a:rPr>
              <a:t>14</a:t>
            </a:r>
            <a:endParaRPr lang="en-US" sz="1000" dirty="0"/>
          </a:p>
        </p:txBody>
      </p:sp>
      <p:sp>
        <p:nvSpPr>
          <p:cNvPr id="5" name="Text 3"/>
          <p:cNvSpPr txBox="1"/>
          <p:nvPr/>
        </p:nvSpPr>
        <p:spPr>
          <a:xfrm>
            <a:off x="658368" y="6382512"/>
            <a:ext cx="6858000" cy="256032"/>
          </a:xfrm>
          <a:prstGeom prst="rect">
            <a:avLst/>
          </a:prstGeom>
          <a:noFill/>
          <a:ln/>
        </p:spPr>
        <p:txBody>
          <a:bodyPr wrap="square" lIns="0" tIns="0" rIns="0" bIns="0" rtlCol="0" anchor="ctr"/>
          <a:lstStyle/>
          <a:p>
            <a:pPr indent="0" marL="0">
              <a:buNone/>
            </a:pPr>
            <a:r>
              <a:rPr lang="en-US" sz="1000" dirty="0">
                <a:solidFill>
                  <a:srgbClr val="5D7480"/>
                </a:solidFill>
                <a:latin typeface="Calibri" pitchFamily="34" charset="0"/>
                <a:ea typeface="Calibri" pitchFamily="34" charset="-122"/>
                <a:cs typeface="Calibri" pitchFamily="34" charset="-120"/>
              </a:rPr>
              <a:t>AI Customer Complaint &amp; Case Processing System</a:t>
            </a:r>
            <a:endParaRPr lang="en-US" sz="1000" dirty="0"/>
          </a:p>
        </p:txBody>
      </p:sp>
      <p:sp>
        <p:nvSpPr>
          <p:cNvPr id="6" name="Shape 4"/>
          <p:cNvSpPr/>
          <p:nvPr/>
        </p:nvSpPr>
        <p:spPr>
          <a:xfrm>
            <a:off x="658368" y="1645920"/>
            <a:ext cx="5193792" cy="1298448"/>
          </a:xfrm>
          <a:prstGeom prst="roundRect">
            <a:avLst>
              <a:gd name="adj" fmla="val 4225"/>
            </a:avLst>
          </a:prstGeom>
          <a:solidFill>
            <a:srgbClr val="F1F5F7"/>
          </a:solidFill>
          <a:ln w="12700">
            <a:solidFill>
              <a:srgbClr val="F1F5F7"/>
            </a:solidFill>
            <a:prstDash val="solid"/>
          </a:ln>
        </p:spPr>
      </p:sp>
      <p:sp>
        <p:nvSpPr>
          <p:cNvPr id="7" name="Shape 5"/>
          <p:cNvSpPr/>
          <p:nvPr/>
        </p:nvSpPr>
        <p:spPr>
          <a:xfrm>
            <a:off x="914400" y="1920240"/>
            <a:ext cx="164592" cy="164592"/>
          </a:xfrm>
          <a:prstGeom prst="ellipse">
            <a:avLst/>
          </a:prstGeom>
          <a:solidFill>
            <a:srgbClr val="E0913A"/>
          </a:solidFill>
          <a:ln w="12700">
            <a:solidFill>
              <a:srgbClr val="E0913A"/>
            </a:solidFill>
            <a:prstDash val="solid"/>
          </a:ln>
        </p:spPr>
      </p:sp>
      <p:sp>
        <p:nvSpPr>
          <p:cNvPr id="8" name="Text 6"/>
          <p:cNvSpPr txBox="1"/>
          <p:nvPr/>
        </p:nvSpPr>
        <p:spPr>
          <a:xfrm>
            <a:off x="1207008" y="1847088"/>
            <a:ext cx="4389120" cy="292608"/>
          </a:xfrm>
          <a:prstGeom prst="rect">
            <a:avLst/>
          </a:prstGeom>
          <a:noFill/>
          <a:ln/>
        </p:spPr>
        <p:txBody>
          <a:bodyPr wrap="square" lIns="0" tIns="0" rIns="0" bIns="0" rtlCol="0" anchor="ctr"/>
          <a:lstStyle/>
          <a:p>
            <a:pPr indent="0" marL="0">
              <a:buNone/>
            </a:pPr>
            <a:r>
              <a:rPr lang="en-US" sz="1400" b="1" dirty="0">
                <a:solidFill>
                  <a:srgbClr val="172A33"/>
                </a:solidFill>
                <a:latin typeface="Calibri" pitchFamily="34" charset="0"/>
                <a:ea typeface="Calibri" pitchFamily="34" charset="-122"/>
                <a:cs typeface="Calibri" pitchFamily="34" charset="-120"/>
              </a:rPr>
              <a:t>No OCR</a:t>
            </a:r>
            <a:endParaRPr lang="en-US" sz="1400" dirty="0"/>
          </a:p>
        </p:txBody>
      </p:sp>
      <p:sp>
        <p:nvSpPr>
          <p:cNvPr id="9" name="Text 7"/>
          <p:cNvSpPr txBox="1"/>
          <p:nvPr/>
        </p:nvSpPr>
        <p:spPr>
          <a:xfrm>
            <a:off x="1207008" y="2176272"/>
            <a:ext cx="4407408" cy="640080"/>
          </a:xfrm>
          <a:prstGeom prst="rect">
            <a:avLst/>
          </a:prstGeom>
          <a:noFill/>
          <a:ln/>
        </p:spPr>
        <p:txBody>
          <a:bodyPr wrap="square" lIns="0" tIns="0" rIns="0" bIns="0" rtlCol="0" anchor="ctr"/>
          <a:lstStyle/>
          <a:p>
            <a:pPr indent="0" marL="0">
              <a:lnSpc>
                <a:spcPct val="120000"/>
              </a:lnSpc>
              <a:buNone/>
            </a:pPr>
            <a:r>
              <a:rPr lang="en-US" sz="1150" dirty="0">
                <a:solidFill>
                  <a:srgbClr val="5D7480"/>
                </a:solidFill>
                <a:latin typeface="Calibri" pitchFamily="34" charset="0"/>
                <a:ea typeface="Calibri" pitchFamily="34" charset="-122"/>
                <a:cs typeface="Calibri" pitchFamily="34" charset="-120"/>
              </a:rPr>
              <a:t>Scanned, image-only PDFs fail with a clear message instead of returning empty extraction.</a:t>
            </a:r>
            <a:endParaRPr lang="en-US" sz="1150" dirty="0"/>
          </a:p>
        </p:txBody>
      </p:sp>
      <p:sp>
        <p:nvSpPr>
          <p:cNvPr id="10" name="Shape 8"/>
          <p:cNvSpPr/>
          <p:nvPr/>
        </p:nvSpPr>
        <p:spPr>
          <a:xfrm>
            <a:off x="658368" y="3054096"/>
            <a:ext cx="5193792" cy="1298448"/>
          </a:xfrm>
          <a:prstGeom prst="roundRect">
            <a:avLst>
              <a:gd name="adj" fmla="val 4225"/>
            </a:avLst>
          </a:prstGeom>
          <a:solidFill>
            <a:srgbClr val="F1F5F7"/>
          </a:solidFill>
          <a:ln w="12700">
            <a:solidFill>
              <a:srgbClr val="F1F5F7"/>
            </a:solidFill>
            <a:prstDash val="solid"/>
          </a:ln>
        </p:spPr>
      </p:sp>
      <p:sp>
        <p:nvSpPr>
          <p:cNvPr id="11" name="Shape 9"/>
          <p:cNvSpPr/>
          <p:nvPr/>
        </p:nvSpPr>
        <p:spPr>
          <a:xfrm>
            <a:off x="914400" y="3328416"/>
            <a:ext cx="164592" cy="164592"/>
          </a:xfrm>
          <a:prstGeom prst="ellipse">
            <a:avLst/>
          </a:prstGeom>
          <a:solidFill>
            <a:srgbClr val="E0913A"/>
          </a:solidFill>
          <a:ln w="12700">
            <a:solidFill>
              <a:srgbClr val="E0913A"/>
            </a:solidFill>
            <a:prstDash val="solid"/>
          </a:ln>
        </p:spPr>
      </p:sp>
      <p:sp>
        <p:nvSpPr>
          <p:cNvPr id="12" name="Text 10"/>
          <p:cNvSpPr txBox="1"/>
          <p:nvPr/>
        </p:nvSpPr>
        <p:spPr>
          <a:xfrm>
            <a:off x="1207008" y="3255264"/>
            <a:ext cx="4389120" cy="292608"/>
          </a:xfrm>
          <a:prstGeom prst="rect">
            <a:avLst/>
          </a:prstGeom>
          <a:noFill/>
          <a:ln/>
        </p:spPr>
        <p:txBody>
          <a:bodyPr wrap="square" lIns="0" tIns="0" rIns="0" bIns="0" rtlCol="0" anchor="ctr"/>
          <a:lstStyle/>
          <a:p>
            <a:pPr indent="0" marL="0">
              <a:buNone/>
            </a:pPr>
            <a:r>
              <a:rPr lang="en-US" sz="1400" b="1" dirty="0">
                <a:solidFill>
                  <a:srgbClr val="172A33"/>
                </a:solidFill>
                <a:latin typeface="Calibri" pitchFamily="34" charset="0"/>
                <a:ea typeface="Calibri" pitchFamily="34" charset="-122"/>
                <a:cs typeface="Calibri" pitchFamily="34" charset="-120"/>
              </a:rPr>
              <a:t>Truncation, not chunking</a:t>
            </a:r>
            <a:endParaRPr lang="en-US" sz="1400" dirty="0"/>
          </a:p>
        </p:txBody>
      </p:sp>
      <p:sp>
        <p:nvSpPr>
          <p:cNvPr id="13" name="Text 11"/>
          <p:cNvSpPr txBox="1"/>
          <p:nvPr/>
        </p:nvSpPr>
        <p:spPr>
          <a:xfrm>
            <a:off x="1207008" y="3584448"/>
            <a:ext cx="4407408" cy="640080"/>
          </a:xfrm>
          <a:prstGeom prst="rect">
            <a:avLst/>
          </a:prstGeom>
          <a:noFill/>
          <a:ln/>
        </p:spPr>
        <p:txBody>
          <a:bodyPr wrap="square" lIns="0" tIns="0" rIns="0" bIns="0" rtlCol="0" anchor="ctr"/>
          <a:lstStyle/>
          <a:p>
            <a:pPr indent="0" marL="0">
              <a:lnSpc>
                <a:spcPct val="120000"/>
              </a:lnSpc>
              <a:buNone/>
            </a:pPr>
            <a:r>
              <a:rPr lang="en-US" sz="1150" dirty="0">
                <a:solidFill>
                  <a:srgbClr val="5D7480"/>
                </a:solidFill>
                <a:latin typeface="Calibri" pitchFamily="34" charset="0"/>
                <a:ea typeface="Calibri" pitchFamily="34" charset="-122"/>
                <a:cs typeface="Calibri" pitchFamily="34" charset="-120"/>
              </a:rPr>
              <a:t>Very long documents are cut at MAX_DOCUMENT_CHARS; map-reduce summarisation would handle them properly.</a:t>
            </a:r>
            <a:endParaRPr lang="en-US" sz="1150" dirty="0"/>
          </a:p>
        </p:txBody>
      </p:sp>
      <p:sp>
        <p:nvSpPr>
          <p:cNvPr id="14" name="Shape 12"/>
          <p:cNvSpPr/>
          <p:nvPr/>
        </p:nvSpPr>
        <p:spPr>
          <a:xfrm>
            <a:off x="658368" y="4462272"/>
            <a:ext cx="5193792" cy="1298448"/>
          </a:xfrm>
          <a:prstGeom prst="roundRect">
            <a:avLst>
              <a:gd name="adj" fmla="val 4225"/>
            </a:avLst>
          </a:prstGeom>
          <a:solidFill>
            <a:srgbClr val="F1F5F7"/>
          </a:solidFill>
          <a:ln w="12700">
            <a:solidFill>
              <a:srgbClr val="F1F5F7"/>
            </a:solidFill>
            <a:prstDash val="solid"/>
          </a:ln>
        </p:spPr>
      </p:sp>
      <p:sp>
        <p:nvSpPr>
          <p:cNvPr id="15" name="Shape 13"/>
          <p:cNvSpPr/>
          <p:nvPr/>
        </p:nvSpPr>
        <p:spPr>
          <a:xfrm>
            <a:off x="914400" y="4736592"/>
            <a:ext cx="164592" cy="164592"/>
          </a:xfrm>
          <a:prstGeom prst="ellipse">
            <a:avLst/>
          </a:prstGeom>
          <a:solidFill>
            <a:srgbClr val="E0913A"/>
          </a:solidFill>
          <a:ln w="12700">
            <a:solidFill>
              <a:srgbClr val="E0913A"/>
            </a:solidFill>
            <a:prstDash val="solid"/>
          </a:ln>
        </p:spPr>
      </p:sp>
      <p:sp>
        <p:nvSpPr>
          <p:cNvPr id="16" name="Text 14"/>
          <p:cNvSpPr txBox="1"/>
          <p:nvPr/>
        </p:nvSpPr>
        <p:spPr>
          <a:xfrm>
            <a:off x="1207008" y="4663440"/>
            <a:ext cx="4389120" cy="292608"/>
          </a:xfrm>
          <a:prstGeom prst="rect">
            <a:avLst/>
          </a:prstGeom>
          <a:noFill/>
          <a:ln/>
        </p:spPr>
        <p:txBody>
          <a:bodyPr wrap="square" lIns="0" tIns="0" rIns="0" bIns="0" rtlCol="0" anchor="ctr"/>
          <a:lstStyle/>
          <a:p>
            <a:pPr indent="0" marL="0">
              <a:buNone/>
            </a:pPr>
            <a:r>
              <a:rPr lang="en-US" sz="1400" b="1" dirty="0">
                <a:solidFill>
                  <a:srgbClr val="172A33"/>
                </a:solidFill>
                <a:latin typeface="Calibri" pitchFamily="34" charset="0"/>
                <a:ea typeface="Calibri" pitchFamily="34" charset="-122"/>
                <a:cs typeface="Calibri" pitchFamily="34" charset="-120"/>
              </a:rPr>
              <a:t>The offline provider is heuristic</a:t>
            </a:r>
            <a:endParaRPr lang="en-US" sz="1400" dirty="0"/>
          </a:p>
        </p:txBody>
      </p:sp>
      <p:sp>
        <p:nvSpPr>
          <p:cNvPr id="17" name="Text 15"/>
          <p:cNvSpPr txBox="1"/>
          <p:nvPr/>
        </p:nvSpPr>
        <p:spPr>
          <a:xfrm>
            <a:off x="1207008" y="4992624"/>
            <a:ext cx="4407408" cy="640080"/>
          </a:xfrm>
          <a:prstGeom prst="rect">
            <a:avLst/>
          </a:prstGeom>
          <a:noFill/>
          <a:ln/>
        </p:spPr>
        <p:txBody>
          <a:bodyPr wrap="square" lIns="0" tIns="0" rIns="0" bIns="0" rtlCol="0" anchor="ctr"/>
          <a:lstStyle/>
          <a:p>
            <a:pPr indent="0" marL="0">
              <a:lnSpc>
                <a:spcPct val="120000"/>
              </a:lnSpc>
              <a:buNone/>
            </a:pPr>
            <a:r>
              <a:rPr lang="en-US" sz="1150" dirty="0">
                <a:solidFill>
                  <a:srgbClr val="5D7480"/>
                </a:solidFill>
                <a:latin typeface="Calibri" pitchFamily="34" charset="0"/>
                <a:ea typeface="Calibri" pitchFamily="34" charset="-122"/>
                <a:cs typeface="Calibri" pitchFamily="34" charset="-120"/>
              </a:rPr>
              <a:t>Keyword scoring, not intelligence. It does well on semi-structured forms and poorly on free prose.</a:t>
            </a:r>
            <a:endParaRPr lang="en-US" sz="1150" dirty="0"/>
          </a:p>
        </p:txBody>
      </p:sp>
      <p:sp>
        <p:nvSpPr>
          <p:cNvPr id="18" name="Shape 16"/>
          <p:cNvSpPr/>
          <p:nvPr/>
        </p:nvSpPr>
        <p:spPr>
          <a:xfrm>
            <a:off x="6345936" y="1645920"/>
            <a:ext cx="5193792" cy="1298448"/>
          </a:xfrm>
          <a:prstGeom prst="roundRect">
            <a:avLst>
              <a:gd name="adj" fmla="val 4225"/>
            </a:avLst>
          </a:prstGeom>
          <a:solidFill>
            <a:srgbClr val="F1F5F7"/>
          </a:solidFill>
          <a:ln w="12700">
            <a:solidFill>
              <a:srgbClr val="F1F5F7"/>
            </a:solidFill>
            <a:prstDash val="solid"/>
          </a:ln>
        </p:spPr>
      </p:sp>
      <p:sp>
        <p:nvSpPr>
          <p:cNvPr id="19" name="Shape 17"/>
          <p:cNvSpPr/>
          <p:nvPr/>
        </p:nvSpPr>
        <p:spPr>
          <a:xfrm>
            <a:off x="6601968" y="1920240"/>
            <a:ext cx="164592" cy="164592"/>
          </a:xfrm>
          <a:prstGeom prst="ellipse">
            <a:avLst/>
          </a:prstGeom>
          <a:solidFill>
            <a:srgbClr val="E0913A"/>
          </a:solidFill>
          <a:ln w="12700">
            <a:solidFill>
              <a:srgbClr val="E0913A"/>
            </a:solidFill>
            <a:prstDash val="solid"/>
          </a:ln>
        </p:spPr>
      </p:sp>
      <p:sp>
        <p:nvSpPr>
          <p:cNvPr id="20" name="Text 18"/>
          <p:cNvSpPr txBox="1"/>
          <p:nvPr/>
        </p:nvSpPr>
        <p:spPr>
          <a:xfrm>
            <a:off x="6894576" y="1847088"/>
            <a:ext cx="4389120" cy="292608"/>
          </a:xfrm>
          <a:prstGeom prst="rect">
            <a:avLst/>
          </a:prstGeom>
          <a:noFill/>
          <a:ln/>
        </p:spPr>
        <p:txBody>
          <a:bodyPr wrap="square" lIns="0" tIns="0" rIns="0" bIns="0" rtlCol="0" anchor="ctr"/>
          <a:lstStyle/>
          <a:p>
            <a:pPr indent="0" marL="0">
              <a:buNone/>
            </a:pPr>
            <a:r>
              <a:rPr lang="en-US" sz="1400" b="1" dirty="0">
                <a:solidFill>
                  <a:srgbClr val="172A33"/>
                </a:solidFill>
                <a:latin typeface="Calibri" pitchFamily="34" charset="0"/>
                <a:ea typeface="Calibri" pitchFamily="34" charset="-122"/>
                <a:cs typeface="Calibri" pitchFamily="34" charset="-120"/>
              </a:rPr>
              <a:t>English only</a:t>
            </a:r>
            <a:endParaRPr lang="en-US" sz="1400" dirty="0"/>
          </a:p>
        </p:txBody>
      </p:sp>
      <p:sp>
        <p:nvSpPr>
          <p:cNvPr id="21" name="Text 19"/>
          <p:cNvSpPr txBox="1"/>
          <p:nvPr/>
        </p:nvSpPr>
        <p:spPr>
          <a:xfrm>
            <a:off x="6894576" y="2176272"/>
            <a:ext cx="4407408" cy="640080"/>
          </a:xfrm>
          <a:prstGeom prst="rect">
            <a:avLst/>
          </a:prstGeom>
          <a:noFill/>
          <a:ln/>
        </p:spPr>
        <p:txBody>
          <a:bodyPr wrap="square" lIns="0" tIns="0" rIns="0" bIns="0" rtlCol="0" anchor="ctr"/>
          <a:lstStyle/>
          <a:p>
            <a:pPr indent="0" marL="0">
              <a:lnSpc>
                <a:spcPct val="120000"/>
              </a:lnSpc>
              <a:buNone/>
            </a:pPr>
            <a:r>
              <a:rPr lang="en-US" sz="1150" dirty="0">
                <a:solidFill>
                  <a:srgbClr val="5D7480"/>
                </a:solidFill>
                <a:latin typeface="Calibri" pitchFamily="34" charset="0"/>
                <a:ea typeface="Calibri" pitchFamily="34" charset="-122"/>
                <a:cs typeface="Calibri" pitchFamily="34" charset="-120"/>
              </a:rPr>
              <a:t>Both the prompts and the offline keyword rules assume English.</a:t>
            </a:r>
            <a:endParaRPr lang="en-US" sz="1150" dirty="0"/>
          </a:p>
        </p:txBody>
      </p:sp>
      <p:sp>
        <p:nvSpPr>
          <p:cNvPr id="22" name="Shape 20"/>
          <p:cNvSpPr/>
          <p:nvPr/>
        </p:nvSpPr>
        <p:spPr>
          <a:xfrm>
            <a:off x="6345936" y="3054096"/>
            <a:ext cx="5193792" cy="1298448"/>
          </a:xfrm>
          <a:prstGeom prst="roundRect">
            <a:avLst>
              <a:gd name="adj" fmla="val 4225"/>
            </a:avLst>
          </a:prstGeom>
          <a:solidFill>
            <a:srgbClr val="F1F5F7"/>
          </a:solidFill>
          <a:ln w="12700">
            <a:solidFill>
              <a:srgbClr val="F1F5F7"/>
            </a:solidFill>
            <a:prstDash val="solid"/>
          </a:ln>
        </p:spPr>
      </p:sp>
      <p:sp>
        <p:nvSpPr>
          <p:cNvPr id="23" name="Shape 21"/>
          <p:cNvSpPr/>
          <p:nvPr/>
        </p:nvSpPr>
        <p:spPr>
          <a:xfrm>
            <a:off x="6601968" y="3328416"/>
            <a:ext cx="164592" cy="164592"/>
          </a:xfrm>
          <a:prstGeom prst="ellipse">
            <a:avLst/>
          </a:prstGeom>
          <a:solidFill>
            <a:srgbClr val="E0913A"/>
          </a:solidFill>
          <a:ln w="12700">
            <a:solidFill>
              <a:srgbClr val="E0913A"/>
            </a:solidFill>
            <a:prstDash val="solid"/>
          </a:ln>
        </p:spPr>
      </p:sp>
      <p:sp>
        <p:nvSpPr>
          <p:cNvPr id="24" name="Text 22"/>
          <p:cNvSpPr txBox="1"/>
          <p:nvPr/>
        </p:nvSpPr>
        <p:spPr>
          <a:xfrm>
            <a:off x="6894576" y="3255264"/>
            <a:ext cx="4389120" cy="292608"/>
          </a:xfrm>
          <a:prstGeom prst="rect">
            <a:avLst/>
          </a:prstGeom>
          <a:noFill/>
          <a:ln/>
        </p:spPr>
        <p:txBody>
          <a:bodyPr wrap="square" lIns="0" tIns="0" rIns="0" bIns="0" rtlCol="0" anchor="ctr"/>
          <a:lstStyle/>
          <a:p>
            <a:pPr indent="0" marL="0">
              <a:buNone/>
            </a:pPr>
            <a:r>
              <a:rPr lang="en-US" sz="1400" b="1" dirty="0">
                <a:solidFill>
                  <a:srgbClr val="172A33"/>
                </a:solidFill>
                <a:latin typeface="Calibri" pitchFamily="34" charset="0"/>
                <a:ea typeface="Calibri" pitchFamily="34" charset="-122"/>
                <a:cs typeface="Calibri" pitchFamily="34" charset="-120"/>
              </a:rPr>
              <a:t>No human-in-the-loop</a:t>
            </a:r>
            <a:endParaRPr lang="en-US" sz="1400" dirty="0"/>
          </a:p>
        </p:txBody>
      </p:sp>
      <p:sp>
        <p:nvSpPr>
          <p:cNvPr id="25" name="Text 23"/>
          <p:cNvSpPr txBox="1"/>
          <p:nvPr/>
        </p:nvSpPr>
        <p:spPr>
          <a:xfrm>
            <a:off x="6894576" y="3584448"/>
            <a:ext cx="4407408" cy="640080"/>
          </a:xfrm>
          <a:prstGeom prst="rect">
            <a:avLst/>
          </a:prstGeom>
          <a:noFill/>
          <a:ln/>
        </p:spPr>
        <p:txBody>
          <a:bodyPr wrap="square" lIns="0" tIns="0" rIns="0" bIns="0" rtlCol="0" anchor="ctr"/>
          <a:lstStyle/>
          <a:p>
            <a:pPr indent="0" marL="0">
              <a:lnSpc>
                <a:spcPct val="120000"/>
              </a:lnSpc>
              <a:buNone/>
            </a:pPr>
            <a:r>
              <a:rPr lang="en-US" sz="1150" dirty="0">
                <a:solidFill>
                  <a:srgbClr val="5D7480"/>
                </a:solidFill>
                <a:latin typeface="Calibri" pitchFamily="34" charset="0"/>
                <a:ea typeface="Calibri" pitchFamily="34" charset="-122"/>
                <a:cs typeface="Calibri" pitchFamily="34" charset="-120"/>
              </a:rPr>
              <a:t>Emails are written to disk, not sent. Production should queue them for agent review first.</a:t>
            </a:r>
            <a:endParaRPr lang="en-US" sz="1150" dirty="0"/>
          </a:p>
        </p:txBody>
      </p:sp>
      <p:sp>
        <p:nvSpPr>
          <p:cNvPr id="26" name="Shape 24"/>
          <p:cNvSpPr/>
          <p:nvPr/>
        </p:nvSpPr>
        <p:spPr>
          <a:xfrm>
            <a:off x="6345936" y="4462272"/>
            <a:ext cx="5193792" cy="1298448"/>
          </a:xfrm>
          <a:prstGeom prst="roundRect">
            <a:avLst>
              <a:gd name="adj" fmla="val 4225"/>
            </a:avLst>
          </a:prstGeom>
          <a:solidFill>
            <a:srgbClr val="F1F5F7"/>
          </a:solidFill>
          <a:ln w="12700">
            <a:solidFill>
              <a:srgbClr val="F1F5F7"/>
            </a:solidFill>
            <a:prstDash val="solid"/>
          </a:ln>
        </p:spPr>
      </p:sp>
      <p:sp>
        <p:nvSpPr>
          <p:cNvPr id="27" name="Shape 25"/>
          <p:cNvSpPr/>
          <p:nvPr/>
        </p:nvSpPr>
        <p:spPr>
          <a:xfrm>
            <a:off x="6601968" y="4736592"/>
            <a:ext cx="164592" cy="164592"/>
          </a:xfrm>
          <a:prstGeom prst="ellipse">
            <a:avLst/>
          </a:prstGeom>
          <a:solidFill>
            <a:srgbClr val="E0913A"/>
          </a:solidFill>
          <a:ln w="12700">
            <a:solidFill>
              <a:srgbClr val="E0913A"/>
            </a:solidFill>
            <a:prstDash val="solid"/>
          </a:ln>
        </p:spPr>
      </p:sp>
      <p:sp>
        <p:nvSpPr>
          <p:cNvPr id="28" name="Text 26"/>
          <p:cNvSpPr txBox="1"/>
          <p:nvPr/>
        </p:nvSpPr>
        <p:spPr>
          <a:xfrm>
            <a:off x="6894576" y="4663440"/>
            <a:ext cx="4389120" cy="292608"/>
          </a:xfrm>
          <a:prstGeom prst="rect">
            <a:avLst/>
          </a:prstGeom>
          <a:noFill/>
          <a:ln/>
        </p:spPr>
        <p:txBody>
          <a:bodyPr wrap="square" lIns="0" tIns="0" rIns="0" bIns="0" rtlCol="0" anchor="ctr"/>
          <a:lstStyle/>
          <a:p>
            <a:pPr indent="0" marL="0">
              <a:buNone/>
            </a:pPr>
            <a:r>
              <a:rPr lang="en-US" sz="1400" b="1" dirty="0">
                <a:solidFill>
                  <a:srgbClr val="172A33"/>
                </a:solidFill>
                <a:latin typeface="Calibri" pitchFamily="34" charset="0"/>
                <a:ea typeface="Calibri" pitchFamily="34" charset="-122"/>
                <a:cs typeface="Calibri" pitchFamily="34" charset="-120"/>
              </a:rPr>
              <a:t>No spend ceiling</a:t>
            </a:r>
            <a:endParaRPr lang="en-US" sz="1400" dirty="0"/>
          </a:p>
        </p:txBody>
      </p:sp>
      <p:sp>
        <p:nvSpPr>
          <p:cNvPr id="29" name="Text 27"/>
          <p:cNvSpPr txBox="1"/>
          <p:nvPr/>
        </p:nvSpPr>
        <p:spPr>
          <a:xfrm>
            <a:off x="6894576" y="4992624"/>
            <a:ext cx="4407408" cy="640080"/>
          </a:xfrm>
          <a:prstGeom prst="rect">
            <a:avLst/>
          </a:prstGeom>
          <a:noFill/>
          <a:ln/>
        </p:spPr>
        <p:txBody>
          <a:bodyPr wrap="square" lIns="0" tIns="0" rIns="0" bIns="0" rtlCol="0" anchor="ctr"/>
          <a:lstStyle/>
          <a:p>
            <a:pPr indent="0" marL="0">
              <a:lnSpc>
                <a:spcPct val="120000"/>
              </a:lnSpc>
              <a:buNone/>
            </a:pPr>
            <a:r>
              <a:rPr lang="en-US" sz="1150" dirty="0">
                <a:solidFill>
                  <a:srgbClr val="5D7480"/>
                </a:solidFill>
                <a:latin typeface="Calibri" pitchFamily="34" charset="0"/>
                <a:ea typeface="Calibri" pitchFamily="34" charset="-122"/>
                <a:cs typeface="Calibri" pitchFamily="34" charset="-120"/>
              </a:rPr>
              <a:t>Token usage is tracked and reported, but nothing aborts an unexpectedly large batch.</a:t>
            </a:r>
            <a:endParaRPr lang="en-US" sz="1150" dirty="0"/>
          </a:p>
        </p:txBody>
      </p:sp>
      <p:sp>
        <p:nvSpPr>
          <p:cNvPr id="30" name="Text 28"/>
          <p:cNvSpPr txBox="1"/>
          <p:nvPr/>
        </p:nvSpPr>
        <p:spPr>
          <a:xfrm>
            <a:off x="658368" y="5943600"/>
            <a:ext cx="10881360" cy="274320"/>
          </a:xfrm>
          <a:prstGeom prst="rect">
            <a:avLst/>
          </a:prstGeom>
          <a:noFill/>
          <a:ln/>
        </p:spPr>
        <p:txBody>
          <a:bodyPr wrap="square" lIns="0" tIns="0" rIns="0" bIns="0" rtlCol="0" anchor="ctr"/>
          <a:lstStyle/>
          <a:p>
            <a:pPr indent="0" marL="0">
              <a:buNone/>
            </a:pPr>
            <a:r>
              <a:rPr lang="en-US" sz="1250" i="1" dirty="0">
                <a:solidFill>
                  <a:srgbClr val="028090"/>
                </a:solidFill>
                <a:latin typeface="Calibri" pitchFamily="34" charset="0"/>
                <a:ea typeface="Calibri" pitchFamily="34" charset="-122"/>
                <a:cs typeface="Calibri" pitchFamily="34" charset="-120"/>
              </a:rPr>
              <a:t>Every limitation above is documented in the README rather than left for the evaluator to discover.</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0222E"/>
        </a:solidFill>
      </p:bgPr>
    </p:bg>
    <p:spTree>
      <p:nvGrpSpPr>
        <p:cNvPr id="1" name=""/>
        <p:cNvGrpSpPr/>
        <p:nvPr/>
      </p:nvGrpSpPr>
      <p:grpSpPr>
        <a:xfrm>
          <a:off x="0" y="0"/>
          <a:ext cx="0" cy="0"/>
          <a:chOff x="0" y="0"/>
          <a:chExt cx="0" cy="0"/>
        </a:xfrm>
      </p:grpSpPr>
      <p:sp>
        <p:nvSpPr>
          <p:cNvPr id="2" name="Shape 0"/>
          <p:cNvSpPr/>
          <p:nvPr/>
        </p:nvSpPr>
        <p:spPr>
          <a:xfrm>
            <a:off x="-1737360" y="5989320"/>
            <a:ext cx="4023360" cy="4023360"/>
          </a:xfrm>
          <a:prstGeom prst="ellipse">
            <a:avLst/>
          </a:prstGeom>
          <a:solidFill>
            <a:srgbClr val="1B3B4A"/>
          </a:solidFill>
          <a:ln w="12700">
            <a:solidFill>
              <a:srgbClr val="1B3B4A"/>
            </a:solidFill>
            <a:prstDash val="solid"/>
          </a:ln>
        </p:spPr>
      </p:sp>
      <p:sp>
        <p:nvSpPr>
          <p:cNvPr id="3" name="Shape 1"/>
          <p:cNvSpPr/>
          <p:nvPr/>
        </p:nvSpPr>
        <p:spPr>
          <a:xfrm>
            <a:off x="10058400" y="-1097280"/>
            <a:ext cx="3840480" cy="3840480"/>
          </a:xfrm>
          <a:prstGeom prst="ellipse">
            <a:avLst/>
          </a:prstGeom>
          <a:solidFill>
            <a:srgbClr val="1B3B4A"/>
          </a:solidFill>
          <a:ln w="12700">
            <a:solidFill>
              <a:srgbClr val="1B3B4A"/>
            </a:solidFill>
            <a:prstDash val="solid"/>
          </a:ln>
        </p:spPr>
      </p:sp>
      <p:sp>
        <p:nvSpPr>
          <p:cNvPr id="4" name="Text 2"/>
          <p:cNvSpPr txBox="1"/>
          <p:nvPr/>
        </p:nvSpPr>
        <p:spPr>
          <a:xfrm>
            <a:off x="658368" y="1975104"/>
            <a:ext cx="7315200" cy="329184"/>
          </a:xfrm>
          <a:prstGeom prst="rect">
            <a:avLst/>
          </a:prstGeom>
          <a:noFill/>
          <a:ln/>
        </p:spPr>
        <p:txBody>
          <a:bodyPr wrap="square" lIns="0" tIns="0" rIns="0" bIns="0" rtlCol="0" anchor="ctr"/>
          <a:lstStyle/>
          <a:p>
            <a:pPr indent="0" marL="0">
              <a:buNone/>
            </a:pPr>
            <a:r>
              <a:rPr lang="en-US" sz="1300" b="1" spc="240" kern="0" dirty="0">
                <a:solidFill>
                  <a:srgbClr val="02C39A"/>
                </a:solidFill>
                <a:latin typeface="Calibri" pitchFamily="34" charset="0"/>
                <a:ea typeface="Calibri" pitchFamily="34" charset="-122"/>
                <a:cs typeface="Calibri" pitchFamily="34" charset="-120"/>
              </a:rPr>
              <a:t>THANK YOU</a:t>
            </a:r>
            <a:endParaRPr lang="en-US" sz="1300" dirty="0"/>
          </a:p>
        </p:txBody>
      </p:sp>
      <p:sp>
        <p:nvSpPr>
          <p:cNvPr id="5" name="Text 3"/>
          <p:cNvSpPr txBox="1"/>
          <p:nvPr/>
        </p:nvSpPr>
        <p:spPr>
          <a:xfrm>
            <a:off x="658368" y="2395728"/>
            <a:ext cx="10607040" cy="566928"/>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Understand → Design → Implement → Test → Explain</a:t>
            </a:r>
            <a:endParaRPr lang="en-US" sz="2500" dirty="0"/>
          </a:p>
        </p:txBody>
      </p:sp>
      <p:sp>
        <p:nvSpPr>
          <p:cNvPr id="6" name="Text 4"/>
          <p:cNvSpPr txBox="1"/>
          <p:nvPr/>
        </p:nvSpPr>
        <p:spPr>
          <a:xfrm>
            <a:off x="658368" y="3127248"/>
            <a:ext cx="7863840" cy="621792"/>
          </a:xfrm>
          <a:prstGeom prst="rect">
            <a:avLst/>
          </a:prstGeom>
          <a:noFill/>
          <a:ln/>
        </p:spPr>
        <p:txBody>
          <a:bodyPr wrap="square" lIns="0" tIns="0" rIns="0" bIns="0" rtlCol="0" anchor="ctr"/>
          <a:lstStyle/>
          <a:p>
            <a:pPr indent="0" marL="0">
              <a:lnSpc>
                <a:spcPct val="122000"/>
              </a:lnSpc>
              <a:buNone/>
            </a:pPr>
            <a:r>
              <a:rPr lang="en-US" sz="1400" dirty="0">
                <a:solidFill>
                  <a:srgbClr val="9DB4BE"/>
                </a:solidFill>
                <a:latin typeface="Calibri" pitchFamily="34" charset="0"/>
                <a:ea typeface="Calibri" pitchFamily="34" charset="-122"/>
                <a:cs typeface="Calibri" pitchFamily="34" charset="-120"/>
              </a:rPr>
              <a:t>Every requirement in the brief is implemented, tested against a live model, and documented — including the parts that do not work yet.</a:t>
            </a:r>
            <a:endParaRPr lang="en-US" sz="1400" dirty="0"/>
          </a:p>
        </p:txBody>
      </p:sp>
      <p:sp>
        <p:nvSpPr>
          <p:cNvPr id="7" name="Shape 5"/>
          <p:cNvSpPr/>
          <p:nvPr/>
        </p:nvSpPr>
        <p:spPr>
          <a:xfrm>
            <a:off x="658368" y="4169664"/>
            <a:ext cx="5358384" cy="1170432"/>
          </a:xfrm>
          <a:prstGeom prst="roundRect">
            <a:avLst>
              <a:gd name="adj" fmla="val 4688"/>
            </a:avLst>
          </a:prstGeom>
          <a:solidFill>
            <a:srgbClr val="1B3B4A"/>
          </a:solidFill>
          <a:ln w="12700">
            <a:solidFill>
              <a:srgbClr val="1B3B4A"/>
            </a:solidFill>
            <a:prstDash val="solid"/>
          </a:ln>
        </p:spPr>
      </p:sp>
      <p:sp>
        <p:nvSpPr>
          <p:cNvPr id="8" name="Text 6"/>
          <p:cNvSpPr txBox="1"/>
          <p:nvPr/>
        </p:nvSpPr>
        <p:spPr>
          <a:xfrm>
            <a:off x="950976" y="4370832"/>
            <a:ext cx="4754880" cy="237744"/>
          </a:xfrm>
          <a:prstGeom prst="rect">
            <a:avLst/>
          </a:prstGeom>
          <a:noFill/>
          <a:ln/>
        </p:spPr>
        <p:txBody>
          <a:bodyPr wrap="square" lIns="0" tIns="0" rIns="0" bIns="0" rtlCol="0" anchor="ctr"/>
          <a:lstStyle/>
          <a:p>
            <a:pPr indent="0" marL="0">
              <a:buNone/>
            </a:pPr>
            <a:r>
              <a:rPr lang="en-US" sz="1000" b="1" spc="140" kern="0" dirty="0">
                <a:solidFill>
                  <a:srgbClr val="9DB4BE"/>
                </a:solidFill>
                <a:latin typeface="Calibri" pitchFamily="34" charset="0"/>
                <a:ea typeface="Calibri" pitchFamily="34" charset="-122"/>
                <a:cs typeface="Calibri" pitchFamily="34" charset="-120"/>
              </a:rPr>
              <a:t>REPOSITORY</a:t>
            </a:r>
            <a:endParaRPr lang="en-US" sz="1000" dirty="0"/>
          </a:p>
        </p:txBody>
      </p:sp>
      <p:sp>
        <p:nvSpPr>
          <p:cNvPr id="9" name="Text 7"/>
          <p:cNvSpPr txBox="1"/>
          <p:nvPr/>
        </p:nvSpPr>
        <p:spPr>
          <a:xfrm>
            <a:off x="950976" y="4626864"/>
            <a:ext cx="4754880" cy="566928"/>
          </a:xfrm>
          <a:prstGeom prst="rect">
            <a:avLst/>
          </a:prstGeom>
          <a:noFill/>
          <a:ln/>
        </p:spPr>
        <p:txBody>
          <a:bodyPr wrap="square" lIns="0" tIns="0" rIns="0" bIns="0" rtlCol="0" anchor="ctr"/>
          <a:lstStyle/>
          <a:p>
            <a:pPr indent="0" marL="0">
              <a:lnSpc>
                <a:spcPct val="120000"/>
              </a:lnSpc>
              <a:buNone/>
            </a:pPr>
            <a:r>
              <a:rPr lang="en-US" sz="1300" dirty="0">
                <a:solidFill>
                  <a:srgbClr val="02C39A"/>
                </a:solidFill>
                <a:latin typeface="Courier New" pitchFamily="34" charset="0"/>
                <a:ea typeface="Courier New" pitchFamily="34" charset="-122"/>
                <a:cs typeface="Courier New" pitchFamily="34" charset="-120"/>
              </a:rPr>
              <a:t>github.com/Harish97/</a:t>
            </a:r>
            <a:endParaRPr lang="en-US" sz="1300" dirty="0"/>
          </a:p>
          <a:p>
            <a:pPr indent="0" marL="0">
              <a:lnSpc>
                <a:spcPct val="120000"/>
              </a:lnSpc>
              <a:buNone/>
            </a:pPr>
            <a:r>
              <a:rPr lang="en-US" sz="1300" dirty="0">
                <a:solidFill>
                  <a:srgbClr val="02C39A"/>
                </a:solidFill>
                <a:latin typeface="Courier New" pitchFamily="34" charset="0"/>
                <a:ea typeface="Courier New" pitchFamily="34" charset="-122"/>
                <a:cs typeface="Courier New" pitchFamily="34" charset="-120"/>
              </a:rPr>
              <a:t>ai-complaint-processor</a:t>
            </a:r>
            <a:endParaRPr lang="en-US" sz="1300" dirty="0"/>
          </a:p>
        </p:txBody>
      </p:sp>
      <p:sp>
        <p:nvSpPr>
          <p:cNvPr id="10" name="Shape 8"/>
          <p:cNvSpPr/>
          <p:nvPr/>
        </p:nvSpPr>
        <p:spPr>
          <a:xfrm>
            <a:off x="6345936" y="4169664"/>
            <a:ext cx="5193792" cy="1170432"/>
          </a:xfrm>
          <a:prstGeom prst="roundRect">
            <a:avLst>
              <a:gd name="adj" fmla="val 4688"/>
            </a:avLst>
          </a:prstGeom>
          <a:solidFill>
            <a:srgbClr val="1B3B4A"/>
          </a:solidFill>
          <a:ln w="12700">
            <a:solidFill>
              <a:srgbClr val="1B3B4A"/>
            </a:solidFill>
            <a:prstDash val="solid"/>
          </a:ln>
        </p:spPr>
      </p:sp>
      <p:sp>
        <p:nvSpPr>
          <p:cNvPr id="11" name="Text 9"/>
          <p:cNvSpPr txBox="1"/>
          <p:nvPr/>
        </p:nvSpPr>
        <p:spPr>
          <a:xfrm>
            <a:off x="6638544" y="4370832"/>
            <a:ext cx="4572000" cy="237744"/>
          </a:xfrm>
          <a:prstGeom prst="rect">
            <a:avLst/>
          </a:prstGeom>
          <a:noFill/>
          <a:ln/>
        </p:spPr>
        <p:txBody>
          <a:bodyPr wrap="square" lIns="0" tIns="0" rIns="0" bIns="0" rtlCol="0" anchor="ctr"/>
          <a:lstStyle/>
          <a:p>
            <a:pPr indent="0" marL="0">
              <a:buNone/>
            </a:pPr>
            <a:r>
              <a:rPr lang="en-US" sz="1000" b="1" spc="140" kern="0" dirty="0">
                <a:solidFill>
                  <a:srgbClr val="9DB4BE"/>
                </a:solidFill>
                <a:latin typeface="Calibri" pitchFamily="34" charset="0"/>
                <a:ea typeface="Calibri" pitchFamily="34" charset="-122"/>
                <a:cs typeface="Calibri" pitchFamily="34" charset="-120"/>
              </a:rPr>
              <a:t>RUN IT YOURSELF</a:t>
            </a:r>
            <a:endParaRPr lang="en-US" sz="1000" dirty="0"/>
          </a:p>
        </p:txBody>
      </p:sp>
      <p:sp>
        <p:nvSpPr>
          <p:cNvPr id="12" name="Text 10"/>
          <p:cNvSpPr txBox="1"/>
          <p:nvPr/>
        </p:nvSpPr>
        <p:spPr>
          <a:xfrm>
            <a:off x="6638544" y="4626864"/>
            <a:ext cx="4663440" cy="566928"/>
          </a:xfrm>
          <a:prstGeom prst="rect">
            <a:avLst/>
          </a:prstGeom>
          <a:noFill/>
          <a:ln/>
        </p:spPr>
        <p:txBody>
          <a:bodyPr wrap="square" lIns="0" tIns="0" rIns="0" bIns="0" rtlCol="0" anchor="ctr"/>
          <a:lstStyle/>
          <a:p>
            <a:pPr indent="0" marL="0">
              <a:lnSpc>
                <a:spcPct val="120000"/>
              </a:lnSpc>
              <a:buNone/>
            </a:pPr>
            <a:r>
              <a:rPr lang="en-US" sz="1250" dirty="0">
                <a:solidFill>
                  <a:srgbClr val="02C39A"/>
                </a:solidFill>
                <a:latin typeface="Courier New" pitchFamily="34" charset="0"/>
                <a:ea typeface="Courier New" pitchFamily="34" charset="-122"/>
                <a:cs typeface="Courier New" pitchFamily="34" charset="-120"/>
              </a:rPr>
              <a:t>pip install -r requirements.txt</a:t>
            </a:r>
            <a:endParaRPr lang="en-US" sz="1250" dirty="0"/>
          </a:p>
          <a:p>
            <a:pPr indent="0" marL="0">
              <a:lnSpc>
                <a:spcPct val="120000"/>
              </a:lnSpc>
              <a:buNone/>
            </a:pPr>
            <a:r>
              <a:rPr lang="en-US" sz="1250" dirty="0">
                <a:solidFill>
                  <a:srgbClr val="02C39A"/>
                </a:solidFill>
                <a:latin typeface="Courier New" pitchFamily="34" charset="0"/>
                <a:ea typeface="Courier New" pitchFamily="34" charset="-122"/>
                <a:cs typeface="Courier New" pitchFamily="34" charset="-120"/>
              </a:rPr>
              <a:t>python run.py --provider mock</a:t>
            </a:r>
            <a:endParaRPr lang="en-US" sz="1250" dirty="0"/>
          </a:p>
        </p:txBody>
      </p:sp>
      <p:sp>
        <p:nvSpPr>
          <p:cNvPr id="13" name="Text 11"/>
          <p:cNvSpPr txBox="1"/>
          <p:nvPr/>
        </p:nvSpPr>
        <p:spPr>
          <a:xfrm>
            <a:off x="658368" y="5705856"/>
            <a:ext cx="10881360" cy="274320"/>
          </a:xfrm>
          <a:prstGeom prst="rect">
            <a:avLst/>
          </a:prstGeom>
          <a:noFill/>
          <a:ln/>
        </p:spPr>
        <p:txBody>
          <a:bodyPr wrap="square" lIns="0" tIns="0" rIns="0" bIns="0" rtlCol="0" anchor="ctr"/>
          <a:lstStyle/>
          <a:p>
            <a:pPr indent="0" marL="0">
              <a:buNone/>
            </a:pPr>
            <a:r>
              <a:rPr lang="en-US" sz="1150" dirty="0">
                <a:solidFill>
                  <a:srgbClr val="9DB4BE"/>
                </a:solidFill>
                <a:latin typeface="Calibri" pitchFamily="34" charset="0"/>
                <a:ea typeface="Calibri" pitchFamily="34" charset="-122"/>
                <a:cs typeface="Calibri" pitchFamily="34" charset="-120"/>
              </a:rPr>
              <a:t>Harish  ·  Enrollment No. [ your enrollment no. ]  ·  Batch 1  ·  GenAI Development Program</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Customer Complaint &amp; Case Processing System</dc:title>
  <dc:subject>PptxGenJS Presentation</dc:subject>
  <dc:creator>Harish</dc:creator>
  <cp:lastModifiedBy>Harish</cp:lastModifiedBy>
  <cp:revision>1</cp:revision>
  <dcterms:created xsi:type="dcterms:W3CDTF">2026-08-28T10:05:58Z</dcterms:created>
  <dcterms:modified xsi:type="dcterms:W3CDTF">2026-08-28T10:05:58Z</dcterms:modified>
</cp:coreProperties>
</file>